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17"/>
  </p:notesMasterIdLst>
  <p:sldIdLst>
    <p:sldId id="256" r:id="rId2"/>
    <p:sldId id="357" r:id="rId3"/>
    <p:sldId id="409" r:id="rId4"/>
    <p:sldId id="392" r:id="rId5"/>
    <p:sldId id="408" r:id="rId6"/>
    <p:sldId id="406" r:id="rId7"/>
    <p:sldId id="391" r:id="rId8"/>
    <p:sldId id="400" r:id="rId9"/>
    <p:sldId id="398" r:id="rId10"/>
    <p:sldId id="399" r:id="rId11"/>
    <p:sldId id="394" r:id="rId12"/>
    <p:sldId id="404" r:id="rId13"/>
    <p:sldId id="395" r:id="rId14"/>
    <p:sldId id="405" r:id="rId15"/>
    <p:sldId id="263" r:id="rId16"/>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16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50021"/>
    <a:srgbClr val="002060"/>
    <a:srgbClr val="EAEFF7"/>
    <a:srgbClr val="C00000"/>
    <a:srgbClr val="7B229E"/>
    <a:srgbClr val="E5B458"/>
    <a:srgbClr val="E3AA6A"/>
    <a:srgbClr val="38B347"/>
    <a:srgbClr val="75C7CB"/>
    <a:srgbClr val="98836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1" autoAdjust="0"/>
    <p:restoredTop sz="94660"/>
  </p:normalViewPr>
  <p:slideViewPr>
    <p:cSldViewPr snapToGrid="0">
      <p:cViewPr varScale="1">
        <p:scale>
          <a:sx n="123" d="100"/>
          <a:sy n="123" d="100"/>
        </p:scale>
        <p:origin x="680" y="68"/>
      </p:cViewPr>
      <p:guideLst>
        <p:guide orient="horz" pos="2160"/>
        <p:guide pos="2880"/>
        <p:guide orient="horz" pos="162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456805-9FF0-4934-BDCD-CD6CD9C90D87}" type="datetimeFigureOut">
              <a:rPr lang="en-US" smtClean="0"/>
              <a:t>6/5/2026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B34487-34A5-4CE5-B125-65C7AA3A2447}" type="slidenum">
              <a:rPr lang="en-US" smtClean="0"/>
              <a:t>‹#›</a:t>
            </a:fld>
            <a:endParaRPr lang="en-US"/>
          </a:p>
        </p:txBody>
      </p:sp>
    </p:spTree>
    <p:extLst>
      <p:ext uri="{BB962C8B-B14F-4D97-AF65-F5344CB8AC3E}">
        <p14:creationId xmlns:p14="http://schemas.microsoft.com/office/powerpoint/2010/main" val="18858674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94EB8EBC-5222-431C-84DD-DD60662C159C}" type="datetime3">
              <a:rPr lang="en-US" smtClean="0"/>
              <a:t>5 June 2026</a:t>
            </a:fld>
            <a:endParaRPr lang="en-US" dirty="0"/>
          </a:p>
        </p:txBody>
      </p:sp>
      <p:sp>
        <p:nvSpPr>
          <p:cNvPr id="5" name="Footer Placeholder 4"/>
          <p:cNvSpPr>
            <a:spLocks noGrp="1"/>
          </p:cNvSpPr>
          <p:nvPr>
            <p:ph type="ftr" sz="quarter" idx="11"/>
          </p:nvPr>
        </p:nvSpPr>
        <p:spPr/>
        <p:txBody>
          <a:bodyPr/>
          <a:lstStyle/>
          <a:p>
            <a:r>
              <a:rPr lang="en-US"/>
              <a:t>INT500 REVIEW - I</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B9DF8F-09D3-46AE-87C0-0E6AC09D07A6}" type="datetime3">
              <a:rPr lang="en-US" smtClean="0"/>
              <a:t>5 June 2026</a:t>
            </a:fld>
            <a:endParaRPr lang="en-US" dirty="0"/>
          </a:p>
        </p:txBody>
      </p:sp>
      <p:sp>
        <p:nvSpPr>
          <p:cNvPr id="5" name="Footer Placeholder 4"/>
          <p:cNvSpPr>
            <a:spLocks noGrp="1"/>
          </p:cNvSpPr>
          <p:nvPr>
            <p:ph type="ftr" sz="quarter" idx="11"/>
          </p:nvPr>
        </p:nvSpPr>
        <p:spPr/>
        <p:txBody>
          <a:bodyPr/>
          <a:lstStyle/>
          <a:p>
            <a:r>
              <a:rPr lang="en-US"/>
              <a:t>INT500 REVIEW - I</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5"/>
            <a:ext cx="7886700" cy="2139553"/>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3442099"/>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253FD35-0CB4-474A-9599-30C5D4C0E287}" type="datetime3">
              <a:rPr lang="en-US" smtClean="0"/>
              <a:t>5 June 2026</a:t>
            </a:fld>
            <a:endParaRPr lang="en-US" dirty="0"/>
          </a:p>
        </p:txBody>
      </p:sp>
      <p:sp>
        <p:nvSpPr>
          <p:cNvPr id="5" name="Footer Placeholder 4"/>
          <p:cNvSpPr>
            <a:spLocks noGrp="1"/>
          </p:cNvSpPr>
          <p:nvPr>
            <p:ph type="ftr" sz="quarter" idx="11"/>
          </p:nvPr>
        </p:nvSpPr>
        <p:spPr/>
        <p:txBody>
          <a:bodyPr/>
          <a:lstStyle/>
          <a:p>
            <a:r>
              <a:rPr lang="en-US"/>
              <a:t>INT500 REVIEW - I</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05DD382-1684-47A7-8447-FF64349E7EA4}" type="datetime3">
              <a:rPr lang="en-US" smtClean="0"/>
              <a:t>5 June 2026</a:t>
            </a:fld>
            <a:endParaRPr lang="en-US" dirty="0"/>
          </a:p>
        </p:txBody>
      </p:sp>
      <p:sp>
        <p:nvSpPr>
          <p:cNvPr id="6" name="Footer Placeholder 5"/>
          <p:cNvSpPr>
            <a:spLocks noGrp="1"/>
          </p:cNvSpPr>
          <p:nvPr>
            <p:ph type="ftr" sz="quarter" idx="11"/>
          </p:nvPr>
        </p:nvSpPr>
        <p:spPr/>
        <p:txBody>
          <a:bodyPr/>
          <a:lstStyle/>
          <a:p>
            <a:r>
              <a:rPr lang="en-US"/>
              <a:t>INT500 REVIEW - I</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5"/>
            <a:ext cx="7886700" cy="994172"/>
          </a:xfrm>
        </p:spPr>
        <p:txBody>
          <a:bodyPr/>
          <a:lstStyle/>
          <a:p>
            <a:r>
              <a:rPr lang="en-US"/>
              <a:t>Click to edit Master title style</a:t>
            </a:r>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1"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1" y="1878806"/>
            <a:ext cx="3887391"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0666D20-7225-440A-88E7-D6F958D48F89}" type="datetime3">
              <a:rPr lang="en-US" smtClean="0"/>
              <a:t>5 June 2026</a:t>
            </a:fld>
            <a:endParaRPr lang="en-US" dirty="0"/>
          </a:p>
        </p:txBody>
      </p:sp>
      <p:sp>
        <p:nvSpPr>
          <p:cNvPr id="8" name="Footer Placeholder 7"/>
          <p:cNvSpPr>
            <a:spLocks noGrp="1"/>
          </p:cNvSpPr>
          <p:nvPr>
            <p:ph type="ftr" sz="quarter" idx="11"/>
          </p:nvPr>
        </p:nvSpPr>
        <p:spPr/>
        <p:txBody>
          <a:bodyPr/>
          <a:lstStyle/>
          <a:p>
            <a:r>
              <a:rPr lang="en-US"/>
              <a:t>INT500 REVIEW - I</a:t>
            </a:r>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1CB1683-EA87-4A2C-B387-AB50EB5CC6D6}" type="datetime3">
              <a:rPr lang="en-US" smtClean="0"/>
              <a:t>5 June 2026</a:t>
            </a:fld>
            <a:endParaRPr lang="en-US" dirty="0"/>
          </a:p>
        </p:txBody>
      </p:sp>
      <p:sp>
        <p:nvSpPr>
          <p:cNvPr id="4" name="Footer Placeholder 3"/>
          <p:cNvSpPr>
            <a:spLocks noGrp="1"/>
          </p:cNvSpPr>
          <p:nvPr>
            <p:ph type="ftr" sz="quarter" idx="11"/>
          </p:nvPr>
        </p:nvSpPr>
        <p:spPr/>
        <p:txBody>
          <a:bodyPr/>
          <a:lstStyle/>
          <a:p>
            <a:r>
              <a:rPr lang="en-US"/>
              <a:t>INT500 REVIEW - I</a:t>
            </a:r>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E2D354-87FD-45C8-B30B-40E925ADA766}" type="datetime3">
              <a:rPr lang="en-US" smtClean="0"/>
              <a:t>5 June 2026</a:t>
            </a:fld>
            <a:endParaRPr lang="en-US" dirty="0"/>
          </a:p>
        </p:txBody>
      </p:sp>
      <p:sp>
        <p:nvSpPr>
          <p:cNvPr id="3" name="Footer Placeholder 2"/>
          <p:cNvSpPr>
            <a:spLocks noGrp="1"/>
          </p:cNvSpPr>
          <p:nvPr>
            <p:ph type="ftr" sz="quarter" idx="11"/>
          </p:nvPr>
        </p:nvSpPr>
        <p:spPr/>
        <p:txBody>
          <a:bodyPr/>
          <a:lstStyle/>
          <a:p>
            <a:r>
              <a:rPr lang="en-US"/>
              <a:t>INT500 REVIEW - I</a:t>
            </a:r>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740570"/>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236FCBC9-030E-4CA2-939A-297D2E5B0AF9}" type="datetime3">
              <a:rPr lang="en-US" smtClean="0"/>
              <a:t>5 June 2026</a:t>
            </a:fld>
            <a:endParaRPr lang="en-US" dirty="0"/>
          </a:p>
        </p:txBody>
      </p:sp>
      <p:sp>
        <p:nvSpPr>
          <p:cNvPr id="6" name="Footer Placeholder 5"/>
          <p:cNvSpPr>
            <a:spLocks noGrp="1"/>
          </p:cNvSpPr>
          <p:nvPr>
            <p:ph type="ftr" sz="quarter" idx="11"/>
          </p:nvPr>
        </p:nvSpPr>
        <p:spPr/>
        <p:txBody>
          <a:bodyPr/>
          <a:lstStyle/>
          <a:p>
            <a:r>
              <a:rPr lang="en-US"/>
              <a:t>INT500 REVIEW - I</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740570"/>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C5BC5EF5-3D0C-410F-81FA-0155F6DDC1A3}" type="datetime3">
              <a:rPr lang="en-US" smtClean="0"/>
              <a:t>5 June 2026</a:t>
            </a:fld>
            <a:endParaRPr lang="en-US" dirty="0"/>
          </a:p>
        </p:txBody>
      </p:sp>
      <p:sp>
        <p:nvSpPr>
          <p:cNvPr id="6" name="Footer Placeholder 5"/>
          <p:cNvSpPr>
            <a:spLocks noGrp="1"/>
          </p:cNvSpPr>
          <p:nvPr>
            <p:ph type="ftr" sz="quarter" idx="11"/>
          </p:nvPr>
        </p:nvSpPr>
        <p:spPr/>
        <p:txBody>
          <a:bodyPr/>
          <a:lstStyle/>
          <a:p>
            <a:r>
              <a:rPr lang="en-US"/>
              <a:t>INT500 REVIEW - I</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98E28DC-53CF-4642-AB77-F3F3B8864F72}" type="datetime3">
              <a:rPr lang="en-US" smtClean="0"/>
              <a:t>5 June 2026</a:t>
            </a:fld>
            <a:endParaRPr lang="en-US" dirty="0"/>
          </a:p>
        </p:txBody>
      </p:sp>
      <p:sp>
        <p:nvSpPr>
          <p:cNvPr id="5" name="Footer Placeholder 4"/>
          <p:cNvSpPr>
            <a:spLocks noGrp="1"/>
          </p:cNvSpPr>
          <p:nvPr>
            <p:ph type="ftr" sz="quarter" idx="11"/>
          </p:nvPr>
        </p:nvSpPr>
        <p:spPr/>
        <p:txBody>
          <a:bodyPr/>
          <a:lstStyle/>
          <a:p>
            <a:r>
              <a:rPr lang="en-US"/>
              <a:t>INT500 REVIEW - I</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273844"/>
            <a:ext cx="1971675" cy="435887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1" y="273844"/>
            <a:ext cx="5800725" cy="435887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967ACE5-42CA-4EDC-8760-DD2585F04707}" type="datetime3">
              <a:rPr lang="en-US" smtClean="0"/>
              <a:t>5 June 2026</a:t>
            </a:fld>
            <a:endParaRPr lang="en-US" dirty="0"/>
          </a:p>
        </p:txBody>
      </p:sp>
      <p:sp>
        <p:nvSpPr>
          <p:cNvPr id="5" name="Footer Placeholder 4"/>
          <p:cNvSpPr>
            <a:spLocks noGrp="1"/>
          </p:cNvSpPr>
          <p:nvPr>
            <p:ph type="ftr" sz="quarter" idx="11"/>
          </p:nvPr>
        </p:nvSpPr>
        <p:spPr/>
        <p:txBody>
          <a:bodyPr/>
          <a:lstStyle/>
          <a:p>
            <a:r>
              <a:rPr lang="en-US"/>
              <a:t>INT500 REVIEW - I</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5"/>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4767264"/>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3EE8C92B-93F9-4684-984D-12FC30565B2E}" type="datetime3">
              <a:rPr lang="en-US" smtClean="0"/>
              <a:t>5 June 2026</a:t>
            </a:fld>
            <a:endParaRPr lang="en-US" dirty="0"/>
          </a:p>
        </p:txBody>
      </p:sp>
      <p:sp>
        <p:nvSpPr>
          <p:cNvPr id="5" name="Footer Placeholder 4"/>
          <p:cNvSpPr>
            <a:spLocks noGrp="1"/>
          </p:cNvSpPr>
          <p:nvPr>
            <p:ph type="ftr" sz="quarter" idx="3"/>
          </p:nvPr>
        </p:nvSpPr>
        <p:spPr>
          <a:xfrm>
            <a:off x="3028950" y="4767264"/>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a:t>INT500 REVIEW - I</a:t>
            </a:r>
            <a:endParaRPr lang="en-US" dirty="0"/>
          </a:p>
        </p:txBody>
      </p:sp>
      <p:sp>
        <p:nvSpPr>
          <p:cNvPr id="6" name="Slide Number Placeholder 5"/>
          <p:cNvSpPr>
            <a:spLocks noGrp="1"/>
          </p:cNvSpPr>
          <p:nvPr>
            <p:ph type="sldNum" sz="quarter" idx="4"/>
          </p:nvPr>
        </p:nvSpPr>
        <p:spPr>
          <a:xfrm>
            <a:off x="6457950" y="4767264"/>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D57F1E4F-1CFF-5643-939E-217C01CDF565}"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59000"/>
    </mc:Choice>
    <mc:Fallback xmlns="">
      <p:transition spd="slow"/>
    </mc:Fallback>
  </mc:AlternateContent>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p:nvPr/>
        </p:nvSpPr>
        <p:spPr>
          <a:xfrm>
            <a:off x="391634" y="890478"/>
            <a:ext cx="8752366" cy="1121864"/>
          </a:xfrm>
          <a:prstGeom prst="rect">
            <a:avLst/>
          </a:prstGeom>
        </p:spPr>
        <p:txBody>
          <a:bodyPr vert="horz" lIns="91440" tIns="45720" rIns="91440" bIns="45720" rtlCol="0" anchor="b">
            <a:no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lnSpc>
                <a:spcPct val="100000"/>
              </a:lnSpc>
            </a:pPr>
            <a:r>
              <a:rPr lang="en-US" sz="2800" b="1" dirty="0">
                <a:solidFill>
                  <a:srgbClr val="A50021"/>
                </a:solidFill>
                <a:latin typeface="Times New Roman" pitchFamily="18" charset="0"/>
                <a:cs typeface="Times New Roman" pitchFamily="18" charset="0"/>
              </a:rPr>
              <a:t>A Gamified Web based Quiz Platform for Interactive Nursing Education </a:t>
            </a:r>
          </a:p>
        </p:txBody>
      </p:sp>
      <p:sp>
        <p:nvSpPr>
          <p:cNvPr id="6" name="TextBox 5"/>
          <p:cNvSpPr txBox="1"/>
          <p:nvPr/>
        </p:nvSpPr>
        <p:spPr>
          <a:xfrm>
            <a:off x="679538" y="3081781"/>
            <a:ext cx="3505004" cy="873572"/>
          </a:xfrm>
          <a:prstGeom prst="rect">
            <a:avLst/>
          </a:prstGeom>
          <a:noFill/>
        </p:spPr>
        <p:txBody>
          <a:bodyPr wrap="square" rtlCol="0">
            <a:spAutoFit/>
          </a:bodyPr>
          <a:lstStyle/>
          <a:p>
            <a:pPr>
              <a:lnSpc>
                <a:spcPct val="150000"/>
              </a:lnSpc>
            </a:pPr>
            <a:r>
              <a:rPr lang="en-IN" b="1" dirty="0">
                <a:solidFill>
                  <a:schemeClr val="accent2">
                    <a:lumMod val="50000"/>
                  </a:schemeClr>
                </a:solidFill>
                <a:latin typeface="Times New Roman" pitchFamily="18" charset="0"/>
                <a:cs typeface="Times New Roman" pitchFamily="18" charset="0"/>
              </a:rPr>
              <a:t>Presenter</a:t>
            </a:r>
          </a:p>
          <a:p>
            <a:pPr>
              <a:lnSpc>
                <a:spcPct val="150000"/>
              </a:lnSpc>
            </a:pPr>
            <a:r>
              <a:rPr lang="en-IN" b="1" dirty="0">
                <a:solidFill>
                  <a:schemeClr val="accent6">
                    <a:lumMod val="50000"/>
                  </a:schemeClr>
                </a:solidFill>
                <a:latin typeface="Times New Roman" pitchFamily="18" charset="0"/>
                <a:cs typeface="Times New Roman" pitchFamily="18" charset="0"/>
              </a:rPr>
              <a:t>G L Swaminathan (E0224033)</a:t>
            </a:r>
          </a:p>
        </p:txBody>
      </p:sp>
      <p:sp>
        <p:nvSpPr>
          <p:cNvPr id="10" name="TextBox 9"/>
          <p:cNvSpPr txBox="1"/>
          <p:nvPr/>
        </p:nvSpPr>
        <p:spPr>
          <a:xfrm>
            <a:off x="5873662" y="3081781"/>
            <a:ext cx="2590800" cy="1200329"/>
          </a:xfrm>
          <a:prstGeom prst="rect">
            <a:avLst/>
          </a:prstGeom>
          <a:noFill/>
        </p:spPr>
        <p:txBody>
          <a:bodyPr wrap="square" rtlCol="0">
            <a:spAutoFit/>
          </a:bodyPr>
          <a:lstStyle/>
          <a:p>
            <a:pPr>
              <a:lnSpc>
                <a:spcPct val="150000"/>
              </a:lnSpc>
            </a:pPr>
            <a:r>
              <a:rPr lang="en-IN" b="1" dirty="0">
                <a:solidFill>
                  <a:schemeClr val="accent2">
                    <a:lumMod val="50000"/>
                  </a:schemeClr>
                </a:solidFill>
                <a:latin typeface="Times New Roman" pitchFamily="18" charset="0"/>
                <a:cs typeface="Times New Roman" pitchFamily="18" charset="0"/>
              </a:rPr>
              <a:t>Project Guide </a:t>
            </a:r>
          </a:p>
          <a:p>
            <a:pPr>
              <a:lnSpc>
                <a:spcPct val="150000"/>
              </a:lnSpc>
            </a:pPr>
            <a:r>
              <a:rPr lang="en-IN" b="1" dirty="0">
                <a:solidFill>
                  <a:schemeClr val="accent6">
                    <a:lumMod val="50000"/>
                  </a:schemeClr>
                </a:solidFill>
                <a:latin typeface="Times New Roman" pitchFamily="18" charset="0"/>
                <a:cs typeface="Times New Roman" pitchFamily="18" charset="0"/>
              </a:rPr>
              <a:t>Dr. G. Jayanthi</a:t>
            </a:r>
          </a:p>
          <a:p>
            <a:endParaRPr lang="en-IN" b="1" dirty="0">
              <a:solidFill>
                <a:schemeClr val="accent5">
                  <a:lumMod val="50000"/>
                </a:schemeClr>
              </a:solidFill>
              <a:latin typeface="Times New Roman" pitchFamily="18" charset="0"/>
              <a:cs typeface="Times New Roman" pitchFamily="18" charset="0"/>
            </a:endParaRPr>
          </a:p>
        </p:txBody>
      </p:sp>
      <p:sp>
        <p:nvSpPr>
          <p:cNvPr id="8" name="TextBox 7"/>
          <p:cNvSpPr txBox="1"/>
          <p:nvPr/>
        </p:nvSpPr>
        <p:spPr>
          <a:xfrm>
            <a:off x="2906666" y="2061719"/>
            <a:ext cx="3318537" cy="400110"/>
          </a:xfrm>
          <a:prstGeom prst="rect">
            <a:avLst/>
          </a:prstGeom>
          <a:noFill/>
        </p:spPr>
        <p:txBody>
          <a:bodyPr wrap="none" rtlCol="0">
            <a:spAutoFit/>
          </a:bodyPr>
          <a:lstStyle/>
          <a:p>
            <a:pPr algn="ctr"/>
            <a:r>
              <a:rPr lang="en-IN" sz="2000" b="1" dirty="0">
                <a:latin typeface="Times New Roman" pitchFamily="18" charset="0"/>
                <a:cs typeface="Times New Roman" pitchFamily="18" charset="0"/>
              </a:rPr>
              <a:t>CYB23IN201 Internship -II</a:t>
            </a:r>
          </a:p>
        </p:txBody>
      </p:sp>
      <p:sp>
        <p:nvSpPr>
          <p:cNvPr id="12" name="TextBox 11"/>
          <p:cNvSpPr txBox="1"/>
          <p:nvPr/>
        </p:nvSpPr>
        <p:spPr>
          <a:xfrm>
            <a:off x="3055000" y="2373895"/>
            <a:ext cx="3021867" cy="707886"/>
          </a:xfrm>
          <a:prstGeom prst="rect">
            <a:avLst/>
          </a:prstGeom>
          <a:noFill/>
        </p:spPr>
        <p:txBody>
          <a:bodyPr wrap="square" rtlCol="0">
            <a:spAutoFit/>
          </a:bodyPr>
          <a:lstStyle/>
          <a:p>
            <a:r>
              <a:rPr lang="en-IN" sz="2000" b="1" dirty="0">
                <a:solidFill>
                  <a:srgbClr val="FF0000"/>
                </a:solidFill>
                <a:latin typeface="Times New Roman" pitchFamily="18" charset="0"/>
                <a:cs typeface="Times New Roman" pitchFamily="18" charset="0"/>
              </a:rPr>
              <a:t>	    First Review</a:t>
            </a:r>
          </a:p>
          <a:p>
            <a:r>
              <a:rPr lang="en-IN" sz="2000" b="1" dirty="0">
                <a:solidFill>
                  <a:srgbClr val="FF0000"/>
                </a:solidFill>
                <a:latin typeface="Times New Roman" pitchFamily="18" charset="0"/>
                <a:cs typeface="Times New Roman" pitchFamily="18" charset="0"/>
              </a:rPr>
              <a:t>Date: 5.6.2026 &amp; 6.6.2026 </a:t>
            </a:r>
          </a:p>
        </p:txBody>
      </p:sp>
      <p:pic>
        <p:nvPicPr>
          <p:cNvPr id="13" name="image1.png"/>
          <p:cNvPicPr preferRelativeResize="0"/>
          <p:nvPr/>
        </p:nvPicPr>
        <p:blipFill>
          <a:blip r:embed="rId2"/>
          <a:srcRect/>
          <a:stretch>
            <a:fillRect/>
          </a:stretch>
        </p:blipFill>
        <p:spPr>
          <a:xfrm>
            <a:off x="679539" y="125601"/>
            <a:ext cx="7797055" cy="902057"/>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D57F1E4F-1CFF-5643-939E-217C01CDF565}" type="slidenum">
              <a:rPr lang="en-US" smtClean="0">
                <a:solidFill>
                  <a:srgbClr val="C00000"/>
                </a:solidFill>
                <a:latin typeface="Times New Roman" pitchFamily="18" charset="0"/>
                <a:cs typeface="Times New Roman" pitchFamily="18" charset="0"/>
              </a:rPr>
              <a:t>2</a:t>
            </a:fld>
            <a:endParaRPr lang="en-US" dirty="0">
              <a:solidFill>
                <a:srgbClr val="C00000"/>
              </a:solidFill>
              <a:latin typeface="Times New Roman" pitchFamily="18" charset="0"/>
              <a:cs typeface="Times New Roman" pitchFamily="18" charset="0"/>
            </a:endParaRPr>
          </a:p>
        </p:txBody>
      </p:sp>
      <p:sp>
        <p:nvSpPr>
          <p:cNvPr id="20" name="Title 1"/>
          <p:cNvSpPr>
            <a:spLocks noGrp="1"/>
          </p:cNvSpPr>
          <p:nvPr>
            <p:ph type="title"/>
          </p:nvPr>
        </p:nvSpPr>
        <p:spPr>
          <a:xfrm>
            <a:off x="507820" y="102393"/>
            <a:ext cx="8526998" cy="553358"/>
          </a:xfrm>
        </p:spPr>
        <p:txBody>
          <a:bodyPr>
            <a:noAutofit/>
          </a:bodyPr>
          <a:lstStyle/>
          <a:p>
            <a:pPr algn="ctr">
              <a:lnSpc>
                <a:spcPct val="107000"/>
              </a:lnSpc>
              <a:spcBef>
                <a:spcPts val="0"/>
              </a:spcBef>
              <a:spcAft>
                <a:spcPts val="450"/>
              </a:spcAft>
            </a:pPr>
            <a:r>
              <a:rPr lang="en-US" sz="2400" b="1" dirty="0">
                <a:solidFill>
                  <a:srgbClr val="C00000"/>
                </a:solidFill>
                <a:latin typeface="Times New Roman" pitchFamily="18" charset="0"/>
                <a:ea typeface="Calibri" panose="020F0502020204030204" pitchFamily="34" charset="0"/>
                <a:cs typeface="Times New Roman" panose="02020603050405020304" pitchFamily="18" charset="0"/>
              </a:rPr>
              <a:t>INTRODUCTION </a:t>
            </a:r>
            <a:br>
              <a:rPr lang="en-US" sz="2400" b="1" dirty="0">
                <a:solidFill>
                  <a:srgbClr val="C00000"/>
                </a:solidFill>
                <a:latin typeface="Times New Roman" pitchFamily="18" charset="0"/>
                <a:ea typeface="Calibri" panose="020F0502020204030204" pitchFamily="34" charset="0"/>
                <a:cs typeface="Times New Roman" panose="02020603050405020304" pitchFamily="18" charset="0"/>
              </a:rPr>
            </a:br>
            <a:endParaRPr lang="en-US" sz="1800" dirty="0">
              <a:solidFill>
                <a:srgbClr val="C00000"/>
              </a:solidFill>
              <a:latin typeface="Times New Roman" panose="02020603050405020304" pitchFamily="18" charset="0"/>
              <a:cs typeface="Times New Roman" panose="02020603050405020304" pitchFamily="18" charset="0"/>
            </a:endParaRPr>
          </a:p>
        </p:txBody>
      </p:sp>
      <p:sp>
        <p:nvSpPr>
          <p:cNvPr id="5" name="TextBox 4"/>
          <p:cNvSpPr txBox="1"/>
          <p:nvPr/>
        </p:nvSpPr>
        <p:spPr>
          <a:xfrm>
            <a:off x="507820" y="2443171"/>
            <a:ext cx="4136645" cy="2339102"/>
          </a:xfrm>
          <a:prstGeom prst="rect">
            <a:avLst/>
          </a:prstGeom>
          <a:noFill/>
        </p:spPr>
        <p:txBody>
          <a:bodyPr wrap="none" rtlCol="0">
            <a:spAutoFit/>
          </a:bodyPr>
          <a:lstStyle/>
          <a:p>
            <a:r>
              <a:rPr lang="en-GB" b="1" dirty="0">
                <a:solidFill>
                  <a:srgbClr val="C00000"/>
                </a:solidFill>
                <a:latin typeface="Times New Roman" pitchFamily="18" charset="0"/>
                <a:cs typeface="Times New Roman" pitchFamily="18" charset="0"/>
              </a:rPr>
              <a:t>Applications:</a:t>
            </a:r>
          </a:p>
          <a:p>
            <a:pPr marL="285750" indent="-285750">
              <a:buFont typeface="Arial" panose="020B0604020202020204" pitchFamily="34" charset="0"/>
              <a:buChar char="•"/>
            </a:pPr>
            <a:r>
              <a:rPr lang="en-GB" sz="1600" b="1" dirty="0">
                <a:solidFill>
                  <a:srgbClr val="C00000"/>
                </a:solidFill>
                <a:latin typeface="Times New Roman" pitchFamily="18" charset="0"/>
                <a:cs typeface="Times New Roman" pitchFamily="18" charset="0"/>
              </a:rPr>
              <a:t>Interactive Learning</a:t>
            </a:r>
          </a:p>
          <a:p>
            <a:pPr marL="285750" indent="-285750">
              <a:buFont typeface="Arial" panose="020B0604020202020204" pitchFamily="34" charset="0"/>
              <a:buChar char="•"/>
            </a:pPr>
            <a:r>
              <a:rPr lang="en-GB" sz="1600" b="1" dirty="0">
                <a:solidFill>
                  <a:srgbClr val="C00000"/>
                </a:solidFill>
                <a:latin typeface="Times New Roman" pitchFamily="18" charset="0"/>
                <a:cs typeface="Times New Roman" pitchFamily="18" charset="0"/>
              </a:rPr>
              <a:t>Experience points-based level progression</a:t>
            </a:r>
          </a:p>
          <a:p>
            <a:pPr marL="285750" indent="-285750">
              <a:buFont typeface="Arial" panose="020B0604020202020204" pitchFamily="34" charset="0"/>
              <a:buChar char="•"/>
            </a:pPr>
            <a:r>
              <a:rPr lang="en-GB" sz="1600" b="1" dirty="0">
                <a:solidFill>
                  <a:srgbClr val="C00000"/>
                </a:solidFill>
                <a:latin typeface="Times New Roman" pitchFamily="18" charset="0"/>
                <a:cs typeface="Times New Roman" pitchFamily="18" charset="0"/>
              </a:rPr>
              <a:t>User centric customization</a:t>
            </a:r>
          </a:p>
          <a:p>
            <a:pPr marL="285750" indent="-285750">
              <a:buFont typeface="Arial" panose="020B0604020202020204" pitchFamily="34" charset="0"/>
              <a:buChar char="•"/>
            </a:pPr>
            <a:r>
              <a:rPr lang="en-GB" sz="1600" b="1" dirty="0">
                <a:solidFill>
                  <a:srgbClr val="C00000"/>
                </a:solidFill>
                <a:latin typeface="Times New Roman" pitchFamily="18" charset="0"/>
                <a:cs typeface="Times New Roman" pitchFamily="18" charset="0"/>
              </a:rPr>
              <a:t>Day to Day Leaderboard Update</a:t>
            </a:r>
          </a:p>
          <a:p>
            <a:pPr marL="285750" indent="-285750">
              <a:buFont typeface="Arial" panose="020B0604020202020204" pitchFamily="34" charset="0"/>
              <a:buChar char="•"/>
            </a:pPr>
            <a:r>
              <a:rPr lang="en-GB" sz="1600" b="1" dirty="0">
                <a:solidFill>
                  <a:srgbClr val="C00000"/>
                </a:solidFill>
                <a:latin typeface="Times New Roman" pitchFamily="18" charset="0"/>
                <a:cs typeface="Times New Roman" pitchFamily="18" charset="0"/>
              </a:rPr>
              <a:t>Different Question Modes</a:t>
            </a:r>
          </a:p>
          <a:p>
            <a:pPr marL="285750" indent="-285750">
              <a:buFont typeface="Arial" panose="020B0604020202020204" pitchFamily="34" charset="0"/>
              <a:buChar char="•"/>
            </a:pPr>
            <a:r>
              <a:rPr lang="en-GB" sz="1600" b="1" dirty="0">
                <a:solidFill>
                  <a:srgbClr val="C00000"/>
                </a:solidFill>
                <a:latin typeface="Times New Roman" pitchFamily="18" charset="0"/>
                <a:cs typeface="Times New Roman" pitchFamily="18" charset="0"/>
              </a:rPr>
              <a:t>Domain based Modules</a:t>
            </a:r>
          </a:p>
          <a:p>
            <a:pPr marL="285750" indent="-285750">
              <a:buFont typeface="Arial" panose="020B0604020202020204" pitchFamily="34" charset="0"/>
              <a:buChar char="•"/>
            </a:pPr>
            <a:r>
              <a:rPr lang="en-GB" sz="1600" b="1" dirty="0">
                <a:solidFill>
                  <a:srgbClr val="C00000"/>
                </a:solidFill>
                <a:latin typeface="Times New Roman" pitchFamily="18" charset="0"/>
                <a:cs typeface="Times New Roman" pitchFamily="18" charset="0"/>
              </a:rPr>
              <a:t>Live Quiz</a:t>
            </a:r>
          </a:p>
          <a:p>
            <a:pPr marL="285750" indent="-285750">
              <a:buFont typeface="Arial" panose="020B0604020202020204" pitchFamily="34" charset="0"/>
              <a:buChar char="•"/>
            </a:pPr>
            <a:r>
              <a:rPr lang="en-GB" sz="1600" b="1" dirty="0">
                <a:solidFill>
                  <a:srgbClr val="C00000"/>
                </a:solidFill>
                <a:latin typeface="Times New Roman" pitchFamily="18" charset="0"/>
                <a:cs typeface="Times New Roman" pitchFamily="18" charset="0"/>
              </a:rPr>
              <a:t>And more…</a:t>
            </a:r>
          </a:p>
        </p:txBody>
      </p:sp>
      <p:sp>
        <p:nvSpPr>
          <p:cNvPr id="6" name="TextBox 5"/>
          <p:cNvSpPr txBox="1"/>
          <p:nvPr/>
        </p:nvSpPr>
        <p:spPr>
          <a:xfrm>
            <a:off x="507820" y="655751"/>
            <a:ext cx="8443767" cy="1600438"/>
          </a:xfrm>
          <a:prstGeom prst="rect">
            <a:avLst/>
          </a:prstGeom>
          <a:noFill/>
        </p:spPr>
        <p:txBody>
          <a:bodyPr wrap="square" rtlCol="0">
            <a:spAutoFit/>
          </a:bodyPr>
          <a:lstStyle/>
          <a:p>
            <a:r>
              <a:rPr lang="en-GB" b="1" dirty="0">
                <a:solidFill>
                  <a:srgbClr val="C00000"/>
                </a:solidFill>
                <a:latin typeface="Times New Roman" pitchFamily="18" charset="0"/>
                <a:cs typeface="Times New Roman" pitchFamily="18" charset="0"/>
              </a:rPr>
              <a:t>Need for the technology: </a:t>
            </a:r>
          </a:p>
          <a:p>
            <a:pPr algn="just"/>
            <a:r>
              <a:rPr lang="en-GB" sz="1600" b="1" dirty="0">
                <a:solidFill>
                  <a:srgbClr val="C00000"/>
                </a:solidFill>
                <a:latin typeface="Times New Roman" pitchFamily="18" charset="0"/>
                <a:cs typeface="Times New Roman" pitchFamily="18" charset="0"/>
              </a:rPr>
              <a:t>Domain based platforms are hard to find publicly on the Internet. Usually Interactive Quizzes and Quiz Platforms that are publicly available are general for all and that is user specific. But each domain, each department should have their own basic modules and questions that can be used irrespective of their syllabus. As I am Collaborating with SRIHER’s Nursing Department, this need of technology had fall into my eyes  </a:t>
            </a:r>
          </a:p>
        </p:txBody>
      </p:sp>
      <p:sp>
        <p:nvSpPr>
          <p:cNvPr id="3" name="Date Placeholder 2"/>
          <p:cNvSpPr>
            <a:spLocks noGrp="1"/>
          </p:cNvSpPr>
          <p:nvPr>
            <p:ph type="dt" sz="half" idx="10"/>
          </p:nvPr>
        </p:nvSpPr>
        <p:spPr/>
        <p:txBody>
          <a:bodyPr/>
          <a:lstStyle/>
          <a:p>
            <a:fld id="{E019806D-BBF9-4065-82F1-BB4B2025BF7F}" type="datetime3">
              <a:rPr lang="en-US" smtClean="0"/>
              <a:t>5 June 2026</a:t>
            </a:fld>
            <a:endParaRPr lang="en-US" dirty="0"/>
          </a:p>
        </p:txBody>
      </p:sp>
      <p:sp>
        <p:nvSpPr>
          <p:cNvPr id="10" name="Footer Placeholder 4"/>
          <p:cNvSpPr>
            <a:spLocks noGrp="1"/>
          </p:cNvSpPr>
          <p:nvPr>
            <p:ph type="ftr" sz="quarter" idx="11"/>
          </p:nvPr>
        </p:nvSpPr>
        <p:spPr>
          <a:xfrm>
            <a:off x="3028950" y="4767264"/>
            <a:ext cx="3086100" cy="273844"/>
          </a:xfrm>
        </p:spPr>
        <p:txBody>
          <a:bodyPr/>
          <a:lstStyle/>
          <a:p>
            <a:r>
              <a:rPr lang="en-US" dirty="0"/>
              <a:t>CYB23IN101 REVIEW - I</a:t>
            </a:r>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F867C2F-14C8-6012-67D6-4D23BADF2572}"/>
              </a:ext>
            </a:extLst>
          </p:cNvPr>
          <p:cNvSpPr>
            <a:spLocks noGrp="1"/>
          </p:cNvSpPr>
          <p:nvPr>
            <p:ph type="dt" sz="half" idx="10"/>
          </p:nvPr>
        </p:nvSpPr>
        <p:spPr/>
        <p:txBody>
          <a:bodyPr/>
          <a:lstStyle/>
          <a:p>
            <a:fld id="{2DB9DF8F-09D3-46AE-87C0-0E6AC09D07A6}" type="datetime3">
              <a:rPr lang="en-US" smtClean="0"/>
              <a:t>5 June 2026</a:t>
            </a:fld>
            <a:endParaRPr lang="en-US" dirty="0"/>
          </a:p>
        </p:txBody>
      </p:sp>
      <p:sp>
        <p:nvSpPr>
          <p:cNvPr id="5" name="Footer Placeholder 4">
            <a:extLst>
              <a:ext uri="{FF2B5EF4-FFF2-40B4-BE49-F238E27FC236}">
                <a16:creationId xmlns:a16="http://schemas.microsoft.com/office/drawing/2014/main" id="{92252AD3-8D1D-C820-68D0-6982F2A1F334}"/>
              </a:ext>
            </a:extLst>
          </p:cNvPr>
          <p:cNvSpPr>
            <a:spLocks noGrp="1"/>
          </p:cNvSpPr>
          <p:nvPr>
            <p:ph type="ftr" sz="quarter" idx="11"/>
          </p:nvPr>
        </p:nvSpPr>
        <p:spPr/>
        <p:txBody>
          <a:bodyPr/>
          <a:lstStyle/>
          <a:p>
            <a:r>
              <a:rPr lang="en-US"/>
              <a:t>INT500 REVIEW - I</a:t>
            </a:r>
            <a:endParaRPr lang="en-US" dirty="0"/>
          </a:p>
        </p:txBody>
      </p:sp>
      <p:sp>
        <p:nvSpPr>
          <p:cNvPr id="6" name="Slide Number Placeholder 5">
            <a:extLst>
              <a:ext uri="{FF2B5EF4-FFF2-40B4-BE49-F238E27FC236}">
                <a16:creationId xmlns:a16="http://schemas.microsoft.com/office/drawing/2014/main" id="{45DB75BC-A694-3CB0-43F8-8B9819C42666}"/>
              </a:ext>
            </a:extLst>
          </p:cNvPr>
          <p:cNvSpPr>
            <a:spLocks noGrp="1"/>
          </p:cNvSpPr>
          <p:nvPr>
            <p:ph type="sldNum" sz="quarter" idx="12"/>
          </p:nvPr>
        </p:nvSpPr>
        <p:spPr/>
        <p:txBody>
          <a:bodyPr/>
          <a:lstStyle/>
          <a:p>
            <a:fld id="{D57F1E4F-1CFF-5643-939E-217C01CDF565}" type="slidenum">
              <a:rPr lang="en-US" smtClean="0"/>
              <a:t>3</a:t>
            </a:fld>
            <a:endParaRPr lang="en-US" dirty="0"/>
          </a:p>
        </p:txBody>
      </p:sp>
      <p:sp>
        <p:nvSpPr>
          <p:cNvPr id="7" name="TextBox 6"/>
          <p:cNvSpPr txBox="1"/>
          <p:nvPr/>
        </p:nvSpPr>
        <p:spPr>
          <a:xfrm>
            <a:off x="214345" y="216485"/>
            <a:ext cx="8715309" cy="1846659"/>
          </a:xfrm>
          <a:prstGeom prst="rect">
            <a:avLst/>
          </a:prstGeom>
          <a:noFill/>
        </p:spPr>
        <p:txBody>
          <a:bodyPr wrap="square" rtlCol="0">
            <a:spAutoFit/>
          </a:bodyPr>
          <a:lstStyle/>
          <a:p>
            <a:r>
              <a:rPr lang="en-GB" b="1" dirty="0">
                <a:solidFill>
                  <a:srgbClr val="C00000"/>
                </a:solidFill>
                <a:latin typeface="Times New Roman" pitchFamily="18" charset="0"/>
                <a:cs typeface="Times New Roman" pitchFamily="18" charset="0"/>
              </a:rPr>
              <a:t>Motivation behind the study:</a:t>
            </a:r>
          </a:p>
          <a:p>
            <a:pPr algn="just"/>
            <a:r>
              <a:rPr lang="en-GB" sz="1600" b="1" dirty="0">
                <a:solidFill>
                  <a:srgbClr val="C00000"/>
                </a:solidFill>
                <a:latin typeface="Times New Roman" pitchFamily="18" charset="0"/>
                <a:cs typeface="Times New Roman" pitchFamily="18" charset="0"/>
              </a:rPr>
              <a:t>The Motivation is that a study on how the Gamified or interactive learning implies effective learning among students. As an existing Technology, Kahoot, way ground and </a:t>
            </a:r>
            <a:r>
              <a:rPr lang="en-GB" sz="1600" b="1" dirty="0" err="1">
                <a:solidFill>
                  <a:srgbClr val="C00000"/>
                </a:solidFill>
                <a:latin typeface="Times New Roman" pitchFamily="18" charset="0"/>
                <a:cs typeface="Times New Roman" pitchFamily="18" charset="0"/>
              </a:rPr>
              <a:t>Mentimeter</a:t>
            </a:r>
            <a:r>
              <a:rPr lang="en-GB" sz="1600" b="1" dirty="0">
                <a:solidFill>
                  <a:srgbClr val="C00000"/>
                </a:solidFill>
                <a:latin typeface="Times New Roman" pitchFamily="18" charset="0"/>
                <a:cs typeface="Times New Roman" pitchFamily="18" charset="0"/>
              </a:rPr>
              <a:t> gives various features and interactivity for students. This makes the learning heartful and easy to remember. So, this motivates to create a Module based quizzes and level-based progression to consistent incoming of specific Department students irrespective of their syllabus. Thus, Motivation is to study the effectiveness   </a:t>
            </a:r>
          </a:p>
        </p:txBody>
      </p:sp>
      <p:sp>
        <p:nvSpPr>
          <p:cNvPr id="8" name="TextBox 7"/>
          <p:cNvSpPr txBox="1"/>
          <p:nvPr/>
        </p:nvSpPr>
        <p:spPr>
          <a:xfrm>
            <a:off x="187467" y="2325312"/>
            <a:ext cx="5686750" cy="2092881"/>
          </a:xfrm>
          <a:prstGeom prst="rect">
            <a:avLst/>
          </a:prstGeom>
          <a:noFill/>
        </p:spPr>
        <p:txBody>
          <a:bodyPr wrap="none" rtlCol="0">
            <a:spAutoFit/>
          </a:bodyPr>
          <a:lstStyle/>
          <a:p>
            <a:r>
              <a:rPr lang="en-GB" b="1" dirty="0">
                <a:solidFill>
                  <a:srgbClr val="C00000"/>
                </a:solidFill>
                <a:latin typeface="Times New Roman" pitchFamily="18" charset="0"/>
                <a:cs typeface="Times New Roman" pitchFamily="18" charset="0"/>
              </a:rPr>
              <a:t>Challenges to be addressed:</a:t>
            </a:r>
          </a:p>
          <a:p>
            <a:pPr marL="285750" indent="-285750">
              <a:buFont typeface="Arial" panose="020B0604020202020204" pitchFamily="34" charset="0"/>
              <a:buChar char="•"/>
            </a:pPr>
            <a:r>
              <a:rPr lang="en-GB" sz="1600" b="1" dirty="0">
                <a:solidFill>
                  <a:srgbClr val="C00000"/>
                </a:solidFill>
                <a:latin typeface="Times New Roman" pitchFamily="18" charset="0"/>
                <a:cs typeface="Times New Roman" pitchFamily="18" charset="0"/>
              </a:rPr>
              <a:t>Handling Multiple Users at once (Scaling)</a:t>
            </a:r>
          </a:p>
          <a:p>
            <a:pPr marL="285750" indent="-285750">
              <a:buFont typeface="Arial" panose="020B0604020202020204" pitchFamily="34" charset="0"/>
              <a:buChar char="•"/>
            </a:pPr>
            <a:r>
              <a:rPr lang="en-GB" sz="1600" b="1" dirty="0">
                <a:solidFill>
                  <a:srgbClr val="C00000"/>
                </a:solidFill>
                <a:latin typeface="Times New Roman" pitchFamily="18" charset="0"/>
                <a:cs typeface="Times New Roman" pitchFamily="18" charset="0"/>
              </a:rPr>
              <a:t>Creating Creative Question Modes</a:t>
            </a:r>
          </a:p>
          <a:p>
            <a:pPr marL="285750" indent="-285750">
              <a:buFont typeface="Arial" panose="020B0604020202020204" pitchFamily="34" charset="0"/>
              <a:buChar char="•"/>
            </a:pPr>
            <a:r>
              <a:rPr lang="en-GB" sz="1600" b="1" dirty="0">
                <a:solidFill>
                  <a:srgbClr val="C00000"/>
                </a:solidFill>
                <a:latin typeface="Times New Roman" pitchFamily="18" charset="0"/>
                <a:cs typeface="Times New Roman" pitchFamily="18" charset="0"/>
              </a:rPr>
              <a:t>Selecting Suitable UI</a:t>
            </a:r>
          </a:p>
          <a:p>
            <a:pPr marL="285750" indent="-285750">
              <a:buFont typeface="Arial" panose="020B0604020202020204" pitchFamily="34" charset="0"/>
              <a:buChar char="•"/>
            </a:pPr>
            <a:r>
              <a:rPr lang="en-GB" sz="1600" b="1" dirty="0">
                <a:solidFill>
                  <a:srgbClr val="C00000"/>
                </a:solidFill>
                <a:latin typeface="Times New Roman" pitchFamily="18" charset="0"/>
                <a:cs typeface="Times New Roman" pitchFamily="18" charset="0"/>
              </a:rPr>
              <a:t>Thinking of creative features to add</a:t>
            </a:r>
          </a:p>
          <a:p>
            <a:pPr marL="285750" indent="-285750">
              <a:buFont typeface="Arial" panose="020B0604020202020204" pitchFamily="34" charset="0"/>
              <a:buChar char="•"/>
            </a:pPr>
            <a:r>
              <a:rPr lang="en-GB" sz="1600" b="1" dirty="0">
                <a:solidFill>
                  <a:srgbClr val="C00000"/>
                </a:solidFill>
                <a:latin typeface="Times New Roman" pitchFamily="18" charset="0"/>
                <a:cs typeface="Times New Roman" pitchFamily="18" charset="0"/>
              </a:rPr>
              <a:t>Making it portable for Multi Device</a:t>
            </a:r>
          </a:p>
          <a:p>
            <a:pPr marL="285750" indent="-285750">
              <a:buFont typeface="Arial" panose="020B0604020202020204" pitchFamily="34" charset="0"/>
              <a:buChar char="•"/>
            </a:pPr>
            <a:r>
              <a:rPr lang="en-GB" sz="1600" b="1" dirty="0">
                <a:solidFill>
                  <a:srgbClr val="C00000"/>
                </a:solidFill>
                <a:latin typeface="Times New Roman" pitchFamily="18" charset="0"/>
                <a:cs typeface="Times New Roman" pitchFamily="18" charset="0"/>
              </a:rPr>
              <a:t>Designing User-centric customizations</a:t>
            </a:r>
          </a:p>
          <a:p>
            <a:pPr marL="285750" indent="-285750">
              <a:buFont typeface="Arial" panose="020B0604020202020204" pitchFamily="34" charset="0"/>
              <a:buChar char="•"/>
            </a:pPr>
            <a:r>
              <a:rPr lang="en-GB" sz="1600" b="1" dirty="0">
                <a:solidFill>
                  <a:srgbClr val="C00000"/>
                </a:solidFill>
                <a:latin typeface="Times New Roman" pitchFamily="18" charset="0"/>
                <a:cs typeface="Times New Roman" pitchFamily="18" charset="0"/>
              </a:rPr>
              <a:t>Implementing security measures for security of the website </a:t>
            </a:r>
          </a:p>
        </p:txBody>
      </p:sp>
    </p:spTree>
    <p:extLst>
      <p:ext uri="{BB962C8B-B14F-4D97-AF65-F5344CB8AC3E}">
        <p14:creationId xmlns:p14="http://schemas.microsoft.com/office/powerpoint/2010/main" val="1196522430"/>
      </p:ext>
    </p:extLst>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D57F1E4F-1CFF-5643-939E-217C01CDF565}" type="slidenum">
              <a:rPr lang="en-US" smtClean="0"/>
              <a:t>4</a:t>
            </a:fld>
            <a:endParaRPr lang="en-US" dirty="0"/>
          </a:p>
        </p:txBody>
      </p:sp>
      <p:sp>
        <p:nvSpPr>
          <p:cNvPr id="10" name="Title 1"/>
          <p:cNvSpPr>
            <a:spLocks noGrp="1"/>
          </p:cNvSpPr>
          <p:nvPr>
            <p:ph type="title"/>
          </p:nvPr>
        </p:nvSpPr>
        <p:spPr>
          <a:xfrm>
            <a:off x="674139" y="1"/>
            <a:ext cx="8172960" cy="433523"/>
          </a:xfrm>
        </p:spPr>
        <p:txBody>
          <a:bodyPr>
            <a:noAutofit/>
          </a:bodyPr>
          <a:lstStyle/>
          <a:p>
            <a:pPr>
              <a:lnSpc>
                <a:spcPct val="107000"/>
              </a:lnSpc>
              <a:spcBef>
                <a:spcPts val="0"/>
              </a:spcBef>
              <a:spcAft>
                <a:spcPts val="450"/>
              </a:spcAft>
            </a:pPr>
            <a:r>
              <a:rPr lang="en-US" sz="2800" b="1" dirty="0">
                <a:solidFill>
                  <a:srgbClr val="A50021"/>
                </a:solidFill>
                <a:latin typeface="Times New Roman" panose="02020603050405020304" pitchFamily="18" charset="0"/>
                <a:cs typeface="Times New Roman" panose="02020603050405020304" pitchFamily="18" charset="0"/>
              </a:rPr>
              <a:t>REVIEW OF LITERATURE  (Minimum 15 Works) </a:t>
            </a:r>
          </a:p>
        </p:txBody>
      </p:sp>
      <p:graphicFrame>
        <p:nvGraphicFramePr>
          <p:cNvPr id="2" name="Table 2">
            <a:extLst>
              <a:ext uri="{FF2B5EF4-FFF2-40B4-BE49-F238E27FC236}">
                <a16:creationId xmlns:a16="http://schemas.microsoft.com/office/drawing/2014/main" id="{111D3F43-164F-C0DE-29C1-B22C76F7C651}"/>
              </a:ext>
            </a:extLst>
          </p:cNvPr>
          <p:cNvGraphicFramePr>
            <a:graphicFrameLocks noGrp="1"/>
          </p:cNvGraphicFramePr>
          <p:nvPr>
            <p:extLst>
              <p:ext uri="{D42A27DB-BD31-4B8C-83A1-F6EECF244321}">
                <p14:modId xmlns:p14="http://schemas.microsoft.com/office/powerpoint/2010/main" val="2542163821"/>
              </p:ext>
            </p:extLst>
          </p:nvPr>
        </p:nvGraphicFramePr>
        <p:xfrm>
          <a:off x="109730" y="508254"/>
          <a:ext cx="8802621" cy="4361433"/>
        </p:xfrm>
        <a:graphic>
          <a:graphicData uri="http://schemas.openxmlformats.org/drawingml/2006/table">
            <a:tbl>
              <a:tblPr firstRow="1" bandRow="1">
                <a:tableStyleId>{5940675A-B579-460E-94D1-54222C63F5DA}</a:tableStyleId>
              </a:tblPr>
              <a:tblGrid>
                <a:gridCol w="962477">
                  <a:extLst>
                    <a:ext uri="{9D8B030D-6E8A-4147-A177-3AD203B41FA5}">
                      <a16:colId xmlns:a16="http://schemas.microsoft.com/office/drawing/2014/main" val="3245450958"/>
                    </a:ext>
                  </a:extLst>
                </a:gridCol>
                <a:gridCol w="1256466">
                  <a:extLst>
                    <a:ext uri="{9D8B030D-6E8A-4147-A177-3AD203B41FA5}">
                      <a16:colId xmlns:a16="http://schemas.microsoft.com/office/drawing/2014/main" val="3818927860"/>
                    </a:ext>
                  </a:extLst>
                </a:gridCol>
                <a:gridCol w="1475232">
                  <a:extLst>
                    <a:ext uri="{9D8B030D-6E8A-4147-A177-3AD203B41FA5}">
                      <a16:colId xmlns:a16="http://schemas.microsoft.com/office/drawing/2014/main" val="1974754508"/>
                    </a:ext>
                  </a:extLst>
                </a:gridCol>
                <a:gridCol w="1501404">
                  <a:extLst>
                    <a:ext uri="{9D8B030D-6E8A-4147-A177-3AD203B41FA5}">
                      <a16:colId xmlns:a16="http://schemas.microsoft.com/office/drawing/2014/main" val="1235881472"/>
                    </a:ext>
                  </a:extLst>
                </a:gridCol>
                <a:gridCol w="2308147">
                  <a:extLst>
                    <a:ext uri="{9D8B030D-6E8A-4147-A177-3AD203B41FA5}">
                      <a16:colId xmlns:a16="http://schemas.microsoft.com/office/drawing/2014/main" val="20004"/>
                    </a:ext>
                  </a:extLst>
                </a:gridCol>
                <a:gridCol w="1298895">
                  <a:extLst>
                    <a:ext uri="{9D8B030D-6E8A-4147-A177-3AD203B41FA5}">
                      <a16:colId xmlns:a16="http://schemas.microsoft.com/office/drawing/2014/main" val="3928919045"/>
                    </a:ext>
                  </a:extLst>
                </a:gridCol>
              </a:tblGrid>
              <a:tr h="840105">
                <a:tc>
                  <a:txBody>
                    <a:bodyPr/>
                    <a:lstStyle/>
                    <a:p>
                      <a:pPr algn="ctr"/>
                      <a:r>
                        <a:rPr lang="en-IN" sz="1000" b="1" dirty="0">
                          <a:latin typeface="Times New Roman" pitchFamily="18" charset="0"/>
                          <a:cs typeface="Times New Roman" pitchFamily="18" charset="0"/>
                        </a:rPr>
                        <a:t>Author</a:t>
                      </a:r>
                      <a:r>
                        <a:rPr lang="en-IN" sz="1000" b="1" baseline="0" dirty="0">
                          <a:latin typeface="Times New Roman" pitchFamily="18" charset="0"/>
                          <a:cs typeface="Times New Roman" pitchFamily="18" charset="0"/>
                        </a:rPr>
                        <a:t> and Year </a:t>
                      </a:r>
                      <a:endParaRPr lang="en-IN" sz="1000" b="1" dirty="0">
                        <a:latin typeface="Times New Roman" pitchFamily="18" charset="0"/>
                        <a:cs typeface="Times New Roman" pitchFamily="18" charset="0"/>
                      </a:endParaRPr>
                    </a:p>
                    <a:p>
                      <a:pPr algn="ctr"/>
                      <a:r>
                        <a:rPr lang="en-IN" sz="1000" b="1" dirty="0">
                          <a:latin typeface="Times New Roman" pitchFamily="18" charset="0"/>
                          <a:cs typeface="Times New Roman" pitchFamily="18" charset="0"/>
                        </a:rPr>
                        <a:t>(chronological order)</a:t>
                      </a:r>
                      <a:endParaRPr lang="en-IN" sz="1000" b="1" dirty="0">
                        <a:latin typeface="Times New Roman" pitchFamily="18" charset="0"/>
                        <a:ea typeface="Cambria" panose="02040503050406030204" pitchFamily="18" charset="0"/>
                        <a:cs typeface="Times New Roman" pitchFamily="18" charset="0"/>
                      </a:endParaRPr>
                    </a:p>
                  </a:txBody>
                  <a:tcPr marT="34290" marB="34290">
                    <a:solidFill>
                      <a:schemeClr val="bg2"/>
                    </a:solidFill>
                  </a:tcPr>
                </a:tc>
                <a:tc>
                  <a:txBody>
                    <a:bodyPr/>
                    <a:lstStyle/>
                    <a:p>
                      <a:pPr algn="ctr"/>
                      <a:r>
                        <a:rPr lang="en-US" sz="1000" b="1" dirty="0">
                          <a:latin typeface="Times New Roman" pitchFamily="18" charset="0"/>
                          <a:cs typeface="Times New Roman" pitchFamily="18" charset="0"/>
                        </a:rPr>
                        <a:t>Methodology/</a:t>
                      </a:r>
                    </a:p>
                    <a:p>
                      <a:pPr algn="ctr"/>
                      <a:r>
                        <a:rPr lang="en-US" sz="1000" b="1" dirty="0">
                          <a:latin typeface="Times New Roman" pitchFamily="18" charset="0"/>
                          <a:cs typeface="Times New Roman" pitchFamily="18" charset="0"/>
                        </a:rPr>
                        <a:t>Materials and Methods</a:t>
                      </a:r>
                      <a:endParaRPr lang="en-IN" sz="1000" b="1" dirty="0">
                        <a:latin typeface="Times New Roman" pitchFamily="18" charset="0"/>
                        <a:ea typeface="Cambria" panose="02040503050406030204" pitchFamily="18" charset="0"/>
                        <a:cs typeface="Times New Roman" pitchFamily="18" charset="0"/>
                      </a:endParaRPr>
                    </a:p>
                  </a:txBody>
                  <a:tcPr marT="34290" marB="34290">
                    <a:solidFill>
                      <a:schemeClr val="bg2"/>
                    </a:solidFill>
                  </a:tcPr>
                </a:tc>
                <a:tc>
                  <a:txBody>
                    <a:bodyPr/>
                    <a:lstStyle/>
                    <a:p>
                      <a:pPr algn="ctr"/>
                      <a:r>
                        <a:rPr lang="en-IN" sz="1000" b="1" dirty="0">
                          <a:latin typeface="Times New Roman" pitchFamily="18" charset="0"/>
                          <a:ea typeface="Cambria" panose="02040503050406030204" pitchFamily="18" charset="0"/>
                          <a:cs typeface="Times New Roman" pitchFamily="18" charset="0"/>
                        </a:rPr>
                        <a:t>Datasets</a:t>
                      </a:r>
                    </a:p>
                  </a:txBody>
                  <a:tcPr marT="34290" marB="34290">
                    <a:solidFill>
                      <a:schemeClr val="bg2"/>
                    </a:solidFill>
                  </a:tcPr>
                </a:tc>
                <a:tc>
                  <a:txBody>
                    <a:bodyPr/>
                    <a:lstStyle/>
                    <a:p>
                      <a:pPr algn="ctr"/>
                      <a:r>
                        <a:rPr lang="en-US" sz="1000" b="1" dirty="0">
                          <a:latin typeface="Times New Roman" pitchFamily="18" charset="0"/>
                          <a:cs typeface="Times New Roman" pitchFamily="18" charset="0"/>
                        </a:rPr>
                        <a:t>Results/Outcome </a:t>
                      </a:r>
                      <a:endParaRPr lang="en-IN" sz="1000" b="1" dirty="0">
                        <a:latin typeface="Times New Roman" pitchFamily="18" charset="0"/>
                        <a:ea typeface="Cambria" panose="02040503050406030204" pitchFamily="18" charset="0"/>
                        <a:cs typeface="Times New Roman" pitchFamily="18" charset="0"/>
                      </a:endParaRPr>
                    </a:p>
                  </a:txBody>
                  <a:tcPr marT="34290" marB="34290">
                    <a:solidFill>
                      <a:schemeClr val="bg2"/>
                    </a:solidFill>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1000" b="1" dirty="0">
                          <a:latin typeface="Times New Roman" pitchFamily="18" charset="0"/>
                          <a:cs typeface="Times New Roman" pitchFamily="18" charset="0"/>
                        </a:rPr>
                        <a:t>Advantage /</a:t>
                      </a:r>
                      <a:r>
                        <a:rPr lang="en-US" sz="1000" b="1" baseline="0" dirty="0">
                          <a:latin typeface="Times New Roman" pitchFamily="18" charset="0"/>
                          <a:cs typeface="Times New Roman" pitchFamily="18" charset="0"/>
                        </a:rPr>
                        <a:t> </a:t>
                      </a:r>
                      <a:r>
                        <a:rPr lang="en-US" sz="1000" b="1" dirty="0">
                          <a:latin typeface="Times New Roman" pitchFamily="18" charset="0"/>
                          <a:cs typeface="Times New Roman" pitchFamily="18" charset="0"/>
                        </a:rPr>
                        <a:t>Key findings from the work</a:t>
                      </a:r>
                      <a:endParaRPr lang="en-IN" sz="1000" b="1" dirty="0">
                        <a:latin typeface="Times New Roman" pitchFamily="18" charset="0"/>
                        <a:ea typeface="Cambria" panose="02040503050406030204" pitchFamily="18" charset="0"/>
                        <a:cs typeface="Times New Roman" pitchFamily="18" charset="0"/>
                      </a:endParaRPr>
                    </a:p>
                    <a:p>
                      <a:pPr algn="ctr"/>
                      <a:endParaRPr lang="en-IN" sz="1000" b="1" dirty="0">
                        <a:latin typeface="Times New Roman" pitchFamily="18" charset="0"/>
                        <a:ea typeface="Cambria" panose="02040503050406030204" pitchFamily="18" charset="0"/>
                        <a:cs typeface="Times New Roman" pitchFamily="18" charset="0"/>
                      </a:endParaRPr>
                    </a:p>
                  </a:txBody>
                  <a:tcPr marT="34290" marB="34290">
                    <a:solidFill>
                      <a:schemeClr val="bg2"/>
                    </a:solidFill>
                  </a:tcPr>
                </a:tc>
                <a:tc>
                  <a:txBody>
                    <a:bodyPr/>
                    <a:lstStyle/>
                    <a:p>
                      <a:pPr algn="ctr"/>
                      <a:r>
                        <a:rPr lang="en-US" sz="1000" b="1" dirty="0">
                          <a:latin typeface="Times New Roman" pitchFamily="18" charset="0"/>
                          <a:cs typeface="Times New Roman" pitchFamily="18" charset="0"/>
                        </a:rPr>
                        <a:t>Disadvantage/</a:t>
                      </a:r>
                      <a:r>
                        <a:rPr lang="en-US" sz="1000" b="1" baseline="0" dirty="0">
                          <a:latin typeface="Times New Roman" pitchFamily="18" charset="0"/>
                          <a:cs typeface="Times New Roman" pitchFamily="18" charset="0"/>
                        </a:rPr>
                        <a:t> GAP Identified from the work</a:t>
                      </a:r>
                      <a:endParaRPr lang="en-IN" sz="1000" b="1" dirty="0">
                        <a:latin typeface="Times New Roman" pitchFamily="18" charset="0"/>
                        <a:ea typeface="Cambria" panose="02040503050406030204" pitchFamily="18" charset="0"/>
                        <a:cs typeface="Times New Roman" pitchFamily="18" charset="0"/>
                      </a:endParaRPr>
                    </a:p>
                  </a:txBody>
                  <a:tcPr marT="34290" marB="34290">
                    <a:solidFill>
                      <a:schemeClr val="bg2"/>
                    </a:solidFill>
                  </a:tcPr>
                </a:tc>
                <a:extLst>
                  <a:ext uri="{0D108BD9-81ED-4DB2-BD59-A6C34878D82A}">
                    <a16:rowId xmlns:a16="http://schemas.microsoft.com/office/drawing/2014/main" val="388308832"/>
                  </a:ext>
                </a:extLst>
              </a:tr>
              <a:tr h="293444">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extLst>
                  <a:ext uri="{0D108BD9-81ED-4DB2-BD59-A6C34878D82A}">
                    <a16:rowId xmlns:a16="http://schemas.microsoft.com/office/drawing/2014/main" val="1288415554"/>
                  </a:ext>
                </a:extLst>
              </a:tr>
              <a:tr h="293444">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extLst>
                  <a:ext uri="{0D108BD9-81ED-4DB2-BD59-A6C34878D82A}">
                    <a16:rowId xmlns:a16="http://schemas.microsoft.com/office/drawing/2014/main" val="10002"/>
                  </a:ext>
                </a:extLst>
              </a:tr>
              <a:tr h="293444">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extLst>
                  <a:ext uri="{0D108BD9-81ED-4DB2-BD59-A6C34878D82A}">
                    <a16:rowId xmlns:a16="http://schemas.microsoft.com/office/drawing/2014/main" val="10003"/>
                  </a:ext>
                </a:extLst>
              </a:tr>
              <a:tr h="293444">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extLst>
                  <a:ext uri="{0D108BD9-81ED-4DB2-BD59-A6C34878D82A}">
                    <a16:rowId xmlns:a16="http://schemas.microsoft.com/office/drawing/2014/main" val="10004"/>
                  </a:ext>
                </a:extLst>
              </a:tr>
              <a:tr h="293444">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extLst>
                  <a:ext uri="{0D108BD9-81ED-4DB2-BD59-A6C34878D82A}">
                    <a16:rowId xmlns:a16="http://schemas.microsoft.com/office/drawing/2014/main" val="10005"/>
                  </a:ext>
                </a:extLst>
              </a:tr>
              <a:tr h="293444">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extLst>
                  <a:ext uri="{0D108BD9-81ED-4DB2-BD59-A6C34878D82A}">
                    <a16:rowId xmlns:a16="http://schemas.microsoft.com/office/drawing/2014/main" val="10006"/>
                  </a:ext>
                </a:extLst>
              </a:tr>
              <a:tr h="293444">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extLst>
                  <a:ext uri="{0D108BD9-81ED-4DB2-BD59-A6C34878D82A}">
                    <a16:rowId xmlns:a16="http://schemas.microsoft.com/office/drawing/2014/main" val="10007"/>
                  </a:ext>
                </a:extLst>
              </a:tr>
              <a:tr h="293444">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extLst>
                  <a:ext uri="{0D108BD9-81ED-4DB2-BD59-A6C34878D82A}">
                    <a16:rowId xmlns:a16="http://schemas.microsoft.com/office/drawing/2014/main" val="10008"/>
                  </a:ext>
                </a:extLst>
              </a:tr>
              <a:tr h="293444">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extLst>
                  <a:ext uri="{0D108BD9-81ED-4DB2-BD59-A6C34878D82A}">
                    <a16:rowId xmlns:a16="http://schemas.microsoft.com/office/drawing/2014/main" val="10009"/>
                  </a:ext>
                </a:extLst>
              </a:tr>
              <a:tr h="293444">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extLst>
                  <a:ext uri="{0D108BD9-81ED-4DB2-BD59-A6C34878D82A}">
                    <a16:rowId xmlns:a16="http://schemas.microsoft.com/office/drawing/2014/main" val="10010"/>
                  </a:ext>
                </a:extLst>
              </a:tr>
              <a:tr h="293444">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extLst>
                  <a:ext uri="{0D108BD9-81ED-4DB2-BD59-A6C34878D82A}">
                    <a16:rowId xmlns:a16="http://schemas.microsoft.com/office/drawing/2014/main" val="10011"/>
                  </a:ext>
                </a:extLst>
              </a:tr>
              <a:tr h="293444">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extLst>
                  <a:ext uri="{0D108BD9-81ED-4DB2-BD59-A6C34878D82A}">
                    <a16:rowId xmlns:a16="http://schemas.microsoft.com/office/drawing/2014/main" val="10012"/>
                  </a:ext>
                </a:extLst>
              </a:tr>
            </a:tbl>
          </a:graphicData>
        </a:graphic>
      </p:graphicFrame>
      <p:sp>
        <p:nvSpPr>
          <p:cNvPr id="3" name="Date Placeholder 2"/>
          <p:cNvSpPr>
            <a:spLocks noGrp="1"/>
          </p:cNvSpPr>
          <p:nvPr>
            <p:ph type="dt" sz="half" idx="10"/>
          </p:nvPr>
        </p:nvSpPr>
        <p:spPr/>
        <p:txBody>
          <a:bodyPr/>
          <a:lstStyle/>
          <a:p>
            <a:fld id="{4E2F8081-A97F-4DB5-8CE1-E687C3C2B1EA}" type="datetime3">
              <a:rPr lang="en-US" smtClean="0"/>
              <a:t>5 June 2026</a:t>
            </a:fld>
            <a:endParaRPr lang="en-US" dirty="0"/>
          </a:p>
        </p:txBody>
      </p:sp>
      <p:sp>
        <p:nvSpPr>
          <p:cNvPr id="8" name="Footer Placeholder 4"/>
          <p:cNvSpPr>
            <a:spLocks noGrp="1"/>
          </p:cNvSpPr>
          <p:nvPr>
            <p:ph type="ftr" sz="quarter" idx="11"/>
          </p:nvPr>
        </p:nvSpPr>
        <p:spPr>
          <a:xfrm>
            <a:off x="3028950" y="4767264"/>
            <a:ext cx="3086100" cy="273844"/>
          </a:xfrm>
        </p:spPr>
        <p:txBody>
          <a:bodyPr/>
          <a:lstStyle/>
          <a:p>
            <a:r>
              <a:rPr lang="en-US" dirty="0"/>
              <a:t>CYB23IN101 REVIEW - I</a:t>
            </a:r>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D57F1E4F-1CFF-5643-939E-217C01CDF565}" type="slidenum">
              <a:rPr lang="en-US" smtClean="0"/>
              <a:t>5</a:t>
            </a:fld>
            <a:endParaRPr lang="en-US" dirty="0"/>
          </a:p>
        </p:txBody>
      </p:sp>
      <p:sp>
        <p:nvSpPr>
          <p:cNvPr id="10" name="Title 1"/>
          <p:cNvSpPr>
            <a:spLocks noGrp="1"/>
          </p:cNvSpPr>
          <p:nvPr>
            <p:ph type="title"/>
          </p:nvPr>
        </p:nvSpPr>
        <p:spPr>
          <a:xfrm>
            <a:off x="109182" y="1"/>
            <a:ext cx="8737917" cy="433523"/>
          </a:xfrm>
        </p:spPr>
        <p:txBody>
          <a:bodyPr>
            <a:noAutofit/>
          </a:bodyPr>
          <a:lstStyle/>
          <a:p>
            <a:pPr algn="ctr">
              <a:lnSpc>
                <a:spcPct val="107000"/>
              </a:lnSpc>
              <a:spcBef>
                <a:spcPts val="0"/>
              </a:spcBef>
              <a:spcAft>
                <a:spcPts val="450"/>
              </a:spcAft>
            </a:pPr>
            <a:r>
              <a:rPr lang="en-US" sz="2400" b="1" dirty="0">
                <a:solidFill>
                  <a:srgbClr val="A50021"/>
                </a:solidFill>
                <a:latin typeface="Times New Roman" panose="02020603050405020304" pitchFamily="18" charset="0"/>
                <a:cs typeface="Times New Roman" panose="02020603050405020304" pitchFamily="18" charset="0"/>
              </a:rPr>
              <a:t>REVIEW OF LITERATURE  </a:t>
            </a:r>
            <a:r>
              <a:rPr lang="en-US" sz="1800" b="1" dirty="0">
                <a:solidFill>
                  <a:srgbClr val="A50021"/>
                </a:solidFill>
                <a:latin typeface="Times New Roman" panose="02020603050405020304" pitchFamily="18" charset="0"/>
                <a:cs typeface="Times New Roman" panose="02020603050405020304" pitchFamily="18" charset="0"/>
              </a:rPr>
              <a:t>(Minimum 15 Works Continued….) </a:t>
            </a:r>
          </a:p>
        </p:txBody>
      </p:sp>
      <p:graphicFrame>
        <p:nvGraphicFramePr>
          <p:cNvPr id="2" name="Table 2">
            <a:extLst>
              <a:ext uri="{FF2B5EF4-FFF2-40B4-BE49-F238E27FC236}">
                <a16:creationId xmlns:a16="http://schemas.microsoft.com/office/drawing/2014/main" id="{111D3F43-164F-C0DE-29C1-B22C76F7C651}"/>
              </a:ext>
            </a:extLst>
          </p:cNvPr>
          <p:cNvGraphicFramePr>
            <a:graphicFrameLocks noGrp="1"/>
          </p:cNvGraphicFramePr>
          <p:nvPr>
            <p:extLst>
              <p:ext uri="{D42A27DB-BD31-4B8C-83A1-F6EECF244321}">
                <p14:modId xmlns:p14="http://schemas.microsoft.com/office/powerpoint/2010/main" val="1341759201"/>
              </p:ext>
            </p:extLst>
          </p:nvPr>
        </p:nvGraphicFramePr>
        <p:xfrm>
          <a:off x="109730" y="508254"/>
          <a:ext cx="8802621" cy="4361433"/>
        </p:xfrm>
        <a:graphic>
          <a:graphicData uri="http://schemas.openxmlformats.org/drawingml/2006/table">
            <a:tbl>
              <a:tblPr firstRow="1" bandRow="1">
                <a:tableStyleId>{5940675A-B579-460E-94D1-54222C63F5DA}</a:tableStyleId>
              </a:tblPr>
              <a:tblGrid>
                <a:gridCol w="962477">
                  <a:extLst>
                    <a:ext uri="{9D8B030D-6E8A-4147-A177-3AD203B41FA5}">
                      <a16:colId xmlns:a16="http://schemas.microsoft.com/office/drawing/2014/main" val="3245450958"/>
                    </a:ext>
                  </a:extLst>
                </a:gridCol>
                <a:gridCol w="1256466">
                  <a:extLst>
                    <a:ext uri="{9D8B030D-6E8A-4147-A177-3AD203B41FA5}">
                      <a16:colId xmlns:a16="http://schemas.microsoft.com/office/drawing/2014/main" val="3818927860"/>
                    </a:ext>
                  </a:extLst>
                </a:gridCol>
                <a:gridCol w="1475232">
                  <a:extLst>
                    <a:ext uri="{9D8B030D-6E8A-4147-A177-3AD203B41FA5}">
                      <a16:colId xmlns:a16="http://schemas.microsoft.com/office/drawing/2014/main" val="1974754508"/>
                    </a:ext>
                  </a:extLst>
                </a:gridCol>
                <a:gridCol w="1501404">
                  <a:extLst>
                    <a:ext uri="{9D8B030D-6E8A-4147-A177-3AD203B41FA5}">
                      <a16:colId xmlns:a16="http://schemas.microsoft.com/office/drawing/2014/main" val="1235881472"/>
                    </a:ext>
                  </a:extLst>
                </a:gridCol>
                <a:gridCol w="2308147">
                  <a:extLst>
                    <a:ext uri="{9D8B030D-6E8A-4147-A177-3AD203B41FA5}">
                      <a16:colId xmlns:a16="http://schemas.microsoft.com/office/drawing/2014/main" val="20004"/>
                    </a:ext>
                  </a:extLst>
                </a:gridCol>
                <a:gridCol w="1298895">
                  <a:extLst>
                    <a:ext uri="{9D8B030D-6E8A-4147-A177-3AD203B41FA5}">
                      <a16:colId xmlns:a16="http://schemas.microsoft.com/office/drawing/2014/main" val="3928919045"/>
                    </a:ext>
                  </a:extLst>
                </a:gridCol>
              </a:tblGrid>
              <a:tr h="840105">
                <a:tc>
                  <a:txBody>
                    <a:bodyPr/>
                    <a:lstStyle/>
                    <a:p>
                      <a:pPr algn="ctr"/>
                      <a:r>
                        <a:rPr lang="en-IN" sz="1000" b="1" dirty="0">
                          <a:latin typeface="Times New Roman" pitchFamily="18" charset="0"/>
                          <a:cs typeface="Times New Roman" pitchFamily="18" charset="0"/>
                        </a:rPr>
                        <a:t>Author</a:t>
                      </a:r>
                      <a:r>
                        <a:rPr lang="en-IN" sz="1000" b="1" baseline="0" dirty="0">
                          <a:latin typeface="Times New Roman" pitchFamily="18" charset="0"/>
                          <a:cs typeface="Times New Roman" pitchFamily="18" charset="0"/>
                        </a:rPr>
                        <a:t> and Year </a:t>
                      </a:r>
                      <a:endParaRPr lang="en-IN" sz="1000" b="1" dirty="0">
                        <a:latin typeface="Times New Roman" pitchFamily="18" charset="0"/>
                        <a:cs typeface="Times New Roman" pitchFamily="18" charset="0"/>
                      </a:endParaRPr>
                    </a:p>
                    <a:p>
                      <a:pPr algn="ctr"/>
                      <a:r>
                        <a:rPr lang="en-IN" sz="1000" b="1" dirty="0">
                          <a:latin typeface="Times New Roman" pitchFamily="18" charset="0"/>
                          <a:cs typeface="Times New Roman" pitchFamily="18" charset="0"/>
                        </a:rPr>
                        <a:t>(chronological order)</a:t>
                      </a:r>
                      <a:endParaRPr lang="en-IN" sz="1000" b="1" dirty="0">
                        <a:latin typeface="Times New Roman" pitchFamily="18" charset="0"/>
                        <a:ea typeface="Cambria" panose="02040503050406030204" pitchFamily="18" charset="0"/>
                        <a:cs typeface="Times New Roman" pitchFamily="18" charset="0"/>
                      </a:endParaRPr>
                    </a:p>
                  </a:txBody>
                  <a:tcPr marT="34290" marB="34290">
                    <a:solidFill>
                      <a:schemeClr val="bg2"/>
                    </a:solidFill>
                  </a:tcPr>
                </a:tc>
                <a:tc>
                  <a:txBody>
                    <a:bodyPr/>
                    <a:lstStyle/>
                    <a:p>
                      <a:pPr algn="ctr"/>
                      <a:r>
                        <a:rPr lang="en-US" sz="1000" b="1" dirty="0">
                          <a:latin typeface="Times New Roman" pitchFamily="18" charset="0"/>
                          <a:cs typeface="Times New Roman" pitchFamily="18" charset="0"/>
                        </a:rPr>
                        <a:t>Methodology/</a:t>
                      </a:r>
                    </a:p>
                    <a:p>
                      <a:pPr algn="ctr"/>
                      <a:r>
                        <a:rPr lang="en-US" sz="1000" b="1" dirty="0">
                          <a:latin typeface="Times New Roman" pitchFamily="18" charset="0"/>
                          <a:cs typeface="Times New Roman" pitchFamily="18" charset="0"/>
                        </a:rPr>
                        <a:t>Materials and Methods</a:t>
                      </a:r>
                      <a:endParaRPr lang="en-IN" sz="1000" b="1" dirty="0">
                        <a:latin typeface="Times New Roman" pitchFamily="18" charset="0"/>
                        <a:ea typeface="Cambria" panose="02040503050406030204" pitchFamily="18" charset="0"/>
                        <a:cs typeface="Times New Roman" pitchFamily="18" charset="0"/>
                      </a:endParaRPr>
                    </a:p>
                  </a:txBody>
                  <a:tcPr marT="34290" marB="34290">
                    <a:solidFill>
                      <a:schemeClr val="bg2"/>
                    </a:solidFill>
                  </a:tcPr>
                </a:tc>
                <a:tc>
                  <a:txBody>
                    <a:bodyPr/>
                    <a:lstStyle/>
                    <a:p>
                      <a:pPr algn="ctr"/>
                      <a:r>
                        <a:rPr lang="en-IN" sz="1000" b="1" dirty="0">
                          <a:latin typeface="Times New Roman" pitchFamily="18" charset="0"/>
                          <a:ea typeface="Cambria" panose="02040503050406030204" pitchFamily="18" charset="0"/>
                          <a:cs typeface="Times New Roman" pitchFamily="18" charset="0"/>
                        </a:rPr>
                        <a:t>Datasets</a:t>
                      </a:r>
                    </a:p>
                  </a:txBody>
                  <a:tcPr marT="34290" marB="34290">
                    <a:solidFill>
                      <a:schemeClr val="bg2"/>
                    </a:solidFill>
                  </a:tcPr>
                </a:tc>
                <a:tc>
                  <a:txBody>
                    <a:bodyPr/>
                    <a:lstStyle/>
                    <a:p>
                      <a:pPr algn="ctr"/>
                      <a:r>
                        <a:rPr lang="en-US" sz="1000" b="1" dirty="0">
                          <a:latin typeface="Times New Roman" pitchFamily="18" charset="0"/>
                          <a:cs typeface="Times New Roman" pitchFamily="18" charset="0"/>
                        </a:rPr>
                        <a:t>Results/Outcome </a:t>
                      </a:r>
                      <a:endParaRPr lang="en-IN" sz="1000" b="1" dirty="0">
                        <a:latin typeface="Times New Roman" pitchFamily="18" charset="0"/>
                        <a:ea typeface="Cambria" panose="02040503050406030204" pitchFamily="18" charset="0"/>
                        <a:cs typeface="Times New Roman" pitchFamily="18" charset="0"/>
                      </a:endParaRPr>
                    </a:p>
                  </a:txBody>
                  <a:tcPr marT="34290" marB="34290">
                    <a:solidFill>
                      <a:schemeClr val="bg2"/>
                    </a:solidFill>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1000" b="1" dirty="0">
                          <a:latin typeface="Times New Roman" pitchFamily="18" charset="0"/>
                          <a:cs typeface="Times New Roman" pitchFamily="18" charset="0"/>
                        </a:rPr>
                        <a:t>Advantage /</a:t>
                      </a:r>
                      <a:r>
                        <a:rPr lang="en-US" sz="1000" b="1" baseline="0" dirty="0">
                          <a:latin typeface="Times New Roman" pitchFamily="18" charset="0"/>
                          <a:cs typeface="Times New Roman" pitchFamily="18" charset="0"/>
                        </a:rPr>
                        <a:t> </a:t>
                      </a:r>
                      <a:r>
                        <a:rPr lang="en-US" sz="1000" b="1" dirty="0">
                          <a:latin typeface="Times New Roman" pitchFamily="18" charset="0"/>
                          <a:cs typeface="Times New Roman" pitchFamily="18" charset="0"/>
                        </a:rPr>
                        <a:t>Key findings from the work</a:t>
                      </a:r>
                      <a:endParaRPr lang="en-IN" sz="1000" b="1" dirty="0">
                        <a:latin typeface="Times New Roman" pitchFamily="18" charset="0"/>
                        <a:ea typeface="Cambria" panose="02040503050406030204" pitchFamily="18" charset="0"/>
                        <a:cs typeface="Times New Roman" pitchFamily="18" charset="0"/>
                      </a:endParaRPr>
                    </a:p>
                    <a:p>
                      <a:pPr algn="ctr"/>
                      <a:endParaRPr lang="en-IN" sz="1000" b="1" dirty="0">
                        <a:latin typeface="Times New Roman" pitchFamily="18" charset="0"/>
                        <a:ea typeface="Cambria" panose="02040503050406030204" pitchFamily="18" charset="0"/>
                        <a:cs typeface="Times New Roman" pitchFamily="18" charset="0"/>
                      </a:endParaRPr>
                    </a:p>
                  </a:txBody>
                  <a:tcPr marT="34290" marB="34290">
                    <a:solidFill>
                      <a:schemeClr val="bg2"/>
                    </a:solidFill>
                  </a:tcPr>
                </a:tc>
                <a:tc>
                  <a:txBody>
                    <a:bodyPr/>
                    <a:lstStyle/>
                    <a:p>
                      <a:pPr algn="ctr"/>
                      <a:r>
                        <a:rPr lang="en-US" sz="1000" b="1" dirty="0">
                          <a:latin typeface="Times New Roman" pitchFamily="18" charset="0"/>
                          <a:cs typeface="Times New Roman" pitchFamily="18" charset="0"/>
                        </a:rPr>
                        <a:t>Disadvantage/</a:t>
                      </a:r>
                      <a:r>
                        <a:rPr lang="en-US" sz="1000" b="1" baseline="0" dirty="0">
                          <a:latin typeface="Times New Roman" pitchFamily="18" charset="0"/>
                          <a:cs typeface="Times New Roman" pitchFamily="18" charset="0"/>
                        </a:rPr>
                        <a:t> GAP Identified from the work</a:t>
                      </a:r>
                      <a:endParaRPr lang="en-IN" sz="1000" b="1" dirty="0">
                        <a:latin typeface="Times New Roman" pitchFamily="18" charset="0"/>
                        <a:ea typeface="Cambria" panose="02040503050406030204" pitchFamily="18" charset="0"/>
                        <a:cs typeface="Times New Roman" pitchFamily="18" charset="0"/>
                      </a:endParaRPr>
                    </a:p>
                  </a:txBody>
                  <a:tcPr marT="34290" marB="34290">
                    <a:solidFill>
                      <a:schemeClr val="bg2"/>
                    </a:solidFill>
                  </a:tcPr>
                </a:tc>
                <a:extLst>
                  <a:ext uri="{0D108BD9-81ED-4DB2-BD59-A6C34878D82A}">
                    <a16:rowId xmlns:a16="http://schemas.microsoft.com/office/drawing/2014/main" val="388308832"/>
                  </a:ext>
                </a:extLst>
              </a:tr>
              <a:tr h="293444">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extLst>
                  <a:ext uri="{0D108BD9-81ED-4DB2-BD59-A6C34878D82A}">
                    <a16:rowId xmlns:a16="http://schemas.microsoft.com/office/drawing/2014/main" val="1288415554"/>
                  </a:ext>
                </a:extLst>
              </a:tr>
              <a:tr h="293444">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extLst>
                  <a:ext uri="{0D108BD9-81ED-4DB2-BD59-A6C34878D82A}">
                    <a16:rowId xmlns:a16="http://schemas.microsoft.com/office/drawing/2014/main" val="10002"/>
                  </a:ext>
                </a:extLst>
              </a:tr>
              <a:tr h="293444">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extLst>
                  <a:ext uri="{0D108BD9-81ED-4DB2-BD59-A6C34878D82A}">
                    <a16:rowId xmlns:a16="http://schemas.microsoft.com/office/drawing/2014/main" val="10003"/>
                  </a:ext>
                </a:extLst>
              </a:tr>
              <a:tr h="293444">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extLst>
                  <a:ext uri="{0D108BD9-81ED-4DB2-BD59-A6C34878D82A}">
                    <a16:rowId xmlns:a16="http://schemas.microsoft.com/office/drawing/2014/main" val="10004"/>
                  </a:ext>
                </a:extLst>
              </a:tr>
              <a:tr h="293444">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extLst>
                  <a:ext uri="{0D108BD9-81ED-4DB2-BD59-A6C34878D82A}">
                    <a16:rowId xmlns:a16="http://schemas.microsoft.com/office/drawing/2014/main" val="10005"/>
                  </a:ext>
                </a:extLst>
              </a:tr>
              <a:tr h="293444">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extLst>
                  <a:ext uri="{0D108BD9-81ED-4DB2-BD59-A6C34878D82A}">
                    <a16:rowId xmlns:a16="http://schemas.microsoft.com/office/drawing/2014/main" val="10006"/>
                  </a:ext>
                </a:extLst>
              </a:tr>
              <a:tr h="293444">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extLst>
                  <a:ext uri="{0D108BD9-81ED-4DB2-BD59-A6C34878D82A}">
                    <a16:rowId xmlns:a16="http://schemas.microsoft.com/office/drawing/2014/main" val="10007"/>
                  </a:ext>
                </a:extLst>
              </a:tr>
              <a:tr h="293444">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extLst>
                  <a:ext uri="{0D108BD9-81ED-4DB2-BD59-A6C34878D82A}">
                    <a16:rowId xmlns:a16="http://schemas.microsoft.com/office/drawing/2014/main" val="10008"/>
                  </a:ext>
                </a:extLst>
              </a:tr>
              <a:tr h="293444">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extLst>
                  <a:ext uri="{0D108BD9-81ED-4DB2-BD59-A6C34878D82A}">
                    <a16:rowId xmlns:a16="http://schemas.microsoft.com/office/drawing/2014/main" val="10009"/>
                  </a:ext>
                </a:extLst>
              </a:tr>
              <a:tr h="293444">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extLst>
                  <a:ext uri="{0D108BD9-81ED-4DB2-BD59-A6C34878D82A}">
                    <a16:rowId xmlns:a16="http://schemas.microsoft.com/office/drawing/2014/main" val="10010"/>
                  </a:ext>
                </a:extLst>
              </a:tr>
              <a:tr h="293444">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extLst>
                  <a:ext uri="{0D108BD9-81ED-4DB2-BD59-A6C34878D82A}">
                    <a16:rowId xmlns:a16="http://schemas.microsoft.com/office/drawing/2014/main" val="10011"/>
                  </a:ext>
                </a:extLst>
              </a:tr>
              <a:tr h="293444">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extLst>
                  <a:ext uri="{0D108BD9-81ED-4DB2-BD59-A6C34878D82A}">
                    <a16:rowId xmlns:a16="http://schemas.microsoft.com/office/drawing/2014/main" val="10012"/>
                  </a:ext>
                </a:extLst>
              </a:tr>
            </a:tbl>
          </a:graphicData>
        </a:graphic>
      </p:graphicFrame>
      <p:sp>
        <p:nvSpPr>
          <p:cNvPr id="3" name="Date Placeholder 2"/>
          <p:cNvSpPr>
            <a:spLocks noGrp="1"/>
          </p:cNvSpPr>
          <p:nvPr>
            <p:ph type="dt" sz="half" idx="10"/>
          </p:nvPr>
        </p:nvSpPr>
        <p:spPr/>
        <p:txBody>
          <a:bodyPr/>
          <a:lstStyle/>
          <a:p>
            <a:fld id="{79B8DED3-A3EE-40F6-BF5C-4608A21E219C}" type="datetime3">
              <a:rPr lang="en-US" smtClean="0"/>
              <a:t>5 June 2026</a:t>
            </a:fld>
            <a:endParaRPr lang="en-US" dirty="0"/>
          </a:p>
        </p:txBody>
      </p:sp>
      <p:sp>
        <p:nvSpPr>
          <p:cNvPr id="8" name="Footer Placeholder 4"/>
          <p:cNvSpPr>
            <a:spLocks noGrp="1"/>
          </p:cNvSpPr>
          <p:nvPr>
            <p:ph type="ftr" sz="quarter" idx="11"/>
          </p:nvPr>
        </p:nvSpPr>
        <p:spPr>
          <a:xfrm>
            <a:off x="3028950" y="4767264"/>
            <a:ext cx="3086100" cy="273844"/>
          </a:xfrm>
        </p:spPr>
        <p:txBody>
          <a:bodyPr/>
          <a:lstStyle/>
          <a:p>
            <a:r>
              <a:rPr lang="en-US" dirty="0"/>
              <a:t>CYB23IN101 REVIEW - I</a:t>
            </a:r>
          </a:p>
        </p:txBody>
      </p:sp>
    </p:spTree>
    <p:extLst>
      <p:ext uri="{BB962C8B-B14F-4D97-AF65-F5344CB8AC3E}">
        <p14:creationId xmlns:p14="http://schemas.microsoft.com/office/powerpoint/2010/main" val="1174085072"/>
      </p:ext>
    </p:extLst>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D57F1E4F-1CFF-5643-939E-217C01CDF565}" type="slidenum">
              <a:rPr lang="en-US" smtClean="0"/>
              <a:t>6</a:t>
            </a:fld>
            <a:endParaRPr lang="en-US" dirty="0"/>
          </a:p>
        </p:txBody>
      </p:sp>
      <p:sp>
        <p:nvSpPr>
          <p:cNvPr id="10" name="Title 1"/>
          <p:cNvSpPr>
            <a:spLocks noGrp="1"/>
          </p:cNvSpPr>
          <p:nvPr>
            <p:ph type="title"/>
          </p:nvPr>
        </p:nvSpPr>
        <p:spPr>
          <a:xfrm>
            <a:off x="150125" y="112594"/>
            <a:ext cx="8643839" cy="433523"/>
          </a:xfrm>
        </p:spPr>
        <p:txBody>
          <a:bodyPr>
            <a:noAutofit/>
          </a:bodyPr>
          <a:lstStyle/>
          <a:p>
            <a:pPr algn="ctr">
              <a:lnSpc>
                <a:spcPct val="107000"/>
              </a:lnSpc>
              <a:spcBef>
                <a:spcPts val="0"/>
              </a:spcBef>
              <a:spcAft>
                <a:spcPts val="450"/>
              </a:spcAft>
            </a:pPr>
            <a:r>
              <a:rPr lang="en-US" sz="2400" b="1" dirty="0">
                <a:solidFill>
                  <a:srgbClr val="A50021"/>
                </a:solidFill>
                <a:latin typeface="Times New Roman" panose="02020603050405020304" pitchFamily="18" charset="0"/>
                <a:cs typeface="Times New Roman" panose="02020603050405020304" pitchFamily="18" charset="0"/>
              </a:rPr>
              <a:t>REVIEW OF EXISTING SYSTEM </a:t>
            </a:r>
            <a:r>
              <a:rPr lang="en-US" sz="1800" b="1" dirty="0">
                <a:solidFill>
                  <a:srgbClr val="A50021"/>
                </a:solidFill>
                <a:latin typeface="Times New Roman" panose="02020603050405020304" pitchFamily="18" charset="0"/>
                <a:cs typeface="Times New Roman" panose="02020603050405020304" pitchFamily="18" charset="0"/>
              </a:rPr>
              <a:t>(S/W/H/W PRODUCTS, TOOLS) </a:t>
            </a:r>
          </a:p>
        </p:txBody>
      </p:sp>
      <p:graphicFrame>
        <p:nvGraphicFramePr>
          <p:cNvPr id="2" name="Table 2">
            <a:extLst>
              <a:ext uri="{FF2B5EF4-FFF2-40B4-BE49-F238E27FC236}">
                <a16:creationId xmlns:a16="http://schemas.microsoft.com/office/drawing/2014/main" id="{111D3F43-164F-C0DE-29C1-B22C76F7C651}"/>
              </a:ext>
            </a:extLst>
          </p:cNvPr>
          <p:cNvGraphicFramePr>
            <a:graphicFrameLocks noGrp="1"/>
          </p:cNvGraphicFramePr>
          <p:nvPr>
            <p:extLst>
              <p:ext uri="{D42A27DB-BD31-4B8C-83A1-F6EECF244321}">
                <p14:modId xmlns:p14="http://schemas.microsoft.com/office/powerpoint/2010/main" val="3922265845"/>
              </p:ext>
            </p:extLst>
          </p:nvPr>
        </p:nvGraphicFramePr>
        <p:xfrm>
          <a:off x="147762" y="634087"/>
          <a:ext cx="8802621" cy="4361433"/>
        </p:xfrm>
        <a:graphic>
          <a:graphicData uri="http://schemas.openxmlformats.org/drawingml/2006/table">
            <a:tbl>
              <a:tblPr firstRow="1" bandRow="1">
                <a:tableStyleId>{5940675A-B579-460E-94D1-54222C63F5DA}</a:tableStyleId>
              </a:tblPr>
              <a:tblGrid>
                <a:gridCol w="1053242">
                  <a:extLst>
                    <a:ext uri="{9D8B030D-6E8A-4147-A177-3AD203B41FA5}">
                      <a16:colId xmlns:a16="http://schemas.microsoft.com/office/drawing/2014/main" val="3245450958"/>
                    </a:ext>
                  </a:extLst>
                </a:gridCol>
                <a:gridCol w="1165701">
                  <a:extLst>
                    <a:ext uri="{9D8B030D-6E8A-4147-A177-3AD203B41FA5}">
                      <a16:colId xmlns:a16="http://schemas.microsoft.com/office/drawing/2014/main" val="3818927860"/>
                    </a:ext>
                  </a:extLst>
                </a:gridCol>
                <a:gridCol w="1475232">
                  <a:extLst>
                    <a:ext uri="{9D8B030D-6E8A-4147-A177-3AD203B41FA5}">
                      <a16:colId xmlns:a16="http://schemas.microsoft.com/office/drawing/2014/main" val="1974754508"/>
                    </a:ext>
                  </a:extLst>
                </a:gridCol>
                <a:gridCol w="1501404">
                  <a:extLst>
                    <a:ext uri="{9D8B030D-6E8A-4147-A177-3AD203B41FA5}">
                      <a16:colId xmlns:a16="http://schemas.microsoft.com/office/drawing/2014/main" val="1235881472"/>
                    </a:ext>
                  </a:extLst>
                </a:gridCol>
                <a:gridCol w="2308147">
                  <a:extLst>
                    <a:ext uri="{9D8B030D-6E8A-4147-A177-3AD203B41FA5}">
                      <a16:colId xmlns:a16="http://schemas.microsoft.com/office/drawing/2014/main" val="20004"/>
                    </a:ext>
                  </a:extLst>
                </a:gridCol>
                <a:gridCol w="1298895">
                  <a:extLst>
                    <a:ext uri="{9D8B030D-6E8A-4147-A177-3AD203B41FA5}">
                      <a16:colId xmlns:a16="http://schemas.microsoft.com/office/drawing/2014/main" val="3928919045"/>
                    </a:ext>
                  </a:extLst>
                </a:gridCol>
              </a:tblGrid>
              <a:tr h="840105">
                <a:tc>
                  <a:txBody>
                    <a:bodyPr/>
                    <a:lstStyle/>
                    <a:p>
                      <a:pPr algn="ctr"/>
                      <a:r>
                        <a:rPr lang="en-IN" sz="1000" b="1" dirty="0">
                          <a:latin typeface="Times New Roman" pitchFamily="18" charset="0"/>
                          <a:cs typeface="Times New Roman" pitchFamily="18" charset="0"/>
                        </a:rPr>
                        <a:t>Author</a:t>
                      </a:r>
                      <a:r>
                        <a:rPr lang="en-IN" sz="1000" b="1" baseline="0" dirty="0">
                          <a:latin typeface="Times New Roman" pitchFamily="18" charset="0"/>
                          <a:cs typeface="Times New Roman" pitchFamily="18" charset="0"/>
                        </a:rPr>
                        <a:t> /Developer </a:t>
                      </a:r>
                    </a:p>
                    <a:p>
                      <a:pPr algn="ctr"/>
                      <a:r>
                        <a:rPr lang="en-IN" sz="1000" b="1" baseline="0" dirty="0">
                          <a:latin typeface="Times New Roman" pitchFamily="18" charset="0"/>
                          <a:cs typeface="Times New Roman" pitchFamily="18" charset="0"/>
                        </a:rPr>
                        <a:t>Year </a:t>
                      </a:r>
                      <a:endParaRPr lang="en-IN" sz="1000" b="1" dirty="0">
                        <a:latin typeface="Times New Roman" pitchFamily="18" charset="0"/>
                        <a:cs typeface="Times New Roman" pitchFamily="18" charset="0"/>
                      </a:endParaRPr>
                    </a:p>
                    <a:p>
                      <a:pPr algn="ctr"/>
                      <a:r>
                        <a:rPr lang="en-IN" sz="1000" b="1" dirty="0">
                          <a:latin typeface="Times New Roman" pitchFamily="18" charset="0"/>
                          <a:cs typeface="Times New Roman" pitchFamily="18" charset="0"/>
                        </a:rPr>
                        <a:t>(chronological order)</a:t>
                      </a:r>
                      <a:endParaRPr lang="en-IN" sz="1000" b="1" dirty="0">
                        <a:latin typeface="Times New Roman" pitchFamily="18" charset="0"/>
                        <a:ea typeface="Cambria" panose="02040503050406030204" pitchFamily="18" charset="0"/>
                        <a:cs typeface="Times New Roman" pitchFamily="18" charset="0"/>
                      </a:endParaRPr>
                    </a:p>
                  </a:txBody>
                  <a:tcPr marT="34290" marB="34290">
                    <a:solidFill>
                      <a:schemeClr val="bg2"/>
                    </a:solidFill>
                  </a:tcPr>
                </a:tc>
                <a:tc>
                  <a:txBody>
                    <a:bodyPr/>
                    <a:lstStyle/>
                    <a:p>
                      <a:pPr algn="ctr"/>
                      <a:r>
                        <a:rPr lang="en-US" sz="1000" b="1" dirty="0">
                          <a:latin typeface="Times New Roman" pitchFamily="18" charset="0"/>
                          <a:cs typeface="Times New Roman" pitchFamily="18" charset="0"/>
                        </a:rPr>
                        <a:t>Methodology/</a:t>
                      </a:r>
                    </a:p>
                    <a:p>
                      <a:pPr algn="ctr"/>
                      <a:r>
                        <a:rPr lang="en-US" sz="1000" b="1" dirty="0">
                          <a:latin typeface="Times New Roman" pitchFamily="18" charset="0"/>
                          <a:cs typeface="Times New Roman" pitchFamily="18" charset="0"/>
                        </a:rPr>
                        <a:t>Materials and Methods</a:t>
                      </a:r>
                      <a:endParaRPr lang="en-IN" sz="1000" b="1" dirty="0">
                        <a:latin typeface="Times New Roman" pitchFamily="18" charset="0"/>
                        <a:ea typeface="Cambria" panose="02040503050406030204" pitchFamily="18" charset="0"/>
                        <a:cs typeface="Times New Roman" pitchFamily="18" charset="0"/>
                      </a:endParaRPr>
                    </a:p>
                  </a:txBody>
                  <a:tcPr marT="34290" marB="34290">
                    <a:solidFill>
                      <a:schemeClr val="bg2"/>
                    </a:solidFill>
                  </a:tcPr>
                </a:tc>
                <a:tc>
                  <a:txBody>
                    <a:bodyPr/>
                    <a:lstStyle/>
                    <a:p>
                      <a:pPr algn="ctr"/>
                      <a:r>
                        <a:rPr lang="en-IN" sz="1000" b="1" dirty="0">
                          <a:latin typeface="Times New Roman" pitchFamily="18" charset="0"/>
                          <a:ea typeface="Cambria" panose="02040503050406030204" pitchFamily="18" charset="0"/>
                          <a:cs typeface="Times New Roman" pitchFamily="18" charset="0"/>
                        </a:rPr>
                        <a:t>Datasets</a:t>
                      </a:r>
                    </a:p>
                  </a:txBody>
                  <a:tcPr marT="34290" marB="34290">
                    <a:solidFill>
                      <a:schemeClr val="bg2"/>
                    </a:solidFill>
                  </a:tcPr>
                </a:tc>
                <a:tc>
                  <a:txBody>
                    <a:bodyPr/>
                    <a:lstStyle/>
                    <a:p>
                      <a:pPr algn="ctr"/>
                      <a:r>
                        <a:rPr lang="en-US" sz="1000" b="1" dirty="0">
                          <a:latin typeface="Times New Roman" pitchFamily="18" charset="0"/>
                          <a:cs typeface="Times New Roman" pitchFamily="18" charset="0"/>
                        </a:rPr>
                        <a:t>Results/Outcome </a:t>
                      </a:r>
                      <a:endParaRPr lang="en-IN" sz="1000" b="1" dirty="0">
                        <a:latin typeface="Times New Roman" pitchFamily="18" charset="0"/>
                        <a:ea typeface="Cambria" panose="02040503050406030204" pitchFamily="18" charset="0"/>
                        <a:cs typeface="Times New Roman" pitchFamily="18" charset="0"/>
                      </a:endParaRPr>
                    </a:p>
                  </a:txBody>
                  <a:tcPr marT="34290" marB="34290">
                    <a:solidFill>
                      <a:schemeClr val="bg2"/>
                    </a:solidFill>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1000" b="1" dirty="0">
                          <a:latin typeface="Times New Roman" pitchFamily="18" charset="0"/>
                          <a:cs typeface="Times New Roman" pitchFamily="18" charset="0"/>
                        </a:rPr>
                        <a:t>Advantage /</a:t>
                      </a:r>
                      <a:r>
                        <a:rPr lang="en-US" sz="1000" b="1" baseline="0" dirty="0">
                          <a:latin typeface="Times New Roman" pitchFamily="18" charset="0"/>
                          <a:cs typeface="Times New Roman" pitchFamily="18" charset="0"/>
                        </a:rPr>
                        <a:t> </a:t>
                      </a:r>
                      <a:r>
                        <a:rPr lang="en-US" sz="1000" b="1" dirty="0">
                          <a:latin typeface="Times New Roman" pitchFamily="18" charset="0"/>
                          <a:cs typeface="Times New Roman" pitchFamily="18" charset="0"/>
                        </a:rPr>
                        <a:t>Key findings from the work</a:t>
                      </a:r>
                      <a:endParaRPr lang="en-IN" sz="1000" b="1" dirty="0">
                        <a:latin typeface="Times New Roman" pitchFamily="18" charset="0"/>
                        <a:ea typeface="Cambria" panose="02040503050406030204" pitchFamily="18" charset="0"/>
                        <a:cs typeface="Times New Roman" pitchFamily="18" charset="0"/>
                      </a:endParaRPr>
                    </a:p>
                    <a:p>
                      <a:pPr algn="ctr"/>
                      <a:endParaRPr lang="en-IN" sz="1000" b="1" dirty="0">
                        <a:latin typeface="Times New Roman" pitchFamily="18" charset="0"/>
                        <a:ea typeface="Cambria" panose="02040503050406030204" pitchFamily="18" charset="0"/>
                        <a:cs typeface="Times New Roman" pitchFamily="18" charset="0"/>
                      </a:endParaRPr>
                    </a:p>
                  </a:txBody>
                  <a:tcPr marT="34290" marB="34290">
                    <a:solidFill>
                      <a:schemeClr val="bg2"/>
                    </a:solidFill>
                  </a:tcPr>
                </a:tc>
                <a:tc>
                  <a:txBody>
                    <a:bodyPr/>
                    <a:lstStyle/>
                    <a:p>
                      <a:pPr algn="ctr"/>
                      <a:r>
                        <a:rPr lang="en-US" sz="1000" b="1" dirty="0">
                          <a:latin typeface="Times New Roman" pitchFamily="18" charset="0"/>
                          <a:cs typeface="Times New Roman" pitchFamily="18" charset="0"/>
                        </a:rPr>
                        <a:t>Disadvantage/</a:t>
                      </a:r>
                      <a:r>
                        <a:rPr lang="en-US" sz="1000" b="1" baseline="0" dirty="0">
                          <a:latin typeface="Times New Roman" pitchFamily="18" charset="0"/>
                          <a:cs typeface="Times New Roman" pitchFamily="18" charset="0"/>
                        </a:rPr>
                        <a:t> GAP Identified from the work</a:t>
                      </a:r>
                      <a:endParaRPr lang="en-IN" sz="1000" b="1" dirty="0">
                        <a:latin typeface="Times New Roman" pitchFamily="18" charset="0"/>
                        <a:ea typeface="Cambria" panose="02040503050406030204" pitchFamily="18" charset="0"/>
                        <a:cs typeface="Times New Roman" pitchFamily="18" charset="0"/>
                      </a:endParaRPr>
                    </a:p>
                  </a:txBody>
                  <a:tcPr marT="34290" marB="34290">
                    <a:solidFill>
                      <a:schemeClr val="bg2"/>
                    </a:solidFill>
                  </a:tcPr>
                </a:tc>
                <a:extLst>
                  <a:ext uri="{0D108BD9-81ED-4DB2-BD59-A6C34878D82A}">
                    <a16:rowId xmlns:a16="http://schemas.microsoft.com/office/drawing/2014/main" val="388308832"/>
                  </a:ext>
                </a:extLst>
              </a:tr>
              <a:tr h="293444">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a:p>
                  </a:txBody>
                  <a:tcPr marT="34290" marB="34290"/>
                </a:tc>
                <a:tc>
                  <a:txBody>
                    <a:bodyPr/>
                    <a:lstStyle/>
                    <a:p>
                      <a:endParaRPr lang="en-IN" sz="1000"/>
                    </a:p>
                  </a:txBody>
                  <a:tcPr marT="34290" marB="34290"/>
                </a:tc>
                <a:tc>
                  <a:txBody>
                    <a:bodyPr/>
                    <a:lstStyle/>
                    <a:p>
                      <a:endParaRPr lang="en-IN" sz="1000" dirty="0"/>
                    </a:p>
                  </a:txBody>
                  <a:tcPr marT="34290" marB="34290"/>
                </a:tc>
                <a:tc>
                  <a:txBody>
                    <a:bodyPr/>
                    <a:lstStyle/>
                    <a:p>
                      <a:endParaRPr lang="en-IN" sz="1000" dirty="0"/>
                    </a:p>
                  </a:txBody>
                  <a:tcPr marT="34290" marB="34290"/>
                </a:tc>
                <a:extLst>
                  <a:ext uri="{0D108BD9-81ED-4DB2-BD59-A6C34878D82A}">
                    <a16:rowId xmlns:a16="http://schemas.microsoft.com/office/drawing/2014/main" val="1288415554"/>
                  </a:ext>
                </a:extLst>
              </a:tr>
              <a:tr h="293444">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extLst>
                  <a:ext uri="{0D108BD9-81ED-4DB2-BD59-A6C34878D82A}">
                    <a16:rowId xmlns:a16="http://schemas.microsoft.com/office/drawing/2014/main" val="10002"/>
                  </a:ext>
                </a:extLst>
              </a:tr>
              <a:tr h="293444">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extLst>
                  <a:ext uri="{0D108BD9-81ED-4DB2-BD59-A6C34878D82A}">
                    <a16:rowId xmlns:a16="http://schemas.microsoft.com/office/drawing/2014/main" val="10003"/>
                  </a:ext>
                </a:extLst>
              </a:tr>
              <a:tr h="293444">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extLst>
                  <a:ext uri="{0D108BD9-81ED-4DB2-BD59-A6C34878D82A}">
                    <a16:rowId xmlns:a16="http://schemas.microsoft.com/office/drawing/2014/main" val="10004"/>
                  </a:ext>
                </a:extLst>
              </a:tr>
              <a:tr h="293444">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extLst>
                  <a:ext uri="{0D108BD9-81ED-4DB2-BD59-A6C34878D82A}">
                    <a16:rowId xmlns:a16="http://schemas.microsoft.com/office/drawing/2014/main" val="10005"/>
                  </a:ext>
                </a:extLst>
              </a:tr>
              <a:tr h="293444">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extLst>
                  <a:ext uri="{0D108BD9-81ED-4DB2-BD59-A6C34878D82A}">
                    <a16:rowId xmlns:a16="http://schemas.microsoft.com/office/drawing/2014/main" val="10006"/>
                  </a:ext>
                </a:extLst>
              </a:tr>
              <a:tr h="293444">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extLst>
                  <a:ext uri="{0D108BD9-81ED-4DB2-BD59-A6C34878D82A}">
                    <a16:rowId xmlns:a16="http://schemas.microsoft.com/office/drawing/2014/main" val="10007"/>
                  </a:ext>
                </a:extLst>
              </a:tr>
              <a:tr h="293444">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extLst>
                  <a:ext uri="{0D108BD9-81ED-4DB2-BD59-A6C34878D82A}">
                    <a16:rowId xmlns:a16="http://schemas.microsoft.com/office/drawing/2014/main" val="10008"/>
                  </a:ext>
                </a:extLst>
              </a:tr>
              <a:tr h="293444">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extLst>
                  <a:ext uri="{0D108BD9-81ED-4DB2-BD59-A6C34878D82A}">
                    <a16:rowId xmlns:a16="http://schemas.microsoft.com/office/drawing/2014/main" val="10009"/>
                  </a:ext>
                </a:extLst>
              </a:tr>
              <a:tr h="293444">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extLst>
                  <a:ext uri="{0D108BD9-81ED-4DB2-BD59-A6C34878D82A}">
                    <a16:rowId xmlns:a16="http://schemas.microsoft.com/office/drawing/2014/main" val="10010"/>
                  </a:ext>
                </a:extLst>
              </a:tr>
              <a:tr h="293444">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extLst>
                  <a:ext uri="{0D108BD9-81ED-4DB2-BD59-A6C34878D82A}">
                    <a16:rowId xmlns:a16="http://schemas.microsoft.com/office/drawing/2014/main" val="10011"/>
                  </a:ext>
                </a:extLst>
              </a:tr>
              <a:tr h="293444">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tc>
                  <a:txBody>
                    <a:bodyPr/>
                    <a:lstStyle/>
                    <a:p>
                      <a:endParaRPr lang="en-IN" sz="1000" dirty="0"/>
                    </a:p>
                  </a:txBody>
                  <a:tcPr marT="34290" marB="34290"/>
                </a:tc>
                <a:extLst>
                  <a:ext uri="{0D108BD9-81ED-4DB2-BD59-A6C34878D82A}">
                    <a16:rowId xmlns:a16="http://schemas.microsoft.com/office/drawing/2014/main" val="10012"/>
                  </a:ext>
                </a:extLst>
              </a:tr>
            </a:tbl>
          </a:graphicData>
        </a:graphic>
      </p:graphicFrame>
      <p:sp>
        <p:nvSpPr>
          <p:cNvPr id="3" name="Date Placeholder 2"/>
          <p:cNvSpPr>
            <a:spLocks noGrp="1"/>
          </p:cNvSpPr>
          <p:nvPr>
            <p:ph type="dt" sz="half" idx="10"/>
          </p:nvPr>
        </p:nvSpPr>
        <p:spPr/>
        <p:txBody>
          <a:bodyPr/>
          <a:lstStyle/>
          <a:p>
            <a:fld id="{A677CD66-4046-4467-BD12-ED7F3687165D}" type="datetime3">
              <a:rPr lang="en-US" smtClean="0"/>
              <a:t>5 June 2026</a:t>
            </a:fld>
            <a:endParaRPr lang="en-US" dirty="0"/>
          </a:p>
        </p:txBody>
      </p:sp>
      <p:sp>
        <p:nvSpPr>
          <p:cNvPr id="8" name="Footer Placeholder 4"/>
          <p:cNvSpPr>
            <a:spLocks noGrp="1"/>
          </p:cNvSpPr>
          <p:nvPr>
            <p:ph type="ftr" sz="quarter" idx="11"/>
          </p:nvPr>
        </p:nvSpPr>
        <p:spPr>
          <a:xfrm>
            <a:off x="3028950" y="4767264"/>
            <a:ext cx="3086100" cy="273844"/>
          </a:xfrm>
        </p:spPr>
        <p:txBody>
          <a:bodyPr/>
          <a:lstStyle/>
          <a:p>
            <a:r>
              <a:rPr lang="en-US" dirty="0"/>
              <a:t>CYB23IN101 REVIEW - I</a:t>
            </a:r>
          </a:p>
        </p:txBody>
      </p:sp>
    </p:spTree>
    <p:extLst>
      <p:ext uri="{BB962C8B-B14F-4D97-AF65-F5344CB8AC3E}">
        <p14:creationId xmlns:p14="http://schemas.microsoft.com/office/powerpoint/2010/main" val="1314310089"/>
      </p:ext>
    </p:extLst>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D57F1E4F-1CFF-5643-939E-217C01CDF565}" type="slidenum">
              <a:rPr lang="en-US" smtClean="0"/>
              <a:t>7</a:t>
            </a:fld>
            <a:endParaRPr lang="en-US" dirty="0"/>
          </a:p>
        </p:txBody>
      </p:sp>
      <p:sp>
        <p:nvSpPr>
          <p:cNvPr id="10" name="Title 1"/>
          <p:cNvSpPr>
            <a:spLocks noGrp="1"/>
          </p:cNvSpPr>
          <p:nvPr>
            <p:ph type="title"/>
          </p:nvPr>
        </p:nvSpPr>
        <p:spPr>
          <a:xfrm>
            <a:off x="628650" y="102392"/>
            <a:ext cx="7661438" cy="433523"/>
          </a:xfrm>
        </p:spPr>
        <p:txBody>
          <a:bodyPr>
            <a:noAutofit/>
          </a:bodyPr>
          <a:lstStyle/>
          <a:p>
            <a:pPr>
              <a:lnSpc>
                <a:spcPct val="107000"/>
              </a:lnSpc>
              <a:spcBef>
                <a:spcPts val="0"/>
              </a:spcBef>
              <a:spcAft>
                <a:spcPts val="450"/>
              </a:spcAft>
            </a:pPr>
            <a:r>
              <a:rPr lang="en-US" sz="2800" b="1" dirty="0">
                <a:solidFill>
                  <a:srgbClr val="A50021"/>
                </a:solidFill>
                <a:latin typeface="Times New Roman" panose="02020603050405020304" pitchFamily="18" charset="0"/>
                <a:cs typeface="Times New Roman" panose="02020603050405020304" pitchFamily="18" charset="0"/>
              </a:rPr>
              <a:t>PROBLEM STATEMENT</a:t>
            </a:r>
          </a:p>
        </p:txBody>
      </p:sp>
      <p:sp>
        <p:nvSpPr>
          <p:cNvPr id="2" name="TextBox 1"/>
          <p:cNvSpPr txBox="1"/>
          <p:nvPr/>
        </p:nvSpPr>
        <p:spPr>
          <a:xfrm>
            <a:off x="628651" y="656869"/>
            <a:ext cx="8337550" cy="4247317"/>
          </a:xfrm>
          <a:prstGeom prst="rect">
            <a:avLst/>
          </a:prstGeom>
          <a:noFill/>
        </p:spPr>
        <p:txBody>
          <a:bodyPr wrap="square" rtlCol="0">
            <a:spAutoFit/>
          </a:bodyPr>
          <a:lstStyle/>
          <a:p>
            <a:pPr algn="just"/>
            <a:r>
              <a:rPr lang="en-IN" sz="1400" dirty="0">
                <a:latin typeface="Times New Roman" panose="02020603050405020304" pitchFamily="18" charset="0"/>
                <a:cs typeface="Times New Roman" panose="02020603050405020304" pitchFamily="18" charset="0"/>
              </a:rPr>
              <a:t>Traditional nursing education relies on passive learning methods (lectures, static PDFs, paper-based tests), leading to low student engagement, limited real-time assessment, and no personalized feedback — especially in clinical skill-building scenarios.</a:t>
            </a:r>
          </a:p>
          <a:p>
            <a:pPr algn="just"/>
            <a:r>
              <a:rPr lang="en-IN" sz="1400" dirty="0">
                <a:latin typeface="Times New Roman" panose="02020603050405020304" pitchFamily="18" charset="0"/>
                <a:cs typeface="Times New Roman" panose="02020603050405020304" pitchFamily="18" charset="0"/>
                <a:sym typeface="Wingdings" panose="05000000000000000000" pitchFamily="2" charset="2"/>
              </a:rPr>
              <a:t></a:t>
            </a:r>
            <a:r>
              <a:rPr lang="en-IN" sz="1400" dirty="0"/>
              <a:t>Lack of engagement</a:t>
            </a:r>
          </a:p>
          <a:p>
            <a:pPr algn="just"/>
            <a:r>
              <a:rPr lang="en-IN" sz="1400" dirty="0">
                <a:latin typeface="Times New Roman" pitchFamily="18" charset="0"/>
                <a:cs typeface="Times New Roman" pitchFamily="18" charset="0"/>
                <a:sym typeface="Wingdings" panose="05000000000000000000" pitchFamily="2" charset="2"/>
              </a:rPr>
              <a:t></a:t>
            </a:r>
            <a:r>
              <a:rPr lang="en-IN" sz="1400" dirty="0"/>
              <a:t>No competitive assessment</a:t>
            </a:r>
          </a:p>
          <a:p>
            <a:pPr algn="just"/>
            <a:r>
              <a:rPr lang="en-GB" sz="1400" dirty="0">
                <a:latin typeface="Times New Roman" pitchFamily="18" charset="0"/>
                <a:cs typeface="Times New Roman" pitchFamily="18" charset="0"/>
                <a:sym typeface="Wingdings" panose="05000000000000000000" pitchFamily="2" charset="2"/>
              </a:rPr>
              <a:t></a:t>
            </a:r>
            <a:r>
              <a:rPr lang="en-IN" sz="1400" dirty="0"/>
              <a:t>Limited question formats</a:t>
            </a:r>
          </a:p>
          <a:p>
            <a:pPr algn="just"/>
            <a:r>
              <a:rPr lang="en-IN" sz="1400" dirty="0">
                <a:latin typeface="Times New Roman" pitchFamily="18" charset="0"/>
                <a:cs typeface="Times New Roman" pitchFamily="18" charset="0"/>
                <a:sym typeface="Wingdings" panose="05000000000000000000" pitchFamily="2" charset="2"/>
              </a:rPr>
              <a:t></a:t>
            </a:r>
            <a:r>
              <a:rPr lang="en-IN" sz="1400" dirty="0"/>
              <a:t>Poor accessibility</a:t>
            </a:r>
          </a:p>
          <a:p>
            <a:pPr algn="just"/>
            <a:endParaRPr lang="en-IN" sz="1400" dirty="0">
              <a:latin typeface="Times New Roman" pitchFamily="18" charset="0"/>
              <a:cs typeface="Times New Roman" pitchFamily="18" charset="0"/>
            </a:endParaRPr>
          </a:p>
          <a:p>
            <a:pPr algn="just"/>
            <a:r>
              <a:rPr lang="en-IN" sz="1400" dirty="0">
                <a:latin typeface="Times New Roman" pitchFamily="18" charset="0"/>
                <a:cs typeface="Times New Roman" pitchFamily="18" charset="0"/>
              </a:rPr>
              <a:t>A full-stack web platform with </a:t>
            </a:r>
            <a:r>
              <a:rPr lang="en-IN" sz="1400" b="1" dirty="0">
                <a:latin typeface="Times New Roman" panose="02020603050405020304" pitchFamily="18" charset="0"/>
                <a:cs typeface="Times New Roman" panose="02020603050405020304" pitchFamily="18" charset="0"/>
              </a:rPr>
              <a:t>gamified learning</a:t>
            </a:r>
            <a:r>
              <a:rPr lang="en-IN" sz="1400" dirty="0">
                <a:latin typeface="Times New Roman" panose="02020603050405020304" pitchFamily="18" charset="0"/>
                <a:cs typeface="Times New Roman" panose="02020603050405020304" pitchFamily="18" charset="0"/>
              </a:rPr>
              <a:t> (XP, ranks, badges), </a:t>
            </a:r>
            <a:r>
              <a:rPr lang="en-IN" sz="1400" b="1" dirty="0">
                <a:latin typeface="Times New Roman" panose="02020603050405020304" pitchFamily="18" charset="0"/>
                <a:cs typeface="Times New Roman" panose="02020603050405020304" pitchFamily="18" charset="0"/>
              </a:rPr>
              <a:t>real-time multiplayer quizzes</a:t>
            </a:r>
            <a:r>
              <a:rPr lang="en-IN" sz="1400" dirty="0">
                <a:latin typeface="Times New Roman" panose="02020603050405020304" pitchFamily="18" charset="0"/>
                <a:cs typeface="Times New Roman" panose="02020603050405020304" pitchFamily="18" charset="0"/>
              </a:rPr>
              <a:t> via </a:t>
            </a:r>
            <a:r>
              <a:rPr lang="en-IN" sz="1400" dirty="0" err="1">
                <a:latin typeface="Times New Roman" panose="02020603050405020304" pitchFamily="18" charset="0"/>
                <a:cs typeface="Times New Roman" panose="02020603050405020304" pitchFamily="18" charset="0"/>
              </a:rPr>
              <a:t>WebSockets</a:t>
            </a:r>
            <a:r>
              <a:rPr lang="en-IN" sz="1400" dirty="0">
                <a:latin typeface="Times New Roman" panose="02020603050405020304" pitchFamily="18" charset="0"/>
                <a:cs typeface="Times New Roman" panose="02020603050405020304" pitchFamily="18" charset="0"/>
              </a:rPr>
              <a:t>, </a:t>
            </a:r>
            <a:r>
              <a:rPr lang="en-IN" sz="1400" b="1" dirty="0">
                <a:latin typeface="Times New Roman" panose="02020603050405020304" pitchFamily="18" charset="0"/>
                <a:cs typeface="Times New Roman" panose="02020603050405020304" pitchFamily="18" charset="0"/>
              </a:rPr>
              <a:t>6 multimedia question types</a:t>
            </a:r>
            <a:r>
              <a:rPr lang="en-IN" sz="1400" dirty="0">
                <a:latin typeface="Times New Roman" panose="02020603050405020304" pitchFamily="18" charset="0"/>
                <a:cs typeface="Times New Roman" panose="02020603050405020304" pitchFamily="18" charset="0"/>
              </a:rPr>
              <a:t>, </a:t>
            </a:r>
            <a:r>
              <a:rPr lang="en-IN" sz="1400" b="1" dirty="0">
                <a:latin typeface="Times New Roman" panose="02020603050405020304" pitchFamily="18" charset="0"/>
                <a:cs typeface="Times New Roman" panose="02020603050405020304" pitchFamily="18" charset="0"/>
              </a:rPr>
              <a:t>role-based access</a:t>
            </a:r>
            <a:r>
              <a:rPr lang="en-IN" sz="1400" dirty="0">
                <a:latin typeface="Times New Roman" panose="02020603050405020304" pitchFamily="18" charset="0"/>
                <a:cs typeface="Times New Roman" panose="02020603050405020304" pitchFamily="18" charset="0"/>
              </a:rPr>
              <a:t> (Teacher/Student), and </a:t>
            </a:r>
            <a:r>
              <a:rPr lang="en-IN" sz="1400" b="1" dirty="0">
                <a:latin typeface="Times New Roman" panose="02020603050405020304" pitchFamily="18" charset="0"/>
                <a:cs typeface="Times New Roman" panose="02020603050405020304" pitchFamily="18" charset="0"/>
              </a:rPr>
              <a:t>modular curriculum management</a:t>
            </a:r>
            <a:r>
              <a:rPr lang="en-IN" sz="1400" dirty="0">
                <a:latin typeface="Times New Roman" panose="02020603050405020304" pitchFamily="18" charset="0"/>
                <a:cs typeface="Times New Roman" panose="02020603050405020304" pitchFamily="18" charset="0"/>
              </a:rPr>
              <a:t> — built with React 19, Node.js/Express 5, Socket.IO, and SQLite.</a:t>
            </a:r>
            <a:endParaRPr lang="en-GB" sz="1400" dirty="0">
              <a:latin typeface="Times New Roman" pitchFamily="18" charset="0"/>
              <a:cs typeface="Times New Roman" pitchFamily="18" charset="0"/>
            </a:endParaRPr>
          </a:p>
          <a:p>
            <a:pPr algn="just"/>
            <a:endParaRPr lang="en-GB" sz="1400" dirty="0">
              <a:latin typeface="Times New Roman" pitchFamily="18" charset="0"/>
              <a:cs typeface="Times New Roman" pitchFamily="18" charset="0"/>
            </a:endParaRPr>
          </a:p>
          <a:p>
            <a:pPr marL="285750" indent="-285750" algn="just">
              <a:buFont typeface="Arial" panose="020B0604020202020204" pitchFamily="34" charset="0"/>
              <a:buChar char="•"/>
            </a:pPr>
            <a:r>
              <a:rPr lang="en-GB" sz="1400" dirty="0">
                <a:latin typeface="Times New Roman" pitchFamily="18" charset="0"/>
                <a:cs typeface="Times New Roman" pitchFamily="18" charset="0"/>
              </a:rPr>
              <a:t>To create a Web App or an Website for Quiz platform which includes Nursing specific question modules that any Nursing Student can attend irrespective of their Syllabus. </a:t>
            </a:r>
          </a:p>
          <a:p>
            <a:pPr marL="285750" indent="-285750" algn="just">
              <a:buFont typeface="Arial" panose="020B0604020202020204" pitchFamily="34" charset="0"/>
              <a:buChar char="•"/>
            </a:pPr>
            <a:r>
              <a:rPr lang="en-GB" sz="1400" dirty="0">
                <a:latin typeface="Times New Roman" pitchFamily="18" charset="0"/>
                <a:cs typeface="Times New Roman" pitchFamily="18" charset="0"/>
              </a:rPr>
              <a:t>We’ve used </a:t>
            </a:r>
            <a:r>
              <a:rPr lang="en-GB" sz="1400" dirty="0" err="1">
                <a:latin typeface="Times New Roman" pitchFamily="18" charset="0"/>
                <a:cs typeface="Times New Roman" pitchFamily="18" charset="0"/>
              </a:rPr>
              <a:t>React+vite</a:t>
            </a:r>
            <a:r>
              <a:rPr lang="en-GB" sz="1400" dirty="0">
                <a:latin typeface="Times New Roman" pitchFamily="18" charset="0"/>
                <a:cs typeface="Times New Roman" pitchFamily="18" charset="0"/>
              </a:rPr>
              <a:t> and the middleware as Node+Express.js. RESTful API handles the routing, middleware routing, file uploads and DB operations.</a:t>
            </a:r>
          </a:p>
          <a:p>
            <a:pPr marL="285750" indent="-285750" algn="just">
              <a:buFont typeface="Arial" panose="020B0604020202020204" pitchFamily="34" charset="0"/>
              <a:buChar char="•"/>
            </a:pPr>
            <a:r>
              <a:rPr lang="en-GB" sz="1400" dirty="0">
                <a:latin typeface="Times New Roman" pitchFamily="18" charset="0"/>
                <a:cs typeface="Times New Roman" pitchFamily="18" charset="0"/>
              </a:rPr>
              <a:t>Using SQLite (better-</a:t>
            </a:r>
            <a:r>
              <a:rPr lang="en-GB" sz="1400" dirty="0" err="1">
                <a:latin typeface="Times New Roman" pitchFamily="18" charset="0"/>
                <a:cs typeface="Times New Roman" pitchFamily="18" charset="0"/>
              </a:rPr>
              <a:t>sqlite</a:t>
            </a:r>
            <a:r>
              <a:rPr lang="en-GB" sz="1400" dirty="0">
                <a:latin typeface="Times New Roman" pitchFamily="18" charset="0"/>
                <a:cs typeface="Times New Roman" pitchFamily="18" charset="0"/>
              </a:rPr>
              <a:t>) for serverless, lightweight use for Database.  </a:t>
            </a:r>
          </a:p>
          <a:p>
            <a:pPr marL="285750" indent="-285750" algn="just">
              <a:buFont typeface="Arial" panose="020B0604020202020204" pitchFamily="34" charset="0"/>
              <a:buChar char="•"/>
            </a:pPr>
            <a:r>
              <a:rPr lang="en-GB" sz="1400" dirty="0">
                <a:latin typeface="Times New Roman" pitchFamily="18" charset="0"/>
                <a:cs typeface="Times New Roman" pitchFamily="18" charset="0"/>
              </a:rPr>
              <a:t>Web Sockets </a:t>
            </a:r>
            <a:r>
              <a:rPr lang="en-US" sz="1400" dirty="0">
                <a:latin typeface="Times New Roman" pitchFamily="18" charset="0"/>
                <a:cs typeface="Times New Roman" pitchFamily="18" charset="0"/>
              </a:rPr>
              <a:t>to enable live, real-time </a:t>
            </a:r>
            <a:r>
              <a:rPr lang="en-US" sz="1400" dirty="0" err="1">
                <a:latin typeface="Times New Roman" pitchFamily="18" charset="0"/>
                <a:cs typeface="Times New Roman" pitchFamily="18" charset="0"/>
              </a:rPr>
              <a:t>multiplayerquiz</a:t>
            </a:r>
            <a:r>
              <a:rPr lang="en-US" sz="1400" dirty="0">
                <a:latin typeface="Times New Roman" pitchFamily="18" charset="0"/>
                <a:cs typeface="Times New Roman" pitchFamily="18" charset="0"/>
              </a:rPr>
              <a:t> sessions where a teacher hosts and students join via a game code.</a:t>
            </a:r>
            <a:endParaRPr lang="en-GB" sz="1400" dirty="0">
              <a:latin typeface="Times New Roman" pitchFamily="18" charset="0"/>
              <a:cs typeface="Times New Roman" pitchFamily="18" charset="0"/>
            </a:endParaRPr>
          </a:p>
        </p:txBody>
      </p:sp>
      <p:sp>
        <p:nvSpPr>
          <p:cNvPr id="3" name="Date Placeholder 2"/>
          <p:cNvSpPr>
            <a:spLocks noGrp="1"/>
          </p:cNvSpPr>
          <p:nvPr>
            <p:ph type="dt" sz="half" idx="10"/>
          </p:nvPr>
        </p:nvSpPr>
        <p:spPr/>
        <p:txBody>
          <a:bodyPr/>
          <a:lstStyle/>
          <a:p>
            <a:fld id="{5A880E69-CE3A-4D4E-8C11-95F4E85341CB}" type="datetime3">
              <a:rPr lang="en-US" smtClean="0"/>
              <a:t>5 June 2026</a:t>
            </a:fld>
            <a:endParaRPr lang="en-US" dirty="0"/>
          </a:p>
        </p:txBody>
      </p:sp>
      <p:sp>
        <p:nvSpPr>
          <p:cNvPr id="8" name="Footer Placeholder 4"/>
          <p:cNvSpPr>
            <a:spLocks noGrp="1"/>
          </p:cNvSpPr>
          <p:nvPr>
            <p:ph type="ftr" sz="quarter" idx="11"/>
          </p:nvPr>
        </p:nvSpPr>
        <p:spPr>
          <a:xfrm>
            <a:off x="3028950" y="4767264"/>
            <a:ext cx="3086100" cy="273844"/>
          </a:xfrm>
        </p:spPr>
        <p:txBody>
          <a:bodyPr/>
          <a:lstStyle/>
          <a:p>
            <a:r>
              <a:rPr lang="en-US" dirty="0"/>
              <a:t>CYB23IN101 REVIEW - I</a:t>
            </a:r>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3417" y="0"/>
            <a:ext cx="8651828" cy="994172"/>
          </a:xfrm>
        </p:spPr>
        <p:txBody>
          <a:bodyPr/>
          <a:lstStyle/>
          <a:p>
            <a:r>
              <a:rPr lang="en-US" sz="2800" b="1" dirty="0">
                <a:solidFill>
                  <a:srgbClr val="A50021"/>
                </a:solidFill>
                <a:latin typeface="Times New Roman" panose="02020603050405020304" pitchFamily="18" charset="0"/>
                <a:cs typeface="Times New Roman" panose="02020603050405020304" pitchFamily="18" charset="0"/>
              </a:rPr>
              <a:t>OBJECTIVES</a:t>
            </a:r>
            <a:r>
              <a:rPr lang="en-US" sz="3600" b="1" dirty="0">
                <a:solidFill>
                  <a:srgbClr val="A50021"/>
                </a:solidFill>
                <a:latin typeface="Times New Roman" panose="02020603050405020304" pitchFamily="18" charset="0"/>
                <a:cs typeface="Times New Roman" panose="02020603050405020304" pitchFamily="18" charset="0"/>
              </a:rPr>
              <a:t> </a:t>
            </a:r>
            <a:endParaRPr lang="en-IN" dirty="0"/>
          </a:p>
        </p:txBody>
      </p:sp>
      <p:sp>
        <p:nvSpPr>
          <p:cNvPr id="4" name="Slide Number Placeholder 3"/>
          <p:cNvSpPr>
            <a:spLocks noGrp="1"/>
          </p:cNvSpPr>
          <p:nvPr>
            <p:ph type="sldNum" sz="quarter" idx="12"/>
          </p:nvPr>
        </p:nvSpPr>
        <p:spPr/>
        <p:txBody>
          <a:bodyPr/>
          <a:lstStyle/>
          <a:p>
            <a:fld id="{D57F1E4F-1CFF-5643-939E-217C01CDF565}" type="slidenum">
              <a:rPr lang="en-US" smtClean="0"/>
              <a:t>8</a:t>
            </a:fld>
            <a:endParaRPr lang="en-US" dirty="0"/>
          </a:p>
        </p:txBody>
      </p:sp>
      <p:sp>
        <p:nvSpPr>
          <p:cNvPr id="3" name="TextBox 2"/>
          <p:cNvSpPr txBox="1"/>
          <p:nvPr/>
        </p:nvSpPr>
        <p:spPr>
          <a:xfrm>
            <a:off x="399186" y="690084"/>
            <a:ext cx="8744814" cy="4214102"/>
          </a:xfrm>
          <a:prstGeom prst="rect">
            <a:avLst/>
          </a:prstGeom>
          <a:noFill/>
        </p:spPr>
        <p:txBody>
          <a:bodyPr wrap="square" rtlCol="0">
            <a:spAutoFit/>
          </a:bodyPr>
          <a:lstStyle/>
          <a:p>
            <a:pPr algn="just">
              <a:lnSpc>
                <a:spcPct val="150000"/>
              </a:lnSpc>
            </a:pPr>
            <a:r>
              <a:rPr lang="en-GB" sz="1200" dirty="0">
                <a:latin typeface="Times New Roman" panose="02020603050405020304" pitchFamily="18" charset="0"/>
                <a:cs typeface="Times New Roman" pitchFamily="18" charset="0"/>
              </a:rPr>
              <a:t>Objective  - 1 :</a:t>
            </a:r>
          </a:p>
          <a:p>
            <a:pPr algn="just">
              <a:lnSpc>
                <a:spcPct val="150000"/>
              </a:lnSpc>
            </a:pPr>
            <a:r>
              <a:rPr lang="en-IN" sz="1200" dirty="0">
                <a:latin typeface="Times New Roman" panose="02020603050405020304" pitchFamily="18" charset="0"/>
                <a:cs typeface="Times New Roman" panose="02020603050405020304" pitchFamily="18" charset="0"/>
              </a:rPr>
              <a:t>To design a full-stack gamified nursing education platform (React, Node.js, Express, SQLite) with role-based access control, interactive dashboards, and a comprehensive quiz management system.</a:t>
            </a:r>
            <a:r>
              <a:rPr lang="en-GB" sz="1200" dirty="0">
                <a:latin typeface="Times New Roman" panose="02020603050405020304" pitchFamily="18" charset="0"/>
                <a:cs typeface="Times New Roman" pitchFamily="18" charset="0"/>
              </a:rPr>
              <a:t> </a:t>
            </a:r>
          </a:p>
          <a:p>
            <a:pPr algn="just">
              <a:lnSpc>
                <a:spcPct val="150000"/>
              </a:lnSpc>
            </a:pPr>
            <a:r>
              <a:rPr lang="en-GB" sz="1200" dirty="0">
                <a:latin typeface="Times New Roman" panose="02020603050405020304" pitchFamily="18" charset="0"/>
                <a:cs typeface="Times New Roman" pitchFamily="18" charset="0"/>
              </a:rPr>
              <a:t>Objective  - 2:</a:t>
            </a:r>
          </a:p>
          <a:p>
            <a:pPr algn="just">
              <a:lnSpc>
                <a:spcPct val="150000"/>
              </a:lnSpc>
            </a:pPr>
            <a:r>
              <a:rPr lang="en-IN" sz="1200" dirty="0">
                <a:latin typeface="Times New Roman" panose="02020603050405020304" pitchFamily="18" charset="0"/>
                <a:cs typeface="Times New Roman" panose="02020603050405020304" pitchFamily="18" charset="0"/>
              </a:rPr>
              <a:t>To implement multimedia-rich question types — MCQ, image-based, video-based, audio-based, jumbled-letter, and sequence ordering — enabling varied and engaging assessments beyond traditional text-only quizzes.</a:t>
            </a:r>
            <a:endParaRPr lang="en-GB" sz="1200" dirty="0">
              <a:latin typeface="Times New Roman" pitchFamily="18" charset="0"/>
              <a:cs typeface="Times New Roman" pitchFamily="18" charset="0"/>
            </a:endParaRPr>
          </a:p>
          <a:p>
            <a:pPr algn="just">
              <a:lnSpc>
                <a:spcPct val="150000"/>
              </a:lnSpc>
            </a:pPr>
            <a:r>
              <a:rPr lang="en-GB" sz="1200" dirty="0">
                <a:latin typeface="Times New Roman" pitchFamily="18" charset="0"/>
                <a:cs typeface="Times New Roman" pitchFamily="18" charset="0"/>
              </a:rPr>
              <a:t>Objective  - 3:</a:t>
            </a:r>
          </a:p>
          <a:p>
            <a:pPr algn="just">
              <a:lnSpc>
                <a:spcPct val="150000"/>
              </a:lnSpc>
            </a:pPr>
            <a:r>
              <a:rPr lang="en-IN" sz="1200" dirty="0">
                <a:latin typeface="Times New Roman" panose="02020603050405020304" pitchFamily="18" charset="0"/>
                <a:cs typeface="Times New Roman" panose="02020603050405020304" pitchFamily="18" charset="0"/>
              </a:rPr>
              <a:t>To integrate nursing-specific learning features including categorized clinical quizzes, module-based organization, scenario-based assessments, and domain-relevant gamification (XP, levels, streaks, badges).</a:t>
            </a:r>
            <a:endParaRPr lang="en-GB" sz="1200" dirty="0">
              <a:latin typeface="Times New Roman" pitchFamily="18" charset="0"/>
              <a:cs typeface="Times New Roman" pitchFamily="18" charset="0"/>
            </a:endParaRPr>
          </a:p>
          <a:p>
            <a:pPr algn="just">
              <a:lnSpc>
                <a:spcPct val="150000"/>
              </a:lnSpc>
            </a:pPr>
            <a:r>
              <a:rPr lang="en-GB" sz="1200" dirty="0">
                <a:latin typeface="Times New Roman" pitchFamily="18" charset="0"/>
                <a:cs typeface="Times New Roman" pitchFamily="18" charset="0"/>
              </a:rPr>
              <a:t>Objective  - 4:</a:t>
            </a:r>
          </a:p>
          <a:p>
            <a:pPr algn="just">
              <a:lnSpc>
                <a:spcPct val="150000"/>
              </a:lnSpc>
            </a:pPr>
            <a:r>
              <a:rPr lang="en-IN" sz="1200" dirty="0">
                <a:latin typeface="Times New Roman" panose="02020603050405020304" pitchFamily="18" charset="0"/>
                <a:cs typeface="Times New Roman" panose="02020603050405020304" pitchFamily="18" charset="0"/>
              </a:rPr>
              <a:t>To enable real-time multiplayer quiz sessions via Socket.IO with multi-device access, instant scoring, live leaderboards, and synchronized question delivery.</a:t>
            </a:r>
            <a:endParaRPr lang="en-GB" sz="1200" dirty="0">
              <a:latin typeface="Times New Roman" pitchFamily="18" charset="0"/>
              <a:cs typeface="Times New Roman" pitchFamily="18" charset="0"/>
            </a:endParaRPr>
          </a:p>
          <a:p>
            <a:pPr algn="just">
              <a:lnSpc>
                <a:spcPct val="150000"/>
              </a:lnSpc>
            </a:pPr>
            <a:r>
              <a:rPr lang="en-GB" sz="1200" dirty="0">
                <a:latin typeface="Times New Roman" pitchFamily="18" charset="0"/>
                <a:cs typeface="Times New Roman" pitchFamily="18" charset="0"/>
              </a:rPr>
              <a:t>Objective  - 5:</a:t>
            </a:r>
          </a:p>
          <a:p>
            <a:pPr algn="just">
              <a:lnSpc>
                <a:spcPct val="150000"/>
              </a:lnSpc>
            </a:pPr>
            <a:r>
              <a:rPr lang="en-IN" sz="1200" dirty="0">
                <a:latin typeface="Times New Roman" panose="02020603050405020304" pitchFamily="18" charset="0"/>
                <a:cs typeface="Times New Roman" panose="02020603050405020304" pitchFamily="18" charset="0"/>
              </a:rPr>
              <a:t>To ensure production-readiness through robust security (JWT, </a:t>
            </a:r>
            <a:r>
              <a:rPr lang="en-IN" sz="1200" dirty="0" err="1">
                <a:latin typeface="Times New Roman" panose="02020603050405020304" pitchFamily="18" charset="0"/>
                <a:cs typeface="Times New Roman" panose="02020603050405020304" pitchFamily="18" charset="0"/>
              </a:rPr>
              <a:t>bcrypt</a:t>
            </a:r>
            <a:r>
              <a:rPr lang="en-IN" sz="1200" dirty="0">
                <a:latin typeface="Times New Roman" panose="02020603050405020304" pitchFamily="18" charset="0"/>
                <a:cs typeface="Times New Roman" panose="02020603050405020304" pitchFamily="18" charset="0"/>
              </a:rPr>
              <a:t>, input validation), scalable single-server architecture, and real-world deployment</a:t>
            </a:r>
            <a:endParaRPr lang="en-GB" sz="1200" dirty="0">
              <a:latin typeface="Times New Roman" panose="02020603050405020304" pitchFamily="18" charset="0"/>
              <a:cs typeface="Times New Roman" pitchFamily="18" charset="0"/>
            </a:endParaRPr>
          </a:p>
        </p:txBody>
      </p:sp>
      <p:sp>
        <p:nvSpPr>
          <p:cNvPr id="5" name="Date Placeholder 4"/>
          <p:cNvSpPr>
            <a:spLocks noGrp="1"/>
          </p:cNvSpPr>
          <p:nvPr>
            <p:ph type="dt" sz="half" idx="10"/>
          </p:nvPr>
        </p:nvSpPr>
        <p:spPr/>
        <p:txBody>
          <a:bodyPr/>
          <a:lstStyle/>
          <a:p>
            <a:fld id="{305CE664-CC6B-43B1-BCF8-14EAD95F037A}" type="datetime3">
              <a:rPr lang="en-US" smtClean="0"/>
              <a:t>5 June 2026</a:t>
            </a:fld>
            <a:endParaRPr lang="en-US" dirty="0"/>
          </a:p>
        </p:txBody>
      </p:sp>
      <p:sp>
        <p:nvSpPr>
          <p:cNvPr id="7" name="Footer Placeholder 4"/>
          <p:cNvSpPr>
            <a:spLocks noGrp="1"/>
          </p:cNvSpPr>
          <p:nvPr>
            <p:ph type="ftr" sz="quarter" idx="11"/>
          </p:nvPr>
        </p:nvSpPr>
        <p:spPr>
          <a:xfrm>
            <a:off x="3028950" y="4767264"/>
            <a:ext cx="3086100" cy="273844"/>
          </a:xfrm>
        </p:spPr>
        <p:txBody>
          <a:bodyPr/>
          <a:lstStyle/>
          <a:p>
            <a:r>
              <a:rPr lang="en-US" dirty="0"/>
              <a:t>CYB23IN101 REVIEW - I</a:t>
            </a:r>
          </a:p>
        </p:txBody>
      </p:sp>
    </p:spTree>
    <p:extLst>
      <p:ext uri="{BB962C8B-B14F-4D97-AF65-F5344CB8AC3E}">
        <p14:creationId xmlns:p14="http://schemas.microsoft.com/office/powerpoint/2010/main" val="3184909047"/>
      </p:ext>
    </p:extLst>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D57F1E4F-1CFF-5643-939E-217C01CDF565}" type="slidenum">
              <a:rPr lang="en-US" smtClean="0"/>
              <a:t>9</a:t>
            </a:fld>
            <a:endParaRPr lang="en-US" dirty="0"/>
          </a:p>
        </p:txBody>
      </p:sp>
      <p:sp>
        <p:nvSpPr>
          <p:cNvPr id="10" name="Title 1"/>
          <p:cNvSpPr>
            <a:spLocks noGrp="1"/>
          </p:cNvSpPr>
          <p:nvPr>
            <p:ph type="title"/>
          </p:nvPr>
        </p:nvSpPr>
        <p:spPr>
          <a:xfrm>
            <a:off x="661948" y="132093"/>
            <a:ext cx="6083163" cy="433523"/>
          </a:xfrm>
        </p:spPr>
        <p:txBody>
          <a:bodyPr>
            <a:noAutofit/>
          </a:bodyPr>
          <a:lstStyle/>
          <a:p>
            <a:pPr>
              <a:lnSpc>
                <a:spcPct val="107000"/>
              </a:lnSpc>
              <a:spcBef>
                <a:spcPts val="0"/>
              </a:spcBef>
              <a:spcAft>
                <a:spcPts val="450"/>
              </a:spcAft>
            </a:pPr>
            <a:r>
              <a:rPr lang="en-US" sz="2800" b="1">
                <a:solidFill>
                  <a:srgbClr val="A50021"/>
                </a:solidFill>
                <a:latin typeface="Times New Roman" panose="02020603050405020304" pitchFamily="18" charset="0"/>
                <a:cs typeface="Times New Roman" panose="02020603050405020304" pitchFamily="18" charset="0"/>
              </a:rPr>
              <a:t>WORKFLOW DIAGRAM</a:t>
            </a:r>
            <a:endParaRPr lang="en-US" sz="2800" b="1" dirty="0">
              <a:solidFill>
                <a:srgbClr val="A50021"/>
              </a:solidFill>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DE11E864-39B2-4D9A-938E-DF8E5B1FD578}" type="datetime3">
              <a:rPr lang="en-US" smtClean="0"/>
              <a:t>5 June 2026</a:t>
            </a:fld>
            <a:endParaRPr lang="en-US" dirty="0"/>
          </a:p>
        </p:txBody>
      </p:sp>
      <p:sp>
        <p:nvSpPr>
          <p:cNvPr id="6" name="Footer Placeholder 4"/>
          <p:cNvSpPr>
            <a:spLocks noGrp="1"/>
          </p:cNvSpPr>
          <p:nvPr>
            <p:ph type="ftr" sz="quarter" idx="11"/>
          </p:nvPr>
        </p:nvSpPr>
        <p:spPr>
          <a:xfrm>
            <a:off x="3028950" y="4767264"/>
            <a:ext cx="3086100" cy="273844"/>
          </a:xfrm>
        </p:spPr>
        <p:txBody>
          <a:bodyPr/>
          <a:lstStyle/>
          <a:p>
            <a:r>
              <a:rPr lang="en-US"/>
              <a:t>CYB23IN101 REVIEW - I</a:t>
            </a:r>
            <a:endParaRPr lang="en-US" dirty="0"/>
          </a:p>
        </p:txBody>
      </p:sp>
      <p:pic>
        <p:nvPicPr>
          <p:cNvPr id="8" name="Picture 7">
            <a:extLst>
              <a:ext uri="{FF2B5EF4-FFF2-40B4-BE49-F238E27FC236}">
                <a16:creationId xmlns:a16="http://schemas.microsoft.com/office/drawing/2014/main" id="{EC32B658-B339-B3DE-7453-42D51E87A3C0}"/>
              </a:ext>
            </a:extLst>
          </p:cNvPr>
          <p:cNvPicPr>
            <a:picLocks noChangeAspect="1"/>
          </p:cNvPicPr>
          <p:nvPr/>
        </p:nvPicPr>
        <p:blipFill>
          <a:blip r:embed="rId2"/>
          <a:stretch>
            <a:fillRect/>
          </a:stretch>
        </p:blipFill>
        <p:spPr>
          <a:xfrm>
            <a:off x="2159425" y="629128"/>
            <a:ext cx="4825149" cy="4411980"/>
          </a:xfrm>
          <a:prstGeom prst="rect">
            <a:avLst/>
          </a:prstGeom>
        </p:spPr>
      </p:pic>
    </p:spTree>
    <p:extLst>
      <p:ext uri="{BB962C8B-B14F-4D97-AF65-F5344CB8AC3E}">
        <p14:creationId xmlns:p14="http://schemas.microsoft.com/office/powerpoint/2010/main" val="1401790745"/>
      </p:ext>
    </p:extLst>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D57F1E4F-1CFF-5643-939E-217C01CDF565}" type="slidenum">
              <a:rPr lang="en-US" smtClean="0"/>
              <a:t>10</a:t>
            </a:fld>
            <a:endParaRPr lang="en-US" dirty="0"/>
          </a:p>
        </p:txBody>
      </p:sp>
      <p:sp>
        <p:nvSpPr>
          <p:cNvPr id="10" name="Title 1"/>
          <p:cNvSpPr>
            <a:spLocks noGrp="1"/>
          </p:cNvSpPr>
          <p:nvPr>
            <p:ph type="title"/>
          </p:nvPr>
        </p:nvSpPr>
        <p:spPr>
          <a:xfrm>
            <a:off x="661948" y="132093"/>
            <a:ext cx="6083163" cy="433523"/>
          </a:xfrm>
        </p:spPr>
        <p:txBody>
          <a:bodyPr>
            <a:noAutofit/>
          </a:bodyPr>
          <a:lstStyle/>
          <a:p>
            <a:pPr>
              <a:lnSpc>
                <a:spcPct val="107000"/>
              </a:lnSpc>
              <a:spcBef>
                <a:spcPts val="0"/>
              </a:spcBef>
              <a:spcAft>
                <a:spcPts val="450"/>
              </a:spcAft>
            </a:pPr>
            <a:r>
              <a:rPr lang="en-US" sz="2800" b="1" dirty="0">
                <a:solidFill>
                  <a:srgbClr val="A50021"/>
                </a:solidFill>
                <a:latin typeface="Times New Roman" panose="02020603050405020304" pitchFamily="18" charset="0"/>
                <a:cs typeface="Times New Roman" panose="02020603050405020304" pitchFamily="18" charset="0"/>
              </a:rPr>
              <a:t>MODULES</a:t>
            </a:r>
          </a:p>
        </p:txBody>
      </p:sp>
      <p:graphicFrame>
        <p:nvGraphicFramePr>
          <p:cNvPr id="3" name="Table 2"/>
          <p:cNvGraphicFramePr>
            <a:graphicFrameLocks noGrp="1"/>
          </p:cNvGraphicFramePr>
          <p:nvPr>
            <p:extLst>
              <p:ext uri="{D42A27DB-BD31-4B8C-83A1-F6EECF244321}">
                <p14:modId xmlns:p14="http://schemas.microsoft.com/office/powerpoint/2010/main" val="853865101"/>
              </p:ext>
            </p:extLst>
          </p:nvPr>
        </p:nvGraphicFramePr>
        <p:xfrm>
          <a:off x="628651" y="565616"/>
          <a:ext cx="8313218" cy="4214283"/>
        </p:xfrm>
        <a:graphic>
          <a:graphicData uri="http://schemas.openxmlformats.org/drawingml/2006/table">
            <a:tbl>
              <a:tblPr firstRow="1" bandRow="1">
                <a:tableStyleId>{5940675A-B579-460E-94D1-54222C63F5DA}</a:tableStyleId>
              </a:tblPr>
              <a:tblGrid>
                <a:gridCol w="342512">
                  <a:extLst>
                    <a:ext uri="{9D8B030D-6E8A-4147-A177-3AD203B41FA5}">
                      <a16:colId xmlns:a16="http://schemas.microsoft.com/office/drawing/2014/main" val="20000"/>
                    </a:ext>
                  </a:extLst>
                </a:gridCol>
                <a:gridCol w="1416314">
                  <a:extLst>
                    <a:ext uri="{9D8B030D-6E8A-4147-A177-3AD203B41FA5}">
                      <a16:colId xmlns:a16="http://schemas.microsoft.com/office/drawing/2014/main" val="20001"/>
                    </a:ext>
                  </a:extLst>
                </a:gridCol>
                <a:gridCol w="2311230">
                  <a:extLst>
                    <a:ext uri="{9D8B030D-6E8A-4147-A177-3AD203B41FA5}">
                      <a16:colId xmlns:a16="http://schemas.microsoft.com/office/drawing/2014/main" val="20002"/>
                    </a:ext>
                  </a:extLst>
                </a:gridCol>
                <a:gridCol w="2352998">
                  <a:extLst>
                    <a:ext uri="{9D8B030D-6E8A-4147-A177-3AD203B41FA5}">
                      <a16:colId xmlns:a16="http://schemas.microsoft.com/office/drawing/2014/main" val="20003"/>
                    </a:ext>
                  </a:extLst>
                </a:gridCol>
                <a:gridCol w="1890164">
                  <a:extLst>
                    <a:ext uri="{9D8B030D-6E8A-4147-A177-3AD203B41FA5}">
                      <a16:colId xmlns:a16="http://schemas.microsoft.com/office/drawing/2014/main" val="20004"/>
                    </a:ext>
                  </a:extLst>
                </a:gridCol>
              </a:tblGrid>
              <a:tr h="591356">
                <a:tc>
                  <a:txBody>
                    <a:bodyPr/>
                    <a:lstStyle/>
                    <a:p>
                      <a:pPr algn="l">
                        <a:buNone/>
                      </a:pPr>
                      <a:r>
                        <a:rPr lang="en-IN" sz="1200" b="0">
                          <a:effectLst/>
                        </a:rPr>
                        <a:t>#</a:t>
                      </a:r>
                    </a:p>
                  </a:txBody>
                  <a:tcPr anchor="ctr">
                    <a:solidFill>
                      <a:schemeClr val="bg2"/>
                    </a:solidFill>
                  </a:tcPr>
                </a:tc>
                <a:tc>
                  <a:txBody>
                    <a:bodyPr/>
                    <a:lstStyle/>
                    <a:p>
                      <a:pPr algn="l">
                        <a:buNone/>
                      </a:pPr>
                      <a:r>
                        <a:rPr lang="en-IN" sz="1200" b="0">
                          <a:effectLst/>
                        </a:rPr>
                        <a:t>Modules</a:t>
                      </a:r>
                    </a:p>
                  </a:txBody>
                  <a:tcPr anchor="ctr">
                    <a:solidFill>
                      <a:schemeClr val="bg2"/>
                    </a:solidFill>
                  </a:tcPr>
                </a:tc>
                <a:tc>
                  <a:txBody>
                    <a:bodyPr/>
                    <a:lstStyle/>
                    <a:p>
                      <a:pPr algn="l">
                        <a:buNone/>
                      </a:pPr>
                      <a:r>
                        <a:rPr lang="en-IN" sz="1200" b="0">
                          <a:effectLst/>
                        </a:rPr>
                        <a:t>Methodology / Algorithm</a:t>
                      </a:r>
                    </a:p>
                  </a:txBody>
                  <a:tcPr anchor="ctr">
                    <a:solidFill>
                      <a:schemeClr val="bg2"/>
                    </a:solidFill>
                  </a:tcPr>
                </a:tc>
                <a:tc>
                  <a:txBody>
                    <a:bodyPr/>
                    <a:lstStyle/>
                    <a:p>
                      <a:pPr algn="l">
                        <a:buNone/>
                      </a:pPr>
                      <a:r>
                        <a:rPr lang="en-IN" sz="1200" b="0">
                          <a:effectLst/>
                        </a:rPr>
                        <a:t>Technologies (H/W and S/W)</a:t>
                      </a:r>
                    </a:p>
                  </a:txBody>
                  <a:tcPr anchor="ctr">
                    <a:solidFill>
                      <a:schemeClr val="bg2"/>
                    </a:solidFill>
                  </a:tcPr>
                </a:tc>
                <a:tc>
                  <a:txBody>
                    <a:bodyPr/>
                    <a:lstStyle/>
                    <a:p>
                      <a:pPr algn="l">
                        <a:buNone/>
                      </a:pPr>
                      <a:r>
                        <a:rPr lang="en-IN" sz="1200" b="0">
                          <a:effectLst/>
                        </a:rPr>
                        <a:t>Implementation</a:t>
                      </a:r>
                    </a:p>
                  </a:txBody>
                  <a:tcPr anchor="ctr">
                    <a:solidFill>
                      <a:schemeClr val="bg2"/>
                    </a:solidFill>
                  </a:tcPr>
                </a:tc>
                <a:extLst>
                  <a:ext uri="{0D108BD9-81ED-4DB2-BD59-A6C34878D82A}">
                    <a16:rowId xmlns:a16="http://schemas.microsoft.com/office/drawing/2014/main" val="10000"/>
                  </a:ext>
                </a:extLst>
              </a:tr>
              <a:tr h="627446">
                <a:tc>
                  <a:txBody>
                    <a:bodyPr/>
                    <a:lstStyle/>
                    <a:p>
                      <a:pPr>
                        <a:buNone/>
                      </a:pPr>
                      <a:r>
                        <a:rPr lang="en-IN" sz="1200">
                          <a:effectLst/>
                        </a:rPr>
                        <a:t>1</a:t>
                      </a:r>
                    </a:p>
                  </a:txBody>
                  <a:tcPr anchor="ctr"/>
                </a:tc>
                <a:tc>
                  <a:txBody>
                    <a:bodyPr/>
                    <a:lstStyle/>
                    <a:p>
                      <a:pPr>
                        <a:buNone/>
                      </a:pPr>
                      <a:r>
                        <a:rPr lang="en-IN" sz="1200" b="1">
                          <a:effectLst/>
                        </a:rPr>
                        <a:t>Frontend Module</a:t>
                      </a:r>
                      <a:r>
                        <a:rPr lang="en-IN" sz="1200">
                          <a:effectLst/>
                        </a:rPr>
                        <a:t> (UI Layer)</a:t>
                      </a:r>
                    </a:p>
                  </a:txBody>
                  <a:tcPr anchor="ctr"/>
                </a:tc>
                <a:tc>
                  <a:txBody>
                    <a:bodyPr/>
                    <a:lstStyle/>
                    <a:p>
                      <a:pPr>
                        <a:buNone/>
                      </a:pPr>
                      <a:r>
                        <a:rPr lang="en-IN" sz="1200">
                          <a:effectLst/>
                        </a:rPr>
                        <a:t>Component-based SPA; client-side routing; Context API state management</a:t>
                      </a:r>
                    </a:p>
                  </a:txBody>
                  <a:tcPr anchor="ctr"/>
                </a:tc>
                <a:tc>
                  <a:txBody>
                    <a:bodyPr/>
                    <a:lstStyle/>
                    <a:p>
                      <a:pPr>
                        <a:buNone/>
                      </a:pPr>
                      <a:r>
                        <a:rPr lang="en-IN" sz="1200" b="1" dirty="0">
                          <a:effectLst/>
                        </a:rPr>
                        <a:t>S/W:</a:t>
                      </a:r>
                      <a:r>
                        <a:rPr lang="en-IN" sz="1200" dirty="0">
                          <a:effectLst/>
                        </a:rPr>
                        <a:t> React 19, Vite, React Router, Three.js, Lottie </a:t>
                      </a:r>
                    </a:p>
                  </a:txBody>
                  <a:tcPr anchor="ctr"/>
                </a:tc>
                <a:tc>
                  <a:txBody>
                    <a:bodyPr/>
                    <a:lstStyle/>
                    <a:p>
                      <a:pPr>
                        <a:buNone/>
                      </a:pPr>
                      <a:r>
                        <a:rPr lang="en-IN" sz="1200">
                          <a:effectLst/>
                        </a:rPr>
                        <a:t>11 pages, reusable components, 2 context providers, API client</a:t>
                      </a:r>
                    </a:p>
                  </a:txBody>
                  <a:tcPr anchor="ctr"/>
                </a:tc>
                <a:extLst>
                  <a:ext uri="{0D108BD9-81ED-4DB2-BD59-A6C34878D82A}">
                    <a16:rowId xmlns:a16="http://schemas.microsoft.com/office/drawing/2014/main" val="10001"/>
                  </a:ext>
                </a:extLst>
              </a:tr>
              <a:tr h="724413">
                <a:tc>
                  <a:txBody>
                    <a:bodyPr/>
                    <a:lstStyle/>
                    <a:p>
                      <a:pPr>
                        <a:buNone/>
                      </a:pPr>
                      <a:r>
                        <a:rPr lang="en-IN" sz="1200">
                          <a:effectLst/>
                        </a:rPr>
                        <a:t>2</a:t>
                      </a:r>
                    </a:p>
                  </a:txBody>
                  <a:tcPr anchor="ctr"/>
                </a:tc>
                <a:tc>
                  <a:txBody>
                    <a:bodyPr/>
                    <a:lstStyle/>
                    <a:p>
                      <a:pPr>
                        <a:buNone/>
                      </a:pPr>
                      <a:r>
                        <a:rPr lang="en-IN" sz="1200" b="1">
                          <a:effectLst/>
                        </a:rPr>
                        <a:t>Backend API Module</a:t>
                      </a:r>
                      <a:r>
                        <a:rPr lang="en-IN" sz="1200">
                          <a:effectLst/>
                        </a:rPr>
                        <a:t> (Server Layer)</a:t>
                      </a:r>
                    </a:p>
                  </a:txBody>
                  <a:tcPr anchor="ctr"/>
                </a:tc>
                <a:tc>
                  <a:txBody>
                    <a:bodyPr/>
                    <a:lstStyle/>
                    <a:p>
                      <a:pPr>
                        <a:buNone/>
                      </a:pPr>
                      <a:r>
                        <a:rPr lang="en-IN" sz="1200">
                          <a:effectLst/>
                        </a:rPr>
                        <a:t>RESTful API; MVC pattern; middleware chaining; MIME-filtered uploads</a:t>
                      </a:r>
                    </a:p>
                  </a:txBody>
                  <a:tcPr anchor="ctr"/>
                </a:tc>
                <a:tc>
                  <a:txBody>
                    <a:bodyPr/>
                    <a:lstStyle/>
                    <a:p>
                      <a:pPr>
                        <a:buNone/>
                      </a:pPr>
                      <a:r>
                        <a:rPr lang="en-IN" sz="1200" b="1" dirty="0">
                          <a:effectLst/>
                        </a:rPr>
                        <a:t>S/W:</a:t>
                      </a:r>
                      <a:r>
                        <a:rPr lang="en-IN" sz="1200" dirty="0">
                          <a:effectLst/>
                        </a:rPr>
                        <a:t> Node.js, Express 5, Multer, CORS</a:t>
                      </a:r>
                      <a:r>
                        <a:rPr lang="en-IN" sz="1200" b="1" dirty="0">
                          <a:effectLst/>
                        </a:rPr>
                        <a:t> </a:t>
                      </a:r>
                      <a:r>
                        <a:rPr lang="en-IN" sz="1200" b="0" dirty="0">
                          <a:effectLst/>
                        </a:rPr>
                        <a:t>with</a:t>
                      </a:r>
                      <a:r>
                        <a:rPr lang="en-IN" sz="1200" b="1" dirty="0">
                          <a:effectLst/>
                        </a:rPr>
                        <a:t> </a:t>
                      </a:r>
                      <a:r>
                        <a:rPr lang="en-IN" sz="1200" dirty="0">
                          <a:effectLst/>
                        </a:rPr>
                        <a:t>Node.js 18+ server</a:t>
                      </a:r>
                    </a:p>
                  </a:txBody>
                  <a:tcPr anchor="ctr"/>
                </a:tc>
                <a:tc>
                  <a:txBody>
                    <a:bodyPr/>
                    <a:lstStyle/>
                    <a:p>
                      <a:pPr>
                        <a:buNone/>
                      </a:pPr>
                      <a:r>
                        <a:rPr lang="en-IN" sz="1200">
                          <a:effectLst/>
                        </a:rPr>
                        <a:t>5 route modules, file upload endpoint, media handler</a:t>
                      </a:r>
                    </a:p>
                  </a:txBody>
                  <a:tcPr anchor="ctr"/>
                </a:tc>
                <a:extLst>
                  <a:ext uri="{0D108BD9-81ED-4DB2-BD59-A6C34878D82A}">
                    <a16:rowId xmlns:a16="http://schemas.microsoft.com/office/drawing/2014/main" val="10002"/>
                  </a:ext>
                </a:extLst>
              </a:tr>
              <a:tr h="809608">
                <a:tc>
                  <a:txBody>
                    <a:bodyPr/>
                    <a:lstStyle/>
                    <a:p>
                      <a:pPr>
                        <a:buNone/>
                      </a:pPr>
                      <a:r>
                        <a:rPr lang="en-IN" sz="1200">
                          <a:effectLst/>
                        </a:rPr>
                        <a:t>3</a:t>
                      </a:r>
                    </a:p>
                  </a:txBody>
                  <a:tcPr anchor="ctr"/>
                </a:tc>
                <a:tc>
                  <a:txBody>
                    <a:bodyPr/>
                    <a:lstStyle/>
                    <a:p>
                      <a:pPr>
                        <a:buNone/>
                      </a:pPr>
                      <a:r>
                        <a:rPr lang="en-IN" sz="1200" b="1">
                          <a:effectLst/>
                        </a:rPr>
                        <a:t>Auth Module</a:t>
                      </a:r>
                      <a:r>
                        <a:rPr lang="en-IN" sz="1200">
                          <a:effectLst/>
                        </a:rPr>
                        <a:t> (Security Layer)</a:t>
                      </a:r>
                    </a:p>
                  </a:txBody>
                  <a:tcPr anchor="ctr"/>
                </a:tc>
                <a:tc>
                  <a:txBody>
                    <a:bodyPr/>
                    <a:lstStyle/>
                    <a:p>
                      <a:pPr>
                        <a:buNone/>
                      </a:pPr>
                      <a:r>
                        <a:rPr lang="en-IN" sz="1200">
                          <a:effectLst/>
                        </a:rPr>
                        <a:t>JWT token auth; bcrypt hashing (salt=10); role-based access control</a:t>
                      </a:r>
                    </a:p>
                  </a:txBody>
                  <a:tcPr anchor="ctr"/>
                </a:tc>
                <a:tc>
                  <a:txBody>
                    <a:bodyPr/>
                    <a:lstStyle/>
                    <a:p>
                      <a:pPr>
                        <a:buNone/>
                      </a:pPr>
                      <a:r>
                        <a:rPr lang="en-IN" sz="1200" b="1" dirty="0">
                          <a:effectLst/>
                        </a:rPr>
                        <a:t>S/W:</a:t>
                      </a:r>
                      <a:r>
                        <a:rPr lang="en-IN" sz="1200" dirty="0">
                          <a:effectLst/>
                        </a:rPr>
                        <a:t> </a:t>
                      </a:r>
                      <a:r>
                        <a:rPr lang="en-IN" sz="1200" dirty="0" err="1">
                          <a:effectLst/>
                        </a:rPr>
                        <a:t>jsonwebtoken</a:t>
                      </a:r>
                      <a:r>
                        <a:rPr lang="en-IN" sz="1200" dirty="0">
                          <a:effectLst/>
                        </a:rPr>
                        <a:t>, </a:t>
                      </a:r>
                      <a:r>
                        <a:rPr lang="en-IN" sz="1200" dirty="0" err="1">
                          <a:effectLst/>
                        </a:rPr>
                        <a:t>bcryptjs</a:t>
                      </a:r>
                      <a:r>
                        <a:rPr lang="en-IN" sz="1200" dirty="0">
                          <a:effectLst/>
                        </a:rPr>
                        <a:t>, Express middleware</a:t>
                      </a:r>
                    </a:p>
                  </a:txBody>
                  <a:tcPr anchor="ctr"/>
                </a:tc>
                <a:tc>
                  <a:txBody>
                    <a:bodyPr/>
                    <a:lstStyle/>
                    <a:p>
                      <a:pPr>
                        <a:buNone/>
                      </a:pPr>
                      <a:r>
                        <a:rPr lang="en-IN" sz="1200" dirty="0">
                          <a:effectLst/>
                        </a:rPr>
                        <a:t>Token sign/verify, password hashing, role-gating middleware</a:t>
                      </a:r>
                    </a:p>
                  </a:txBody>
                  <a:tcPr anchor="ctr"/>
                </a:tc>
                <a:extLst>
                  <a:ext uri="{0D108BD9-81ED-4DB2-BD59-A6C34878D82A}">
                    <a16:rowId xmlns:a16="http://schemas.microsoft.com/office/drawing/2014/main" val="10003"/>
                  </a:ext>
                </a:extLst>
              </a:tr>
              <a:tr h="724413">
                <a:tc>
                  <a:txBody>
                    <a:bodyPr/>
                    <a:lstStyle/>
                    <a:p>
                      <a:pPr>
                        <a:buNone/>
                      </a:pPr>
                      <a:r>
                        <a:rPr lang="en-IN" sz="1200">
                          <a:effectLst/>
                        </a:rPr>
                        <a:t>4</a:t>
                      </a:r>
                    </a:p>
                  </a:txBody>
                  <a:tcPr anchor="ctr"/>
                </a:tc>
                <a:tc>
                  <a:txBody>
                    <a:bodyPr/>
                    <a:lstStyle/>
                    <a:p>
                      <a:pPr>
                        <a:buNone/>
                      </a:pPr>
                      <a:r>
                        <a:rPr lang="en-IN" sz="1200" b="1">
                          <a:effectLst/>
                        </a:rPr>
                        <a:t>Database Module</a:t>
                      </a:r>
                      <a:r>
                        <a:rPr lang="en-IN" sz="1200">
                          <a:effectLst/>
                        </a:rPr>
                        <a:t> (Data Layer)</a:t>
                      </a:r>
                    </a:p>
                  </a:txBody>
                  <a:tcPr anchor="ctr"/>
                </a:tc>
                <a:tc>
                  <a:txBody>
                    <a:bodyPr/>
                    <a:lstStyle/>
                    <a:p>
                      <a:pPr>
                        <a:buNone/>
                      </a:pPr>
                      <a:r>
                        <a:rPr lang="en-IN" sz="1200">
                          <a:effectLst/>
                        </a:rPr>
                        <a:t>Relational schema; prepared statements; WAL journaling; auto-migration</a:t>
                      </a:r>
                    </a:p>
                  </a:txBody>
                  <a:tcPr anchor="ctr"/>
                </a:tc>
                <a:tc>
                  <a:txBody>
                    <a:bodyPr/>
                    <a:lstStyle/>
                    <a:p>
                      <a:pPr>
                        <a:buNone/>
                      </a:pPr>
                      <a:r>
                        <a:rPr lang="en-IN" sz="1200" b="1">
                          <a:effectLst/>
                        </a:rPr>
                        <a:t>S/W:</a:t>
                      </a:r>
                      <a:r>
                        <a:rPr lang="en-IN" sz="1200">
                          <a:effectLst/>
                        </a:rPr>
                        <a:t> SQLite, better-sqlite3, UUID </a:t>
                      </a:r>
                      <a:r>
                        <a:rPr lang="en-IN" sz="1200" b="1">
                          <a:effectLst/>
                        </a:rPr>
                        <a:t>H/W:</a:t>
                      </a:r>
                      <a:r>
                        <a:rPr lang="en-IN" sz="1200">
                          <a:effectLst/>
                        </a:rPr>
                        <a:t> Local file storage</a:t>
                      </a:r>
                    </a:p>
                  </a:txBody>
                  <a:tcPr anchor="ctr"/>
                </a:tc>
                <a:tc>
                  <a:txBody>
                    <a:bodyPr/>
                    <a:lstStyle/>
                    <a:p>
                      <a:pPr>
                        <a:buNone/>
                      </a:pPr>
                      <a:r>
                        <a:rPr lang="en-IN" sz="1200">
                          <a:effectLst/>
                        </a:rPr>
                        <a:t>6 tables, schema.sql, init.js with migrations, seed.js</a:t>
                      </a:r>
                    </a:p>
                  </a:txBody>
                  <a:tcPr anchor="ctr"/>
                </a:tc>
                <a:extLst>
                  <a:ext uri="{0D108BD9-81ED-4DB2-BD59-A6C34878D82A}">
                    <a16:rowId xmlns:a16="http://schemas.microsoft.com/office/drawing/2014/main" val="10004"/>
                  </a:ext>
                </a:extLst>
              </a:tr>
              <a:tr h="724413">
                <a:tc>
                  <a:txBody>
                    <a:bodyPr/>
                    <a:lstStyle/>
                    <a:p>
                      <a:pPr>
                        <a:buNone/>
                      </a:pPr>
                      <a:r>
                        <a:rPr lang="en-IN" sz="1200">
                          <a:effectLst/>
                        </a:rPr>
                        <a:t>5</a:t>
                      </a:r>
                    </a:p>
                  </a:txBody>
                  <a:tcPr anchor="ctr"/>
                </a:tc>
                <a:tc>
                  <a:txBody>
                    <a:bodyPr/>
                    <a:lstStyle/>
                    <a:p>
                      <a:pPr>
                        <a:buNone/>
                      </a:pPr>
                      <a:r>
                        <a:rPr lang="en-IN" sz="1200" b="1">
                          <a:effectLst/>
                        </a:rPr>
                        <a:t>Real-Time Module</a:t>
                      </a:r>
                      <a:r>
                        <a:rPr lang="en-IN" sz="1200">
                          <a:effectLst/>
                        </a:rPr>
                        <a:t> (WebSocket Layer)</a:t>
                      </a:r>
                    </a:p>
                  </a:txBody>
                  <a:tcPr anchor="ctr"/>
                </a:tc>
                <a:tc>
                  <a:txBody>
                    <a:bodyPr/>
                    <a:lstStyle/>
                    <a:p>
                      <a:pPr>
                        <a:buNone/>
                      </a:pPr>
                      <a:r>
                        <a:rPr lang="en-IN" sz="1200">
                          <a:effectLst/>
                        </a:rPr>
                        <a:t>Event-driven pub/sub; room-based sessions; Kahoot-style scoring</a:t>
                      </a:r>
                    </a:p>
                  </a:txBody>
                  <a:tcPr anchor="ctr"/>
                </a:tc>
                <a:tc>
                  <a:txBody>
                    <a:bodyPr/>
                    <a:lstStyle/>
                    <a:p>
                      <a:pPr>
                        <a:buNone/>
                      </a:pPr>
                      <a:r>
                        <a:rPr lang="en-IN" sz="1200" b="1" dirty="0">
                          <a:effectLst/>
                        </a:rPr>
                        <a:t>S/W:</a:t>
                      </a:r>
                      <a:r>
                        <a:rPr lang="en-IN" sz="1200" dirty="0">
                          <a:effectLst/>
                        </a:rPr>
                        <a:t> Socket.IO, Node.js event loop </a:t>
                      </a:r>
                    </a:p>
                  </a:txBody>
                  <a:tcPr anchor="ctr"/>
                </a:tc>
                <a:tc>
                  <a:txBody>
                    <a:bodyPr/>
                    <a:lstStyle/>
                    <a:p>
                      <a:pPr>
                        <a:buNone/>
                      </a:pPr>
                      <a:r>
                        <a:rPr lang="en-IN" sz="1200" dirty="0">
                          <a:effectLst/>
                        </a:rPr>
                        <a:t>Session lifecycle, in-memory store, live scoring &amp; ranking</a:t>
                      </a:r>
                    </a:p>
                  </a:txBody>
                  <a:tcPr anchor="ctr"/>
                </a:tc>
                <a:extLst>
                  <a:ext uri="{0D108BD9-81ED-4DB2-BD59-A6C34878D82A}">
                    <a16:rowId xmlns:a16="http://schemas.microsoft.com/office/drawing/2014/main" val="10005"/>
                  </a:ext>
                </a:extLst>
              </a:tr>
            </a:tbl>
          </a:graphicData>
        </a:graphic>
      </p:graphicFrame>
      <p:sp>
        <p:nvSpPr>
          <p:cNvPr id="2" name="Date Placeholder 1"/>
          <p:cNvSpPr>
            <a:spLocks noGrp="1"/>
          </p:cNvSpPr>
          <p:nvPr>
            <p:ph type="dt" sz="half" idx="10"/>
          </p:nvPr>
        </p:nvSpPr>
        <p:spPr/>
        <p:txBody>
          <a:bodyPr/>
          <a:lstStyle/>
          <a:p>
            <a:fld id="{2B573973-4A1E-4C7C-AAB7-BDE9EAC7FD5C}" type="datetime3">
              <a:rPr lang="en-US" smtClean="0"/>
              <a:t>5 June 2026</a:t>
            </a:fld>
            <a:endParaRPr lang="en-US" dirty="0"/>
          </a:p>
        </p:txBody>
      </p:sp>
      <p:sp>
        <p:nvSpPr>
          <p:cNvPr id="8" name="Footer Placeholder 4"/>
          <p:cNvSpPr>
            <a:spLocks noGrp="1"/>
          </p:cNvSpPr>
          <p:nvPr>
            <p:ph type="ftr" sz="quarter" idx="11"/>
          </p:nvPr>
        </p:nvSpPr>
        <p:spPr>
          <a:xfrm>
            <a:off x="3028950" y="4767264"/>
            <a:ext cx="3086100" cy="273844"/>
          </a:xfrm>
        </p:spPr>
        <p:txBody>
          <a:bodyPr/>
          <a:lstStyle/>
          <a:p>
            <a:r>
              <a:rPr lang="en-US" dirty="0"/>
              <a:t>CYB23IN101 REVIEW - I</a:t>
            </a:r>
          </a:p>
        </p:txBody>
      </p:sp>
    </p:spTree>
    <p:extLst>
      <p:ext uri="{BB962C8B-B14F-4D97-AF65-F5344CB8AC3E}">
        <p14:creationId xmlns:p14="http://schemas.microsoft.com/office/powerpoint/2010/main" val="2871368585"/>
      </p:ext>
    </p:extLst>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9CB95732-565A-4D2C-A3AB-CC460C0D38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77F1AF47-AE98-4034-BD91-1976FA4D9C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63154" y="1063154"/>
            <a:ext cx="5156864" cy="3030558"/>
          </a:xfrm>
          <a:prstGeom prst="rect">
            <a:avLst/>
          </a:prstGeom>
          <a:gradFill>
            <a:gsLst>
              <a:gs pos="1100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8EC0EE2B-2029-48DD-893D-F528E651B0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2900" y="6361"/>
            <a:ext cx="2676207" cy="5143500"/>
          </a:xfrm>
          <a:prstGeom prst="rect">
            <a:avLst/>
          </a:prstGeom>
          <a:gradFill>
            <a:gsLst>
              <a:gs pos="0">
                <a:schemeClr val="accent1">
                  <a:alpha val="32000"/>
                </a:schemeClr>
              </a:gs>
              <a:gs pos="70000">
                <a:srgbClr val="000000">
                  <a:alpha val="0"/>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Freeform: Shape 21">
            <a:extLst>
              <a:ext uri="{FF2B5EF4-FFF2-40B4-BE49-F238E27FC236}">
                <a16:creationId xmlns:a16="http://schemas.microsoft.com/office/drawing/2014/main" id="{45AE1D08-1ED1-4F59-B42F-4D8EA33DC8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560516" y="900984"/>
            <a:ext cx="3606227" cy="3066500"/>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Rectangle 23">
            <a:extLst>
              <a:ext uri="{FF2B5EF4-FFF2-40B4-BE49-F238E27FC236}">
                <a16:creationId xmlns:a16="http://schemas.microsoft.com/office/drawing/2014/main" id="{9A79B912-88EA-4640-BDEB-51B3B11A02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19674" y="1994553"/>
            <a:ext cx="3266696" cy="3030557"/>
          </a:xfrm>
          <a:prstGeom prst="rect">
            <a:avLst/>
          </a:prstGeom>
          <a:gradFill>
            <a:gsLst>
              <a:gs pos="0">
                <a:schemeClr val="accent1">
                  <a:alpha val="24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p:cNvSpPr>
            <a:spLocks noGrp="1"/>
          </p:cNvSpPr>
          <p:nvPr>
            <p:ph type="title"/>
          </p:nvPr>
        </p:nvSpPr>
        <p:spPr>
          <a:xfrm>
            <a:off x="496635" y="2146853"/>
            <a:ext cx="2281352" cy="2180851"/>
          </a:xfrm>
        </p:spPr>
        <p:txBody>
          <a:bodyPr vert="horz" lIns="91440" tIns="45720" rIns="91440" bIns="45720" rtlCol="0" anchor="t">
            <a:normAutofit/>
          </a:bodyPr>
          <a:lstStyle/>
          <a:p>
            <a:pPr defTabSz="914400">
              <a:spcAft>
                <a:spcPts val="450"/>
              </a:spcAft>
            </a:pPr>
            <a:r>
              <a:rPr lang="en-US" sz="3000" b="1" dirty="0">
                <a:solidFill>
                  <a:srgbClr val="FFFFFF"/>
                </a:solidFill>
              </a:rPr>
              <a:t>TENTATIVE RESULTS/ EXPECTED OUTCOME</a:t>
            </a:r>
          </a:p>
        </p:txBody>
      </p:sp>
      <p:sp>
        <p:nvSpPr>
          <p:cNvPr id="6" name="Footer Placeholder 4"/>
          <p:cNvSpPr>
            <a:spLocks noGrp="1"/>
          </p:cNvSpPr>
          <p:nvPr>
            <p:ph type="ftr" sz="quarter" idx="11"/>
          </p:nvPr>
        </p:nvSpPr>
        <p:spPr>
          <a:xfrm rot="5400000">
            <a:off x="-1371600" y="1501902"/>
            <a:ext cx="3086100" cy="273843"/>
          </a:xfrm>
        </p:spPr>
        <p:txBody>
          <a:bodyPr vert="horz" lIns="91440" tIns="45720" rIns="91440" bIns="45720" rtlCol="0" anchor="ctr">
            <a:normAutofit/>
          </a:bodyPr>
          <a:lstStyle/>
          <a:p>
            <a:pPr algn="l" defTabSz="914400">
              <a:spcAft>
                <a:spcPts val="600"/>
              </a:spcAft>
            </a:pPr>
            <a:r>
              <a:rPr lang="en-US" sz="800" kern="1200">
                <a:solidFill>
                  <a:srgbClr val="FFFFFF"/>
                </a:solidFill>
                <a:latin typeface="+mn-lt"/>
                <a:ea typeface="+mn-ea"/>
                <a:cs typeface="+mn-cs"/>
              </a:rPr>
              <a:t>CYB23IN101 REVIEW - I</a:t>
            </a:r>
          </a:p>
        </p:txBody>
      </p:sp>
      <p:pic>
        <p:nvPicPr>
          <p:cNvPr id="4" name="Picture 3">
            <a:extLst>
              <a:ext uri="{FF2B5EF4-FFF2-40B4-BE49-F238E27FC236}">
                <a16:creationId xmlns:a16="http://schemas.microsoft.com/office/drawing/2014/main" id="{81971DDF-6E13-1AB8-53CE-32FC4F9E3A40}"/>
              </a:ext>
            </a:extLst>
          </p:cNvPr>
          <p:cNvPicPr>
            <a:picLocks noChangeAspect="1"/>
          </p:cNvPicPr>
          <p:nvPr/>
        </p:nvPicPr>
        <p:blipFill>
          <a:blip r:embed="rId2"/>
          <a:stretch>
            <a:fillRect/>
          </a:stretch>
        </p:blipFill>
        <p:spPr>
          <a:xfrm>
            <a:off x="4152042" y="359034"/>
            <a:ext cx="1839421" cy="2021343"/>
          </a:xfrm>
          <a:prstGeom prst="rect">
            <a:avLst/>
          </a:prstGeom>
        </p:spPr>
      </p:pic>
      <p:pic>
        <p:nvPicPr>
          <p:cNvPr id="11" name="Picture 10">
            <a:extLst>
              <a:ext uri="{FF2B5EF4-FFF2-40B4-BE49-F238E27FC236}">
                <a16:creationId xmlns:a16="http://schemas.microsoft.com/office/drawing/2014/main" id="{FFBBBBA2-8392-2003-C1F3-51BB1BAC8447}"/>
              </a:ext>
            </a:extLst>
          </p:cNvPr>
          <p:cNvPicPr>
            <a:picLocks noChangeAspect="1"/>
          </p:cNvPicPr>
          <p:nvPr/>
        </p:nvPicPr>
        <p:blipFill>
          <a:blip r:embed="rId3"/>
          <a:stretch>
            <a:fillRect/>
          </a:stretch>
        </p:blipFill>
        <p:spPr>
          <a:xfrm>
            <a:off x="6220447" y="787400"/>
            <a:ext cx="2564650" cy="1592975"/>
          </a:xfrm>
          <a:prstGeom prst="rect">
            <a:avLst/>
          </a:prstGeom>
        </p:spPr>
      </p:pic>
      <p:pic>
        <p:nvPicPr>
          <p:cNvPr id="8" name="Picture 7">
            <a:extLst>
              <a:ext uri="{FF2B5EF4-FFF2-40B4-BE49-F238E27FC236}">
                <a16:creationId xmlns:a16="http://schemas.microsoft.com/office/drawing/2014/main" id="{645AFACE-FE3C-FC3B-C14E-EFC4411CC1A4}"/>
              </a:ext>
            </a:extLst>
          </p:cNvPr>
          <p:cNvPicPr>
            <a:picLocks noChangeAspect="1"/>
          </p:cNvPicPr>
          <p:nvPr/>
        </p:nvPicPr>
        <p:blipFill>
          <a:blip r:embed="rId4"/>
          <a:stretch>
            <a:fillRect/>
          </a:stretch>
        </p:blipFill>
        <p:spPr>
          <a:xfrm>
            <a:off x="3896813" y="2571750"/>
            <a:ext cx="4442251" cy="2165598"/>
          </a:xfrm>
          <a:prstGeom prst="rect">
            <a:avLst/>
          </a:prstGeom>
        </p:spPr>
      </p:pic>
      <p:sp>
        <p:nvSpPr>
          <p:cNvPr id="2" name="Date Placeholder 1"/>
          <p:cNvSpPr>
            <a:spLocks noGrp="1"/>
          </p:cNvSpPr>
          <p:nvPr>
            <p:ph type="dt" sz="half" idx="10"/>
          </p:nvPr>
        </p:nvSpPr>
        <p:spPr>
          <a:xfrm>
            <a:off x="6727698" y="4839705"/>
            <a:ext cx="2057400" cy="273843"/>
          </a:xfrm>
        </p:spPr>
        <p:txBody>
          <a:bodyPr vert="horz" lIns="91440" tIns="45720" rIns="91440" bIns="45720" rtlCol="0" anchor="ctr">
            <a:normAutofit/>
          </a:bodyPr>
          <a:lstStyle/>
          <a:p>
            <a:pPr algn="r" defTabSz="914400">
              <a:spcAft>
                <a:spcPts val="600"/>
              </a:spcAft>
            </a:pPr>
            <a:fld id="{A308CB6B-BD60-4065-AB97-7D0371657514}" type="datetime3">
              <a:rPr lang="en-US" sz="800">
                <a:solidFill>
                  <a:schemeClr val="tx1">
                    <a:lumMod val="50000"/>
                    <a:lumOff val="50000"/>
                  </a:schemeClr>
                </a:solidFill>
              </a:rPr>
              <a:pPr algn="r" defTabSz="914400">
                <a:spcAft>
                  <a:spcPts val="600"/>
                </a:spcAft>
              </a:pPr>
              <a:t>5 June 2026</a:t>
            </a:fld>
            <a:endParaRPr lang="en-US" sz="800">
              <a:solidFill>
                <a:schemeClr val="tx1">
                  <a:lumMod val="50000"/>
                  <a:lumOff val="50000"/>
                </a:schemeClr>
              </a:solidFill>
            </a:endParaRPr>
          </a:p>
        </p:txBody>
      </p:sp>
      <p:sp>
        <p:nvSpPr>
          <p:cNvPr id="7" name="Slide Number Placeholder 6"/>
          <p:cNvSpPr>
            <a:spLocks noGrp="1"/>
          </p:cNvSpPr>
          <p:nvPr>
            <p:ph type="sldNum" sz="quarter" idx="12"/>
          </p:nvPr>
        </p:nvSpPr>
        <p:spPr>
          <a:xfrm>
            <a:off x="8778240" y="4839705"/>
            <a:ext cx="336042" cy="274320"/>
          </a:xfrm>
        </p:spPr>
        <p:txBody>
          <a:bodyPr vert="horz" lIns="91440" tIns="45720" rIns="91440" bIns="45720" rtlCol="0" anchor="ctr">
            <a:normAutofit/>
          </a:bodyPr>
          <a:lstStyle/>
          <a:p>
            <a:pPr defTabSz="914400">
              <a:spcAft>
                <a:spcPts val="600"/>
              </a:spcAft>
            </a:pPr>
            <a:fld id="{D57F1E4F-1CFF-5643-939E-217C01CDF565}" type="slidenum">
              <a:rPr lang="en-US" sz="800">
                <a:solidFill>
                  <a:schemeClr val="tx1">
                    <a:lumMod val="50000"/>
                    <a:lumOff val="50000"/>
                  </a:schemeClr>
                </a:solidFill>
              </a:rPr>
              <a:pPr defTabSz="914400">
                <a:spcAft>
                  <a:spcPts val="600"/>
                </a:spcAft>
              </a:pPr>
              <a:t>11</a:t>
            </a:fld>
            <a:endParaRPr lang="en-US" sz="800">
              <a:solidFill>
                <a:schemeClr val="tx1">
                  <a:lumMod val="50000"/>
                  <a:lumOff val="50000"/>
                </a:schemeClr>
              </a:solidFill>
            </a:endParaRPr>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D57F1E4F-1CFF-5643-939E-217C01CDF565}" type="slidenum">
              <a:rPr lang="en-US" smtClean="0"/>
              <a:t>12</a:t>
            </a:fld>
            <a:endParaRPr lang="en-US" dirty="0"/>
          </a:p>
        </p:txBody>
      </p:sp>
      <p:sp>
        <p:nvSpPr>
          <p:cNvPr id="10" name="Title 1"/>
          <p:cNvSpPr>
            <a:spLocks noGrp="1"/>
          </p:cNvSpPr>
          <p:nvPr>
            <p:ph type="title"/>
          </p:nvPr>
        </p:nvSpPr>
        <p:spPr>
          <a:xfrm>
            <a:off x="1" y="132093"/>
            <a:ext cx="8515350" cy="433523"/>
          </a:xfrm>
        </p:spPr>
        <p:txBody>
          <a:bodyPr>
            <a:noAutofit/>
          </a:bodyPr>
          <a:lstStyle/>
          <a:p>
            <a:pPr algn="ctr">
              <a:lnSpc>
                <a:spcPct val="107000"/>
              </a:lnSpc>
              <a:spcBef>
                <a:spcPts val="0"/>
              </a:spcBef>
              <a:spcAft>
                <a:spcPts val="450"/>
              </a:spcAft>
            </a:pPr>
            <a:r>
              <a:rPr lang="en-US" sz="2800" b="1" dirty="0">
                <a:solidFill>
                  <a:srgbClr val="A50021"/>
                </a:solidFill>
                <a:latin typeface="Times New Roman" panose="02020603050405020304" pitchFamily="18" charset="0"/>
                <a:cs typeface="Times New Roman" panose="02020603050405020304" pitchFamily="18" charset="0"/>
              </a:rPr>
              <a:t>CONCLUSION</a:t>
            </a:r>
          </a:p>
        </p:txBody>
      </p:sp>
      <p:sp>
        <p:nvSpPr>
          <p:cNvPr id="4" name="TextBox 3"/>
          <p:cNvSpPr txBox="1"/>
          <p:nvPr/>
        </p:nvSpPr>
        <p:spPr>
          <a:xfrm>
            <a:off x="191068" y="893929"/>
            <a:ext cx="8141460" cy="1077218"/>
          </a:xfrm>
          <a:prstGeom prst="rect">
            <a:avLst/>
          </a:prstGeom>
          <a:noFill/>
        </p:spPr>
        <p:txBody>
          <a:bodyPr wrap="none" rtlCol="0">
            <a:spAutoFit/>
          </a:bodyPr>
          <a:lstStyle/>
          <a:p>
            <a:r>
              <a:rPr lang="en-GB" sz="1600" dirty="0">
                <a:latin typeface="Times New Roman" pitchFamily="18" charset="0"/>
                <a:cs typeface="Times New Roman" pitchFamily="18" charset="0"/>
              </a:rPr>
              <a:t>#Conclusion section must be present in all review presentations.</a:t>
            </a:r>
          </a:p>
          <a:p>
            <a:r>
              <a:rPr lang="en-GB" sz="1600" dirty="0">
                <a:latin typeface="Times New Roman" pitchFamily="18" charset="0"/>
                <a:cs typeface="Times New Roman" pitchFamily="18" charset="0"/>
              </a:rPr>
              <a:t># For first review, specify the work progressed until 13 MAR 25/ 15 MARCH 25 in bullet points</a:t>
            </a:r>
          </a:p>
          <a:p>
            <a:pPr marL="285750" indent="-285750">
              <a:buFont typeface="Arial" pitchFamily="34" charset="0"/>
              <a:buChar char="•"/>
            </a:pPr>
            <a:r>
              <a:rPr lang="en-GB" sz="1600" dirty="0">
                <a:latin typeface="Times New Roman" pitchFamily="18" charset="0"/>
                <a:cs typeface="Times New Roman" pitchFamily="18" charset="0"/>
              </a:rPr>
              <a:t>Like status of Review of Literature, </a:t>
            </a:r>
          </a:p>
          <a:p>
            <a:pPr marL="285750" indent="-285750">
              <a:buFont typeface="Arial" pitchFamily="34" charset="0"/>
              <a:buChar char="•"/>
            </a:pPr>
            <a:r>
              <a:rPr lang="en-GB" sz="1600" dirty="0">
                <a:latin typeface="Times New Roman" pitchFamily="18" charset="0"/>
                <a:cs typeface="Times New Roman" pitchFamily="18" charset="0"/>
              </a:rPr>
              <a:t>Progress in implementation etc.</a:t>
            </a:r>
          </a:p>
        </p:txBody>
      </p:sp>
      <p:sp>
        <p:nvSpPr>
          <p:cNvPr id="2" name="Date Placeholder 1"/>
          <p:cNvSpPr>
            <a:spLocks noGrp="1"/>
          </p:cNvSpPr>
          <p:nvPr>
            <p:ph type="dt" sz="half" idx="10"/>
          </p:nvPr>
        </p:nvSpPr>
        <p:spPr/>
        <p:txBody>
          <a:bodyPr/>
          <a:lstStyle/>
          <a:p>
            <a:fld id="{2FFD4BED-E319-4DA0-96BF-17657C6E3A60}" type="datetime3">
              <a:rPr lang="en-US" smtClean="0"/>
              <a:t>5 June 2026</a:t>
            </a:fld>
            <a:endParaRPr lang="en-US" dirty="0"/>
          </a:p>
        </p:txBody>
      </p:sp>
      <p:sp>
        <p:nvSpPr>
          <p:cNvPr id="8" name="Footer Placeholder 4"/>
          <p:cNvSpPr>
            <a:spLocks noGrp="1"/>
          </p:cNvSpPr>
          <p:nvPr>
            <p:ph type="ftr" sz="quarter" idx="11"/>
          </p:nvPr>
        </p:nvSpPr>
        <p:spPr>
          <a:xfrm>
            <a:off x="3028950" y="4767264"/>
            <a:ext cx="3086100" cy="273844"/>
          </a:xfrm>
        </p:spPr>
        <p:txBody>
          <a:bodyPr/>
          <a:lstStyle/>
          <a:p>
            <a:r>
              <a:rPr lang="en-US" dirty="0"/>
              <a:t>CYB23IN101 REVIEW - I</a:t>
            </a:r>
          </a:p>
        </p:txBody>
      </p:sp>
    </p:spTree>
    <p:extLst>
      <p:ext uri="{BB962C8B-B14F-4D97-AF65-F5344CB8AC3E}">
        <p14:creationId xmlns:p14="http://schemas.microsoft.com/office/powerpoint/2010/main" val="1524044671"/>
      </p:ext>
    </p:extLst>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D57F1E4F-1CFF-5643-939E-217C01CDF565}" type="slidenum">
              <a:rPr lang="en-US" smtClean="0"/>
              <a:t>13</a:t>
            </a:fld>
            <a:endParaRPr lang="en-US" dirty="0"/>
          </a:p>
        </p:txBody>
      </p:sp>
      <p:sp>
        <p:nvSpPr>
          <p:cNvPr id="10" name="Title 1"/>
          <p:cNvSpPr>
            <a:spLocks noGrp="1"/>
          </p:cNvSpPr>
          <p:nvPr>
            <p:ph type="title"/>
          </p:nvPr>
        </p:nvSpPr>
        <p:spPr>
          <a:xfrm>
            <a:off x="628650" y="0"/>
            <a:ext cx="8236391" cy="719531"/>
          </a:xfrm>
        </p:spPr>
        <p:txBody>
          <a:bodyPr>
            <a:noAutofit/>
          </a:bodyPr>
          <a:lstStyle/>
          <a:p>
            <a:pPr algn="ctr">
              <a:lnSpc>
                <a:spcPct val="107000"/>
              </a:lnSpc>
              <a:spcBef>
                <a:spcPts val="0"/>
              </a:spcBef>
              <a:spcAft>
                <a:spcPts val="450"/>
              </a:spcAft>
            </a:pPr>
            <a:r>
              <a:rPr lang="en-US" sz="2000" b="1" dirty="0">
                <a:solidFill>
                  <a:srgbClr val="A50021"/>
                </a:solidFill>
                <a:latin typeface="Times New Roman" panose="02020603050405020304" pitchFamily="18" charset="0"/>
                <a:cs typeface="Times New Roman" panose="02020603050405020304" pitchFamily="18" charset="0"/>
              </a:rPr>
              <a:t>REFERENCES </a:t>
            </a:r>
            <a:br>
              <a:rPr lang="en-US" sz="2000" b="1" dirty="0">
                <a:solidFill>
                  <a:srgbClr val="A50021"/>
                </a:solidFill>
                <a:latin typeface="Times New Roman" panose="02020603050405020304" pitchFamily="18" charset="0"/>
                <a:cs typeface="Times New Roman" panose="02020603050405020304" pitchFamily="18" charset="0"/>
              </a:rPr>
            </a:br>
            <a:endParaRPr lang="en-US" sz="2000" b="1" dirty="0">
              <a:solidFill>
                <a:srgbClr val="A5002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D25DF74A-E01D-21FB-F9CB-9A61BD4D7EFE}"/>
              </a:ext>
            </a:extLst>
          </p:cNvPr>
          <p:cNvSpPr txBox="1"/>
          <p:nvPr/>
        </p:nvSpPr>
        <p:spPr>
          <a:xfrm>
            <a:off x="78853" y="452831"/>
            <a:ext cx="8986294" cy="4493538"/>
          </a:xfrm>
          <a:prstGeom prst="rect">
            <a:avLst/>
          </a:prstGeom>
          <a:noFill/>
        </p:spPr>
        <p:txBody>
          <a:bodyPr wrap="square" rtlCol="0">
            <a:spAutoFit/>
          </a:bodyPr>
          <a:lstStyle/>
          <a:p>
            <a:pPr algn="just"/>
            <a:r>
              <a:rPr lang="en-IN" sz="1100" dirty="0"/>
              <a:t>[1] R. Nguyen, "Advancing Nursing Education Through Gamification," </a:t>
            </a:r>
            <a:r>
              <a:rPr lang="en-IN" sz="1100" i="1" dirty="0"/>
              <a:t>Am. J. Nurs.</a:t>
            </a:r>
            <a:r>
              <a:rPr lang="en-IN" sz="1100" dirty="0"/>
              <a:t>, vol. 126, no. 6, pp. 8-9, Jun 2026.</a:t>
            </a:r>
          </a:p>
          <a:p>
            <a:pPr algn="just"/>
            <a:r>
              <a:rPr lang="en-IN" sz="1100" dirty="0"/>
              <a:t>[2] A. Azoulay and F. Lim, "The Impact of Gamification on Academic Performance: An Integrative Review," </a:t>
            </a:r>
            <a:r>
              <a:rPr lang="en-IN" sz="1100" i="1" dirty="0"/>
              <a:t>Nurs. Educ. </a:t>
            </a:r>
            <a:r>
              <a:rPr lang="en-IN" sz="1100" i="1" dirty="0" err="1"/>
              <a:t>Perspect</a:t>
            </a:r>
            <a:r>
              <a:rPr lang="en-IN" sz="1100" i="1" dirty="0"/>
              <a:t>.</a:t>
            </a:r>
            <a:r>
              <a:rPr lang="en-IN" sz="1100" dirty="0"/>
              <a:t>, vol. 47, no. 3, pp. 160-167, May 2026.</a:t>
            </a:r>
          </a:p>
          <a:p>
            <a:pPr algn="just"/>
            <a:r>
              <a:rPr lang="en-IN" sz="1100" dirty="0"/>
              <a:t>[3] S. </a:t>
            </a:r>
            <a:r>
              <a:rPr lang="en-IN" sz="1100" dirty="0" err="1"/>
              <a:t>Aalaei</a:t>
            </a:r>
            <a:r>
              <a:rPr lang="en-IN" sz="1100" dirty="0"/>
              <a:t>, et al., "Design and evaluation of a gamified mobile application for teaching cardiac rhythm interpretation," </a:t>
            </a:r>
            <a:r>
              <a:rPr lang="en-IN" sz="1100" i="1" dirty="0"/>
              <a:t>BMC Med. Educ.</a:t>
            </a:r>
            <a:r>
              <a:rPr lang="en-IN" sz="1100" dirty="0"/>
              <a:t>, vol. 26, no. 1, p. 882, Apr 2026.</a:t>
            </a:r>
          </a:p>
          <a:p>
            <a:pPr algn="just"/>
            <a:r>
              <a:rPr lang="en-IN" sz="1100" dirty="0"/>
              <a:t>[4] M. </a:t>
            </a:r>
            <a:r>
              <a:rPr lang="en-IN" sz="1100" dirty="0" err="1"/>
              <a:t>AlMekkawi</a:t>
            </a:r>
            <a:r>
              <a:rPr lang="en-IN" sz="1100" dirty="0"/>
              <a:t>, et al., "Game-based learning in undergraduate nursing education: A systematic review," </a:t>
            </a:r>
            <a:r>
              <a:rPr lang="en-IN" sz="1100" i="1" dirty="0"/>
              <a:t>Nurse Educ. Today</a:t>
            </a:r>
            <a:r>
              <a:rPr lang="en-IN" sz="1100" dirty="0"/>
              <a:t>, vol. 164, p. 107124, Sep 2026.</a:t>
            </a:r>
          </a:p>
          <a:p>
            <a:pPr algn="just"/>
            <a:r>
              <a:rPr lang="en-IN" sz="1100" dirty="0"/>
              <a:t>[5] V. I. Bahar, et al., "Effectiveness of Serious Game Activities in Raising Palliative Care Awareness," </a:t>
            </a:r>
            <a:r>
              <a:rPr lang="en-IN" sz="1100" i="1" dirty="0" err="1"/>
              <a:t>Comput</a:t>
            </a:r>
            <a:r>
              <a:rPr lang="en-IN" sz="1100" i="1" dirty="0"/>
              <a:t>. Inform. Nurs.</a:t>
            </a:r>
            <a:r>
              <a:rPr lang="en-IN" sz="1100" dirty="0"/>
              <a:t>, vol. 44, no. 6, pp. 14-22, Jun 2026.</a:t>
            </a:r>
          </a:p>
          <a:p>
            <a:pPr algn="just"/>
            <a:r>
              <a:rPr lang="en-IN" sz="1100" dirty="0"/>
              <a:t>[6] K. McMillan, et al., "Gamification design and engagement in preregistration nurse education," </a:t>
            </a:r>
            <a:r>
              <a:rPr lang="en-IN" sz="1100" i="1" dirty="0"/>
              <a:t>BMJ Open</a:t>
            </a:r>
            <a:r>
              <a:rPr lang="en-IN" sz="1100" dirty="0"/>
              <a:t>, vol. 16, no. 1, p. e107037, Jan 2026.</a:t>
            </a:r>
          </a:p>
          <a:p>
            <a:pPr algn="just"/>
            <a:r>
              <a:rPr lang="en-IN" sz="1100" dirty="0"/>
              <a:t>[7] M. Yang, et al., "Effectiveness of escape room in Chinese nursing education: A systematic review," </a:t>
            </a:r>
            <a:r>
              <a:rPr lang="en-IN" sz="1100" i="1" dirty="0"/>
              <a:t>BMC Nurs.</a:t>
            </a:r>
            <a:r>
              <a:rPr lang="en-IN" sz="1100" dirty="0"/>
              <a:t>, vol. 25, no. 1, p. 201, Feb 2026.</a:t>
            </a:r>
          </a:p>
          <a:p>
            <a:pPr algn="just"/>
            <a:r>
              <a:rPr lang="en-IN" sz="1100" dirty="0"/>
              <a:t>[8] Y. G. S. Barbalho, et al., "A Serious Game (Health Unit in Focus) for Older Adults' Health," </a:t>
            </a:r>
            <a:r>
              <a:rPr lang="en-IN" sz="1100" i="1" dirty="0"/>
              <a:t>JMIR Serious Games</a:t>
            </a:r>
            <a:r>
              <a:rPr lang="en-IN" sz="1100" dirty="0"/>
              <a:t>, vol. 13, no. 1, p. e66289, Nov 2025.</a:t>
            </a:r>
          </a:p>
          <a:p>
            <a:pPr algn="just"/>
            <a:r>
              <a:rPr lang="en-IN" sz="1100" dirty="0"/>
              <a:t>[9] N. Aktaş and Y. </a:t>
            </a:r>
            <a:r>
              <a:rPr lang="en-IN" sz="1100" dirty="0" err="1"/>
              <a:t>Sazak</a:t>
            </a:r>
            <a:r>
              <a:rPr lang="en-IN" sz="1100" dirty="0"/>
              <a:t>, "Use of an escape room-based learning strategy to enhance pharmacology knowledge," </a:t>
            </a:r>
            <a:r>
              <a:rPr lang="en-IN" sz="1100" i="1" dirty="0"/>
              <a:t>BMC Nurs.</a:t>
            </a:r>
            <a:r>
              <a:rPr lang="en-IN" sz="1100" dirty="0"/>
              <a:t>, vol. 25, no. 1, p. 106, Dec 2025.</a:t>
            </a:r>
          </a:p>
          <a:p>
            <a:pPr algn="just"/>
            <a:r>
              <a:rPr lang="en-IN" sz="1100" dirty="0"/>
              <a:t>[10] M. White and T. Shellenbarger, "Gamification of nursing education with digital badges," </a:t>
            </a:r>
            <a:r>
              <a:rPr lang="en-IN" sz="1100" i="1" dirty="0"/>
              <a:t>Nurse Educator</a:t>
            </a:r>
            <a:r>
              <a:rPr lang="en-IN" sz="1100" dirty="0"/>
              <a:t>, vol. 43, no. 2, pp. 78-82, Mar 2018.</a:t>
            </a:r>
          </a:p>
          <a:p>
            <a:pPr algn="just"/>
            <a:r>
              <a:rPr lang="en-IN" sz="1100" dirty="0"/>
              <a:t>[11] S. Mishra, et al., "</a:t>
            </a:r>
            <a:r>
              <a:rPr lang="en-IN" sz="1100" dirty="0" err="1"/>
              <a:t>QuestMitra</a:t>
            </a:r>
            <a:r>
              <a:rPr lang="en-IN" sz="1100" dirty="0"/>
              <a:t>: A Scalable Multiplayer Gamified Quiz Platform using Node.js and Socket.IO," </a:t>
            </a:r>
            <a:r>
              <a:rPr lang="en-IN" sz="1100" i="1" dirty="0"/>
              <a:t>Int. J. </a:t>
            </a:r>
            <a:r>
              <a:rPr lang="en-IN" sz="1100" i="1" dirty="0" err="1"/>
              <a:t>Comput</a:t>
            </a:r>
            <a:r>
              <a:rPr lang="en-IN" sz="1100" i="1" dirty="0"/>
              <a:t>. Sci. Eng.</a:t>
            </a:r>
            <a:r>
              <a:rPr lang="en-IN" sz="1100" dirty="0"/>
              <a:t>, vol. 18, no. 2, pp. 245-251, Feb 2026.</a:t>
            </a:r>
          </a:p>
          <a:p>
            <a:pPr algn="just"/>
            <a:r>
              <a:rPr lang="en-IN" sz="1100" dirty="0"/>
              <a:t>[12] A. Kumar, et al., "Design and Development of a Real-Time Gamified Quiz Application using React and Socket.IO," </a:t>
            </a:r>
            <a:r>
              <a:rPr lang="en-IN" sz="1100" i="1" dirty="0"/>
              <a:t>Int. J. </a:t>
            </a:r>
            <a:r>
              <a:rPr lang="en-IN" sz="1100" i="1" dirty="0" err="1"/>
              <a:t>Innov</a:t>
            </a:r>
            <a:r>
              <a:rPr lang="en-IN" sz="1100" i="1" dirty="0"/>
              <a:t>. Res. </a:t>
            </a:r>
            <a:r>
              <a:rPr lang="en-IN" sz="1100" i="1" dirty="0" err="1"/>
              <a:t>Comput</a:t>
            </a:r>
            <a:r>
              <a:rPr lang="en-IN" sz="1100" i="1" dirty="0"/>
              <a:t>. Commun. Eng.</a:t>
            </a:r>
            <a:r>
              <a:rPr lang="en-IN" sz="1100" dirty="0"/>
              <a:t>, vol. 13, no. 8, pp. 14671-14678, Aug 2025.</a:t>
            </a:r>
          </a:p>
          <a:p>
            <a:pPr algn="just"/>
            <a:r>
              <a:rPr lang="en-IN" sz="1100" dirty="0"/>
              <a:t>[13] J. Silva and M. Santos, "Comparing SQLite and Embedded Databases for Storage in Web-Based LMS," </a:t>
            </a:r>
            <a:r>
              <a:rPr lang="en-IN" sz="1100" i="1" dirty="0"/>
              <a:t>J. </a:t>
            </a:r>
            <a:r>
              <a:rPr lang="en-IN" sz="1100" i="1" dirty="0" err="1"/>
              <a:t>Softw</a:t>
            </a:r>
            <a:r>
              <a:rPr lang="en-IN" sz="1100" i="1" dirty="0"/>
              <a:t>. Eng. Appl.</a:t>
            </a:r>
            <a:r>
              <a:rPr lang="en-IN" sz="1100" dirty="0"/>
              <a:t>, vol. 16, no. 4, pp. 112-120, Apr 2023.</a:t>
            </a:r>
          </a:p>
          <a:p>
            <a:pPr algn="just"/>
            <a:r>
              <a:rPr lang="en-IN" sz="1100" dirty="0"/>
              <a:t>[14] L. Chen and X. Wang, "Full-Duplex Communication in Browser-Based Multiplayer Games: </a:t>
            </a:r>
            <a:r>
              <a:rPr lang="en-IN" sz="1100" dirty="0" err="1"/>
              <a:t>WebSockets</a:t>
            </a:r>
            <a:r>
              <a:rPr lang="en-IN" sz="1100" dirty="0"/>
              <a:t> vs. WebRTC," </a:t>
            </a:r>
            <a:r>
              <a:rPr lang="en-IN" sz="1100" i="1" dirty="0"/>
              <a:t>IEEE Trans. Games</a:t>
            </a:r>
            <a:r>
              <a:rPr lang="en-IN" sz="1100" dirty="0"/>
              <a:t>, vol. 17, no. 3, pp. 312-320, Sep 2024.</a:t>
            </a:r>
          </a:p>
          <a:p>
            <a:pPr algn="just"/>
            <a:r>
              <a:rPr lang="en-IN" sz="1100" dirty="0"/>
              <a:t>[15] D. Jones and R. Smith, "Developing Interactive Single Page Applications for Medical Training: A React-Based Approach," </a:t>
            </a:r>
            <a:r>
              <a:rPr lang="en-IN" sz="1100" i="1" dirty="0" err="1"/>
              <a:t>Comput</a:t>
            </a:r>
            <a:r>
              <a:rPr lang="en-IN" sz="1100" i="1" dirty="0"/>
              <a:t>. Educ.</a:t>
            </a:r>
            <a:r>
              <a:rPr lang="en-IN" sz="1100" dirty="0"/>
              <a:t>, vol. 188, p. 104581, Oct 2022.</a:t>
            </a:r>
          </a:p>
          <a:p>
            <a:pPr algn="just"/>
            <a:endParaRPr lang="en-IN" sz="1100" dirty="0"/>
          </a:p>
        </p:txBody>
      </p:sp>
      <p:sp>
        <p:nvSpPr>
          <p:cNvPr id="3" name="Date Placeholder 2"/>
          <p:cNvSpPr>
            <a:spLocks noGrp="1"/>
          </p:cNvSpPr>
          <p:nvPr>
            <p:ph type="dt" sz="half" idx="10"/>
          </p:nvPr>
        </p:nvSpPr>
        <p:spPr/>
        <p:txBody>
          <a:bodyPr/>
          <a:lstStyle/>
          <a:p>
            <a:fld id="{756D0CD2-9846-482E-BF67-7C2753030DC2}" type="datetime3">
              <a:rPr lang="en-US" smtClean="0"/>
              <a:t>5 June 2026</a:t>
            </a:fld>
            <a:endParaRPr lang="en-US" dirty="0"/>
          </a:p>
        </p:txBody>
      </p:sp>
      <p:sp>
        <p:nvSpPr>
          <p:cNvPr id="9" name="Footer Placeholder 4"/>
          <p:cNvSpPr>
            <a:spLocks noGrp="1"/>
          </p:cNvSpPr>
          <p:nvPr>
            <p:ph type="ftr" sz="quarter" idx="11"/>
          </p:nvPr>
        </p:nvSpPr>
        <p:spPr>
          <a:xfrm>
            <a:off x="3028950" y="4767264"/>
            <a:ext cx="3086100" cy="273844"/>
          </a:xfrm>
        </p:spPr>
        <p:txBody>
          <a:bodyPr/>
          <a:lstStyle/>
          <a:p>
            <a:r>
              <a:rPr lang="en-US" dirty="0"/>
              <a:t>CYB23IN301 REVIEW - I</a:t>
            </a:r>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D57F1E4F-1CFF-5643-939E-217C01CDF565}" type="slidenum">
              <a:rPr lang="en-US" smtClean="0"/>
              <a:t>14</a:t>
            </a:fld>
            <a:endParaRPr lang="en-US" dirty="0"/>
          </a:p>
        </p:txBody>
      </p:sp>
      <p:sp>
        <p:nvSpPr>
          <p:cNvPr id="10" name="Title 1"/>
          <p:cNvSpPr>
            <a:spLocks noGrp="1"/>
          </p:cNvSpPr>
          <p:nvPr>
            <p:ph type="title"/>
          </p:nvPr>
        </p:nvSpPr>
        <p:spPr>
          <a:xfrm>
            <a:off x="661948" y="132093"/>
            <a:ext cx="6083163" cy="433523"/>
          </a:xfrm>
        </p:spPr>
        <p:txBody>
          <a:bodyPr>
            <a:noAutofit/>
          </a:bodyPr>
          <a:lstStyle/>
          <a:p>
            <a:pPr>
              <a:lnSpc>
                <a:spcPct val="107000"/>
              </a:lnSpc>
              <a:spcBef>
                <a:spcPts val="0"/>
              </a:spcBef>
              <a:spcAft>
                <a:spcPts val="450"/>
              </a:spcAft>
            </a:pPr>
            <a:r>
              <a:rPr lang="en-US" sz="2800" b="1" dirty="0">
                <a:solidFill>
                  <a:srgbClr val="A50021"/>
                </a:solidFill>
                <a:latin typeface="Times New Roman" panose="02020603050405020304" pitchFamily="18" charset="0"/>
                <a:cs typeface="Times New Roman" panose="02020603050405020304" pitchFamily="18" charset="0"/>
              </a:rPr>
              <a:t>REFERENCES </a:t>
            </a:r>
          </a:p>
        </p:txBody>
      </p:sp>
      <p:sp>
        <p:nvSpPr>
          <p:cNvPr id="8" name="TextBox 7">
            <a:extLst>
              <a:ext uri="{FF2B5EF4-FFF2-40B4-BE49-F238E27FC236}">
                <a16:creationId xmlns:a16="http://schemas.microsoft.com/office/drawing/2014/main" id="{D25DF74A-E01D-21FB-F9CB-9A61BD4D7EFE}"/>
              </a:ext>
            </a:extLst>
          </p:cNvPr>
          <p:cNvSpPr txBox="1"/>
          <p:nvPr/>
        </p:nvSpPr>
        <p:spPr>
          <a:xfrm>
            <a:off x="812800" y="879231"/>
            <a:ext cx="7440246" cy="3139321"/>
          </a:xfrm>
          <a:prstGeom prst="rect">
            <a:avLst/>
          </a:prstGeom>
          <a:noFill/>
        </p:spPr>
        <p:txBody>
          <a:bodyPr wrap="square" rtlCol="0">
            <a:spAutoFit/>
          </a:bodyPr>
          <a:lstStyle/>
          <a:p>
            <a:pPr marL="285750" indent="-285750">
              <a:buFont typeface="Arial" panose="020B0604020202020204" pitchFamily="34" charset="0"/>
              <a:buChar char="•"/>
            </a:pPr>
            <a:r>
              <a:rPr lang="en-IN" dirty="0">
                <a:solidFill>
                  <a:srgbClr val="A50021"/>
                </a:solidFill>
                <a:latin typeface="Cambria" panose="02040503050406030204" pitchFamily="18" charset="0"/>
                <a:ea typeface="Cambria" panose="02040503050406030204" pitchFamily="18" charset="0"/>
              </a:rPr>
              <a:t>WEB REFERENCES:</a:t>
            </a:r>
          </a:p>
          <a:p>
            <a:r>
              <a:rPr lang="en-IN" dirty="0">
                <a:solidFill>
                  <a:srgbClr val="A50021"/>
                </a:solidFill>
                <a:latin typeface="Cambria" panose="02040503050406030204" pitchFamily="18" charset="0"/>
                <a:ea typeface="Cambria" panose="02040503050406030204" pitchFamily="18" charset="0"/>
              </a:rPr>
              <a:t>	</a:t>
            </a:r>
            <a:r>
              <a:rPr lang="en-IN" dirty="0" err="1">
                <a:solidFill>
                  <a:srgbClr val="A50021"/>
                </a:solidFill>
                <a:latin typeface="Cambria" panose="02040503050406030204" pitchFamily="18" charset="0"/>
                <a:ea typeface="Cambria" panose="02040503050406030204" pitchFamily="18" charset="0"/>
              </a:rPr>
              <a:t>Youtube</a:t>
            </a:r>
            <a:endParaRPr lang="en-IN" dirty="0">
              <a:solidFill>
                <a:srgbClr val="A50021"/>
              </a:solidFill>
              <a:latin typeface="Cambria" panose="02040503050406030204" pitchFamily="18" charset="0"/>
              <a:ea typeface="Cambria" panose="02040503050406030204" pitchFamily="18" charset="0"/>
            </a:endParaRPr>
          </a:p>
          <a:p>
            <a:r>
              <a:rPr lang="en-IN" dirty="0">
                <a:solidFill>
                  <a:srgbClr val="A50021"/>
                </a:solidFill>
                <a:latin typeface="Cambria" panose="02040503050406030204" pitchFamily="18" charset="0"/>
                <a:ea typeface="Cambria" panose="02040503050406030204" pitchFamily="18" charset="0"/>
              </a:rPr>
              <a:t>	AI Platforms(</a:t>
            </a:r>
            <a:r>
              <a:rPr lang="en-IN" dirty="0" err="1">
                <a:solidFill>
                  <a:srgbClr val="A50021"/>
                </a:solidFill>
                <a:latin typeface="Cambria" panose="02040503050406030204" pitchFamily="18" charset="0"/>
                <a:ea typeface="Cambria" panose="02040503050406030204" pitchFamily="18" charset="0"/>
              </a:rPr>
              <a:t>Gemini,ChatGPT,Claude,etc</a:t>
            </a:r>
            <a:r>
              <a:rPr lang="en-IN" dirty="0">
                <a:solidFill>
                  <a:srgbClr val="A50021"/>
                </a:solidFill>
                <a:latin typeface="Cambria" panose="02040503050406030204" pitchFamily="18" charset="0"/>
                <a:ea typeface="Cambria" panose="02040503050406030204" pitchFamily="18" charset="0"/>
              </a:rPr>
              <a:t>.,.)</a:t>
            </a:r>
          </a:p>
          <a:p>
            <a:r>
              <a:rPr lang="en-IN" dirty="0">
                <a:solidFill>
                  <a:srgbClr val="A50021"/>
                </a:solidFill>
                <a:latin typeface="Cambria" panose="02040503050406030204" pitchFamily="18" charset="0"/>
                <a:ea typeface="Cambria" panose="02040503050406030204" pitchFamily="18" charset="0"/>
              </a:rPr>
              <a:t>	AI Builders (Google AI Studio, </a:t>
            </a:r>
            <a:r>
              <a:rPr lang="en-IN" dirty="0" err="1">
                <a:solidFill>
                  <a:srgbClr val="A50021"/>
                </a:solidFill>
                <a:latin typeface="Cambria" panose="02040503050406030204" pitchFamily="18" charset="0"/>
                <a:ea typeface="Cambria" panose="02040503050406030204" pitchFamily="18" charset="0"/>
              </a:rPr>
              <a:t>Stitch.io,etc</a:t>
            </a:r>
            <a:r>
              <a:rPr lang="en-IN" dirty="0">
                <a:solidFill>
                  <a:srgbClr val="A50021"/>
                </a:solidFill>
                <a:latin typeface="Cambria" panose="02040503050406030204" pitchFamily="18" charset="0"/>
                <a:ea typeface="Cambria" panose="02040503050406030204" pitchFamily="18" charset="0"/>
              </a:rPr>
              <a:t>.,.)</a:t>
            </a:r>
          </a:p>
          <a:p>
            <a:r>
              <a:rPr lang="en-IN" dirty="0">
                <a:solidFill>
                  <a:srgbClr val="A50021"/>
                </a:solidFill>
                <a:latin typeface="Cambria" panose="02040503050406030204" pitchFamily="18" charset="0"/>
                <a:ea typeface="Cambria" panose="02040503050406030204" pitchFamily="18" charset="0"/>
              </a:rPr>
              <a:t>	Online Forums (</a:t>
            </a:r>
            <a:r>
              <a:rPr lang="en-IN" dirty="0" err="1">
                <a:solidFill>
                  <a:srgbClr val="A50021"/>
                </a:solidFill>
                <a:latin typeface="Cambria" panose="02040503050406030204" pitchFamily="18" charset="0"/>
                <a:ea typeface="Cambria" panose="02040503050406030204" pitchFamily="18" charset="0"/>
              </a:rPr>
              <a:t>Pinterest,Reddit</a:t>
            </a:r>
            <a:r>
              <a:rPr lang="en-IN" dirty="0">
                <a:solidFill>
                  <a:srgbClr val="A50021"/>
                </a:solidFill>
                <a:latin typeface="Cambria" panose="02040503050406030204" pitchFamily="18" charset="0"/>
                <a:ea typeface="Cambria" panose="02040503050406030204" pitchFamily="18" charset="0"/>
              </a:rPr>
              <a:t>)</a:t>
            </a:r>
          </a:p>
          <a:p>
            <a:r>
              <a:rPr lang="en-IN" dirty="0">
                <a:solidFill>
                  <a:srgbClr val="A50021"/>
                </a:solidFill>
                <a:latin typeface="Cambria" panose="02040503050406030204" pitchFamily="18" charset="0"/>
                <a:ea typeface="Cambria" panose="02040503050406030204" pitchFamily="18" charset="0"/>
              </a:rPr>
              <a:t>	Online Quiz Platforms (Kahoot, </a:t>
            </a:r>
            <a:r>
              <a:rPr lang="en-IN" dirty="0" err="1">
                <a:solidFill>
                  <a:srgbClr val="A50021"/>
                </a:solidFill>
                <a:latin typeface="Cambria" panose="02040503050406030204" pitchFamily="18" charset="0"/>
                <a:ea typeface="Cambria" panose="02040503050406030204" pitchFamily="18" charset="0"/>
              </a:rPr>
              <a:t>Wayground</a:t>
            </a:r>
            <a:r>
              <a:rPr lang="en-IN" dirty="0">
                <a:solidFill>
                  <a:srgbClr val="A50021"/>
                </a:solidFill>
                <a:latin typeface="Cambria" panose="02040503050406030204" pitchFamily="18" charset="0"/>
                <a:ea typeface="Cambria" panose="02040503050406030204" pitchFamily="18" charset="0"/>
              </a:rPr>
              <a:t>, </a:t>
            </a:r>
            <a:r>
              <a:rPr lang="en-IN" dirty="0" err="1">
                <a:solidFill>
                  <a:srgbClr val="A50021"/>
                </a:solidFill>
                <a:latin typeface="Cambria" panose="02040503050406030204" pitchFamily="18" charset="0"/>
                <a:ea typeface="Cambria" panose="02040503050406030204" pitchFamily="18" charset="0"/>
              </a:rPr>
              <a:t>Mentimeter,etc</a:t>
            </a:r>
            <a:r>
              <a:rPr lang="en-IN" dirty="0">
                <a:solidFill>
                  <a:srgbClr val="A50021"/>
                </a:solidFill>
                <a:latin typeface="Cambria" panose="02040503050406030204" pitchFamily="18" charset="0"/>
                <a:ea typeface="Cambria" panose="02040503050406030204" pitchFamily="18" charset="0"/>
              </a:rPr>
              <a:t>,.,)</a:t>
            </a:r>
          </a:p>
          <a:p>
            <a:r>
              <a:rPr lang="en-IN" dirty="0">
                <a:solidFill>
                  <a:srgbClr val="A50021"/>
                </a:solidFill>
                <a:latin typeface="Cambria" panose="02040503050406030204" pitchFamily="18" charset="0"/>
                <a:ea typeface="Cambria" panose="02040503050406030204" pitchFamily="18" charset="0"/>
              </a:rPr>
              <a:t>	Publishers (ResearchGate, ebc.uk.com, etc,.,)</a:t>
            </a:r>
          </a:p>
          <a:p>
            <a:r>
              <a:rPr lang="en-IN" dirty="0">
                <a:solidFill>
                  <a:srgbClr val="A50021"/>
                </a:solidFill>
                <a:latin typeface="Cambria" panose="02040503050406030204" pitchFamily="18" charset="0"/>
                <a:ea typeface="Cambria" panose="02040503050406030204" pitchFamily="18" charset="0"/>
              </a:rPr>
              <a:t>	</a:t>
            </a:r>
          </a:p>
          <a:p>
            <a:endParaRPr lang="en-IN" dirty="0">
              <a:solidFill>
                <a:srgbClr val="A50021"/>
              </a:solidFill>
              <a:latin typeface="Cambria" panose="02040503050406030204" pitchFamily="18" charset="0"/>
              <a:ea typeface="Cambria" panose="02040503050406030204" pitchFamily="18" charset="0"/>
            </a:endParaRPr>
          </a:p>
          <a:p>
            <a:endParaRPr lang="en-IN" dirty="0">
              <a:solidFill>
                <a:srgbClr val="A50021"/>
              </a:solidFill>
              <a:latin typeface="Cambria" panose="02040503050406030204" pitchFamily="18" charset="0"/>
              <a:ea typeface="Cambria" panose="02040503050406030204" pitchFamily="18" charset="0"/>
            </a:endParaRPr>
          </a:p>
          <a:p>
            <a:endParaRPr lang="en-IN" dirty="0"/>
          </a:p>
        </p:txBody>
      </p:sp>
      <p:sp>
        <p:nvSpPr>
          <p:cNvPr id="2" name="Date Placeholder 1"/>
          <p:cNvSpPr>
            <a:spLocks noGrp="1"/>
          </p:cNvSpPr>
          <p:nvPr>
            <p:ph type="dt" sz="half" idx="10"/>
          </p:nvPr>
        </p:nvSpPr>
        <p:spPr/>
        <p:txBody>
          <a:bodyPr/>
          <a:lstStyle/>
          <a:p>
            <a:fld id="{24A434A4-5EBF-4C57-A471-F9649EE16CF8}" type="datetime3">
              <a:rPr lang="en-US" smtClean="0"/>
              <a:t>5 June 2026</a:t>
            </a:fld>
            <a:endParaRPr lang="en-US" dirty="0"/>
          </a:p>
        </p:txBody>
      </p:sp>
      <p:sp>
        <p:nvSpPr>
          <p:cNvPr id="3" name="Footer Placeholder 2"/>
          <p:cNvSpPr>
            <a:spLocks noGrp="1"/>
          </p:cNvSpPr>
          <p:nvPr>
            <p:ph type="ftr" sz="quarter" idx="11"/>
          </p:nvPr>
        </p:nvSpPr>
        <p:spPr/>
        <p:txBody>
          <a:bodyPr/>
          <a:lstStyle/>
          <a:p>
            <a:r>
              <a:rPr lang="en-US" dirty="0"/>
              <a:t>CYB23IN101 REVIEW - I</a:t>
            </a:r>
          </a:p>
        </p:txBody>
      </p:sp>
    </p:spTree>
    <p:extLst>
      <p:ext uri="{BB962C8B-B14F-4D97-AF65-F5344CB8AC3E}">
        <p14:creationId xmlns:p14="http://schemas.microsoft.com/office/powerpoint/2010/main" val="3251182318"/>
      </p:ext>
    </p:extLst>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05893" y="1647109"/>
            <a:ext cx="3069771" cy="1092200"/>
          </a:xfrm>
        </p:spPr>
        <p:txBody>
          <a:bodyPr>
            <a:normAutofit/>
          </a:bodyPr>
          <a:lstStyle/>
          <a:p>
            <a:pPr algn="ctr"/>
            <a:r>
              <a:rPr lang="en-US" sz="3600" b="1" dirty="0">
                <a:solidFill>
                  <a:schemeClr val="accent5">
                    <a:lumMod val="50000"/>
                  </a:schemeClr>
                </a:solidFill>
                <a:latin typeface="Times New Roman" panose="02020603050405020304" pitchFamily="18" charset="0"/>
                <a:cs typeface="Times New Roman" panose="02020603050405020304" pitchFamily="18" charset="0"/>
              </a:rPr>
              <a:t>Thank you </a:t>
            </a:r>
          </a:p>
        </p:txBody>
      </p:sp>
      <p:sp>
        <p:nvSpPr>
          <p:cNvPr id="3" name="Slide Number Placeholder 2"/>
          <p:cNvSpPr>
            <a:spLocks noGrp="1"/>
          </p:cNvSpPr>
          <p:nvPr>
            <p:ph type="sldNum" sz="quarter" idx="12"/>
          </p:nvPr>
        </p:nvSpPr>
        <p:spPr/>
        <p:txBody>
          <a:bodyPr/>
          <a:lstStyle/>
          <a:p>
            <a:fld id="{D57F1E4F-1CFF-5643-939E-217C01CDF565}" type="slidenum">
              <a:rPr lang="en-US" smtClean="0"/>
              <a:t>15</a:t>
            </a:fld>
            <a:endParaRPr lang="en-US" dirty="0"/>
          </a:p>
        </p:txBody>
      </p:sp>
      <p:sp>
        <p:nvSpPr>
          <p:cNvPr id="4" name="Date Placeholder 3"/>
          <p:cNvSpPr>
            <a:spLocks noGrp="1"/>
          </p:cNvSpPr>
          <p:nvPr>
            <p:ph type="dt" sz="half" idx="10"/>
          </p:nvPr>
        </p:nvSpPr>
        <p:spPr/>
        <p:txBody>
          <a:bodyPr/>
          <a:lstStyle/>
          <a:p>
            <a:fld id="{F6B04E1E-CF05-4B41-8802-CD685CA27131}" type="datetime3">
              <a:rPr lang="en-US" smtClean="0"/>
              <a:t>5 June 2026</a:t>
            </a:fld>
            <a:endParaRPr lang="en-US" dirty="0"/>
          </a:p>
        </p:txBody>
      </p:sp>
      <p:sp>
        <p:nvSpPr>
          <p:cNvPr id="5" name="Footer Placeholder 4"/>
          <p:cNvSpPr>
            <a:spLocks noGrp="1"/>
          </p:cNvSpPr>
          <p:nvPr>
            <p:ph type="ftr" sz="quarter" idx="11"/>
          </p:nvPr>
        </p:nvSpPr>
        <p:spPr/>
        <p:txBody>
          <a:bodyPr/>
          <a:lstStyle/>
          <a:p>
            <a:r>
              <a:rPr lang="en-US" dirty="0"/>
              <a:t>CYB23IN101 REVIEW - I</a:t>
            </a:r>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563</TotalTime>
  <Words>1864</Words>
  <Application>Microsoft Office PowerPoint</Application>
  <PresentationFormat>On-screen Show (16:9)</PresentationFormat>
  <Paragraphs>189</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Calibri Light</vt:lpstr>
      <vt:lpstr>Cambria</vt:lpstr>
      <vt:lpstr>Times New Roman</vt:lpstr>
      <vt:lpstr>Office Theme</vt:lpstr>
      <vt:lpstr>PowerPoint Presentation</vt:lpstr>
      <vt:lpstr>INTRODUCTION  </vt:lpstr>
      <vt:lpstr>PowerPoint Presentation</vt:lpstr>
      <vt:lpstr>REVIEW OF LITERATURE  (Minimum 15 Works) </vt:lpstr>
      <vt:lpstr>REVIEW OF LITERATURE  (Minimum 15 Works Continued….) </vt:lpstr>
      <vt:lpstr>REVIEW OF EXISTING SYSTEM (S/W/H/W PRODUCTS, TOOLS) </vt:lpstr>
      <vt:lpstr>PROBLEM STATEMENT</vt:lpstr>
      <vt:lpstr>OBJECTIVES </vt:lpstr>
      <vt:lpstr>WORKFLOW DIAGRAM</vt:lpstr>
      <vt:lpstr>MODULES</vt:lpstr>
      <vt:lpstr>TENTATIVE RESULTS/ EXPECTED OUTCOME</vt:lpstr>
      <vt:lpstr>CONCLUSION</vt:lpstr>
      <vt:lpstr>REFERENCES  </vt:lpstr>
      <vt:lpstr>REFERENCES </vt:lpstr>
      <vt:lpstr>Thank you </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Microwave induced Biomimetic coating of porous carbon fiber reinforced polyether-ethersulfone</dc:title>
  <dc:creator>Microsoft</dc:creator>
  <cp:lastModifiedBy>Swaminathan G L</cp:lastModifiedBy>
  <cp:revision>820</cp:revision>
  <dcterms:created xsi:type="dcterms:W3CDTF">2017-09-15T13:20:00Z</dcterms:created>
  <dcterms:modified xsi:type="dcterms:W3CDTF">2026-06-05T04:32:23Z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244016532F3749E082D20DC8793A736B</vt:lpwstr>
  </property>
  <property fmtid="{D5CDD505-2E9C-101B-9397-08002B2CF9AE}" pid="3" name="KSOProductBuildVer">
    <vt:lpwstr>1033-11.2.0.11486</vt:lpwstr>
  </property>
</Properties>
</file>