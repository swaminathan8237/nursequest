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9"/>
  </p:notesMasterIdLst>
  <p:sldIdLst>
    <p:sldId id="256" r:id="rId2"/>
    <p:sldId id="357" r:id="rId3"/>
    <p:sldId id="409" r:id="rId4"/>
    <p:sldId id="392" r:id="rId5"/>
    <p:sldId id="408" r:id="rId6"/>
    <p:sldId id="411" r:id="rId7"/>
    <p:sldId id="406" r:id="rId8"/>
    <p:sldId id="410" r:id="rId9"/>
    <p:sldId id="391" r:id="rId10"/>
    <p:sldId id="400" r:id="rId11"/>
    <p:sldId id="398" r:id="rId12"/>
    <p:sldId id="399" r:id="rId13"/>
    <p:sldId id="394" r:id="rId14"/>
    <p:sldId id="404" r:id="rId15"/>
    <p:sldId id="395" r:id="rId16"/>
    <p:sldId id="405" r:id="rId17"/>
    <p:sldId id="263"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002060"/>
    <a:srgbClr val="EAEFF7"/>
    <a:srgbClr val="C00000"/>
    <a:srgbClr val="7B229E"/>
    <a:srgbClr val="E5B458"/>
    <a:srgbClr val="E3AA6A"/>
    <a:srgbClr val="38B347"/>
    <a:srgbClr val="75C7CB"/>
    <a:srgbClr val="98836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1" autoAdjust="0"/>
    <p:restoredTop sz="94660"/>
  </p:normalViewPr>
  <p:slideViewPr>
    <p:cSldViewPr snapToGrid="0">
      <p:cViewPr varScale="1">
        <p:scale>
          <a:sx n="123" d="100"/>
          <a:sy n="123" d="100"/>
        </p:scale>
        <p:origin x="680" y="64"/>
      </p:cViewPr>
      <p:guideLst>
        <p:guide orient="horz" pos="2160"/>
        <p:guide pos="2880"/>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56805-9FF0-4934-BDCD-CD6CD9C90D87}" type="datetimeFigureOut">
              <a:rPr lang="en-US" smtClean="0"/>
              <a:t>7/2/2026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B34487-34A5-4CE5-B125-65C7AA3A2447}" type="slidenum">
              <a:rPr lang="en-US" smtClean="0"/>
              <a:t>‹#›</a:t>
            </a:fld>
            <a:endParaRPr lang="en-US"/>
          </a:p>
        </p:txBody>
      </p:sp>
    </p:spTree>
    <p:extLst>
      <p:ext uri="{BB962C8B-B14F-4D97-AF65-F5344CB8AC3E}">
        <p14:creationId xmlns:p14="http://schemas.microsoft.com/office/powerpoint/2010/main" val="1885867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94EB8EBC-5222-431C-84DD-DD60662C159C}" type="datetime3">
              <a:rPr lang="en-US" smtClean="0"/>
              <a:t>2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DB9DF8F-09D3-46AE-87C0-0E6AC09D07A6}" type="datetime3">
              <a:rPr lang="en-US" smtClean="0"/>
              <a:t>2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5"/>
            <a:ext cx="7886700" cy="2139553"/>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3442099"/>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253FD35-0CB4-474A-9599-30C5D4C0E287}" type="datetime3">
              <a:rPr lang="en-US" smtClean="0"/>
              <a:t>2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369219"/>
            <a:ext cx="3886200" cy="32635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05DD382-1684-47A7-8447-FF64349E7EA4}" type="datetime3">
              <a:rPr lang="en-US" smtClean="0"/>
              <a:t>2 July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5"/>
            <a:ext cx="7886700" cy="994172"/>
          </a:xfrm>
        </p:spPr>
        <p:txBody>
          <a:bodyPr/>
          <a:lstStyle/>
          <a:p>
            <a:r>
              <a:rPr lang="en-US"/>
              <a:t>Click to edit Master title style</a:t>
            </a:r>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1"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1" y="1878806"/>
            <a:ext cx="3887391" cy="27634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0666D20-7225-440A-88E7-D6F958D48F89}" type="datetime3">
              <a:rPr lang="en-US" smtClean="0"/>
              <a:t>2 July 2026</a:t>
            </a:fld>
            <a:endParaRPr lang="en-US" dirty="0"/>
          </a:p>
        </p:txBody>
      </p:sp>
      <p:sp>
        <p:nvSpPr>
          <p:cNvPr id="8" name="Footer Placeholder 7"/>
          <p:cNvSpPr>
            <a:spLocks noGrp="1"/>
          </p:cNvSpPr>
          <p:nvPr>
            <p:ph type="ftr" sz="quarter" idx="11"/>
          </p:nvPr>
        </p:nvSpPr>
        <p:spPr/>
        <p:txBody>
          <a:bodyPr/>
          <a:lstStyle/>
          <a:p>
            <a:r>
              <a:rPr lang="en-US"/>
              <a:t>INT500 REVIEW - I</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1CB1683-EA87-4A2C-B387-AB50EB5CC6D6}" type="datetime3">
              <a:rPr lang="en-US" smtClean="0"/>
              <a:t>2 July 2026</a:t>
            </a:fld>
            <a:endParaRPr lang="en-US" dirty="0"/>
          </a:p>
        </p:txBody>
      </p:sp>
      <p:sp>
        <p:nvSpPr>
          <p:cNvPr id="4" name="Footer Placeholder 3"/>
          <p:cNvSpPr>
            <a:spLocks noGrp="1"/>
          </p:cNvSpPr>
          <p:nvPr>
            <p:ph type="ftr" sz="quarter" idx="11"/>
          </p:nvPr>
        </p:nvSpPr>
        <p:spPr/>
        <p:txBody>
          <a:bodyPr/>
          <a:lstStyle/>
          <a:p>
            <a:r>
              <a:rPr lang="en-US"/>
              <a:t>INT500 REVIEW - I</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2D354-87FD-45C8-B30B-40E925ADA766}" type="datetime3">
              <a:rPr lang="en-US" smtClean="0"/>
              <a:t>2 July 2026</a:t>
            </a:fld>
            <a:endParaRPr lang="en-US" dirty="0"/>
          </a:p>
        </p:txBody>
      </p:sp>
      <p:sp>
        <p:nvSpPr>
          <p:cNvPr id="3" name="Footer Placeholder 2"/>
          <p:cNvSpPr>
            <a:spLocks noGrp="1"/>
          </p:cNvSpPr>
          <p:nvPr>
            <p:ph type="ftr" sz="quarter" idx="11"/>
          </p:nvPr>
        </p:nvSpPr>
        <p:spPr/>
        <p:txBody>
          <a:bodyPr/>
          <a:lstStyle/>
          <a:p>
            <a:r>
              <a:rPr lang="en-US"/>
              <a:t>INT500 REVIEW - I</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740570"/>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236FCBC9-030E-4CA2-939A-297D2E5B0AF9}" type="datetime3">
              <a:rPr lang="en-US" smtClean="0"/>
              <a:t>2 July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740570"/>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p:txBody>
          <a:bodyPr/>
          <a:lstStyle/>
          <a:p>
            <a:fld id="{C5BC5EF5-3D0C-410F-81FA-0155F6DDC1A3}" type="datetime3">
              <a:rPr lang="en-US" smtClean="0"/>
              <a:t>2 July 2026</a:t>
            </a:fld>
            <a:endParaRPr lang="en-US" dirty="0"/>
          </a:p>
        </p:txBody>
      </p:sp>
      <p:sp>
        <p:nvSpPr>
          <p:cNvPr id="6" name="Footer Placeholder 5"/>
          <p:cNvSpPr>
            <a:spLocks noGrp="1"/>
          </p:cNvSpPr>
          <p:nvPr>
            <p:ph type="ftr" sz="quarter" idx="11"/>
          </p:nvPr>
        </p:nvSpPr>
        <p:spPr/>
        <p:txBody>
          <a:bodyPr/>
          <a:lstStyle/>
          <a:p>
            <a:r>
              <a:rPr lang="en-US"/>
              <a:t>INT500 REVIEW - I</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8E28DC-53CF-4642-AB77-F3F3B8864F72}" type="datetime3">
              <a:rPr lang="en-US" smtClean="0"/>
              <a:t>2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273844"/>
            <a:ext cx="1971675" cy="4358879"/>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1" y="273844"/>
            <a:ext cx="5800725" cy="435887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67ACE5-42CA-4EDC-8760-DD2585F04707}" type="datetime3">
              <a:rPr lang="en-US" smtClean="0"/>
              <a:t>2 July 2026</a:t>
            </a:fld>
            <a:endParaRPr lang="en-US" dirty="0"/>
          </a:p>
        </p:txBody>
      </p:sp>
      <p:sp>
        <p:nvSpPr>
          <p:cNvPr id="5" name="Footer Placeholder 4"/>
          <p:cNvSpPr>
            <a:spLocks noGrp="1"/>
          </p:cNvSpPr>
          <p:nvPr>
            <p:ph type="ftr" sz="quarter" idx="11"/>
          </p:nvPr>
        </p:nvSpPr>
        <p:spPr/>
        <p:txBody>
          <a:bodyPr/>
          <a:lstStyle/>
          <a:p>
            <a:r>
              <a:rPr lang="en-US"/>
              <a:t>INT500 REVIEW - I</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EE8C92B-93F9-4684-984D-12FC30565B2E}" type="datetime3">
              <a:rPr lang="en-US" smtClean="0"/>
              <a:t>2 July 2026</a:t>
            </a:fld>
            <a:endParaRPr lang="en-US" dirty="0"/>
          </a:p>
        </p:txBody>
      </p:sp>
      <p:sp>
        <p:nvSpPr>
          <p:cNvPr id="5" name="Footer Placeholder 4"/>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INT500 REVIEW - I</a:t>
            </a:r>
            <a:endParaRPr lang="en-US" dirty="0"/>
          </a:p>
        </p:txBody>
      </p:sp>
      <p:sp>
        <p:nvSpPr>
          <p:cNvPr id="6" name="Slide Number Placeholder 5"/>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57F1E4F-1CFF-5643-939E-217C01CDF565}"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59000"/>
    </mc:Choice>
    <mc:Fallback xmlns="">
      <p:transition spd="slow"/>
    </mc:Fallback>
  </mc:AlternateConten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391634" y="890478"/>
            <a:ext cx="8752366" cy="1121864"/>
          </a:xfrm>
          <a:prstGeom prst="rect">
            <a:avLst/>
          </a:prstGeom>
        </p:spPr>
        <p:txBody>
          <a:bodyPr vert="horz" lIns="91440" tIns="45720" rIns="91440" bIns="45720" rtlCol="0" anchor="b">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nSpc>
                <a:spcPct val="100000"/>
              </a:lnSpc>
            </a:pPr>
            <a:r>
              <a:rPr lang="en-US" sz="2800" b="1" dirty="0">
                <a:solidFill>
                  <a:srgbClr val="A50021"/>
                </a:solidFill>
                <a:latin typeface="Times New Roman" pitchFamily="18" charset="0"/>
                <a:cs typeface="Times New Roman" pitchFamily="18" charset="0"/>
              </a:rPr>
              <a:t>A Gamified Web based Quiz Platform for Interactive Nursing Education </a:t>
            </a:r>
          </a:p>
        </p:txBody>
      </p:sp>
      <p:sp>
        <p:nvSpPr>
          <p:cNvPr id="6" name="TextBox 5"/>
          <p:cNvSpPr txBox="1"/>
          <p:nvPr/>
        </p:nvSpPr>
        <p:spPr>
          <a:xfrm>
            <a:off x="679538" y="3081781"/>
            <a:ext cx="3505004" cy="873572"/>
          </a:xfrm>
          <a:prstGeom prst="rect">
            <a:avLst/>
          </a:prstGeom>
          <a:noFill/>
        </p:spPr>
        <p:txBody>
          <a:bodyPr wrap="square" rtlCol="0">
            <a:spAutoFit/>
          </a:bodyPr>
          <a:lstStyle/>
          <a:p>
            <a:pPr>
              <a:lnSpc>
                <a:spcPct val="150000"/>
              </a:lnSpc>
            </a:pPr>
            <a:r>
              <a:rPr lang="en-IN" b="1" dirty="0">
                <a:solidFill>
                  <a:schemeClr val="accent2">
                    <a:lumMod val="50000"/>
                  </a:schemeClr>
                </a:solidFill>
                <a:latin typeface="Times New Roman" pitchFamily="18" charset="0"/>
                <a:cs typeface="Times New Roman" pitchFamily="18" charset="0"/>
              </a:rPr>
              <a:t>Presenter</a:t>
            </a:r>
          </a:p>
          <a:p>
            <a:pPr>
              <a:lnSpc>
                <a:spcPct val="150000"/>
              </a:lnSpc>
            </a:pPr>
            <a:r>
              <a:rPr lang="en-IN" b="1" dirty="0">
                <a:solidFill>
                  <a:schemeClr val="accent6">
                    <a:lumMod val="50000"/>
                  </a:schemeClr>
                </a:solidFill>
                <a:latin typeface="Times New Roman" pitchFamily="18" charset="0"/>
                <a:cs typeface="Times New Roman" pitchFamily="18" charset="0"/>
              </a:rPr>
              <a:t>G L Swaminathan (E0224033)</a:t>
            </a:r>
          </a:p>
        </p:txBody>
      </p:sp>
      <p:sp>
        <p:nvSpPr>
          <p:cNvPr id="10" name="TextBox 9"/>
          <p:cNvSpPr txBox="1"/>
          <p:nvPr/>
        </p:nvSpPr>
        <p:spPr>
          <a:xfrm>
            <a:off x="5873662" y="3081781"/>
            <a:ext cx="2590800" cy="873572"/>
          </a:xfrm>
          <a:prstGeom prst="rect">
            <a:avLst/>
          </a:prstGeom>
          <a:noFill/>
        </p:spPr>
        <p:txBody>
          <a:bodyPr wrap="square" rtlCol="0">
            <a:spAutoFit/>
          </a:bodyPr>
          <a:lstStyle/>
          <a:p>
            <a:pPr>
              <a:lnSpc>
                <a:spcPct val="150000"/>
              </a:lnSpc>
            </a:pPr>
            <a:r>
              <a:rPr lang="en-IN" b="1" dirty="0">
                <a:solidFill>
                  <a:schemeClr val="accent2">
                    <a:lumMod val="50000"/>
                  </a:schemeClr>
                </a:solidFill>
                <a:latin typeface="Times New Roman" pitchFamily="18" charset="0"/>
                <a:cs typeface="Times New Roman" pitchFamily="18" charset="0"/>
              </a:rPr>
              <a:t>Project Guide </a:t>
            </a:r>
          </a:p>
          <a:p>
            <a:pPr>
              <a:lnSpc>
                <a:spcPct val="150000"/>
              </a:lnSpc>
            </a:pPr>
            <a:r>
              <a:rPr lang="en-IN" b="1" dirty="0">
                <a:solidFill>
                  <a:schemeClr val="accent6">
                    <a:lumMod val="50000"/>
                  </a:schemeClr>
                </a:solidFill>
                <a:latin typeface="Times New Roman" pitchFamily="18" charset="0"/>
                <a:cs typeface="Times New Roman" pitchFamily="18" charset="0"/>
              </a:rPr>
              <a:t>Dr. G. </a:t>
            </a:r>
            <a:r>
              <a:rPr lang="en-IN" b="1">
                <a:solidFill>
                  <a:schemeClr val="accent6">
                    <a:lumMod val="50000"/>
                  </a:schemeClr>
                </a:solidFill>
                <a:latin typeface="Times New Roman" pitchFamily="18" charset="0"/>
                <a:cs typeface="Times New Roman" pitchFamily="18" charset="0"/>
              </a:rPr>
              <a:t>Jayanthi</a:t>
            </a:r>
            <a:endParaRPr lang="en-IN" b="1" dirty="0">
              <a:solidFill>
                <a:schemeClr val="accent6">
                  <a:lumMod val="50000"/>
                </a:schemeClr>
              </a:solidFill>
              <a:latin typeface="Times New Roman" pitchFamily="18" charset="0"/>
              <a:cs typeface="Times New Roman" pitchFamily="18" charset="0"/>
            </a:endParaRPr>
          </a:p>
        </p:txBody>
      </p:sp>
      <p:sp>
        <p:nvSpPr>
          <p:cNvPr id="8" name="TextBox 7"/>
          <p:cNvSpPr txBox="1"/>
          <p:nvPr/>
        </p:nvSpPr>
        <p:spPr>
          <a:xfrm>
            <a:off x="2906666" y="2061719"/>
            <a:ext cx="3318537" cy="400110"/>
          </a:xfrm>
          <a:prstGeom prst="rect">
            <a:avLst/>
          </a:prstGeom>
          <a:noFill/>
        </p:spPr>
        <p:txBody>
          <a:bodyPr wrap="none" rtlCol="0">
            <a:spAutoFit/>
          </a:bodyPr>
          <a:lstStyle/>
          <a:p>
            <a:pPr algn="ctr"/>
            <a:r>
              <a:rPr lang="en-IN" sz="2000" b="1" dirty="0">
                <a:latin typeface="Times New Roman" pitchFamily="18" charset="0"/>
                <a:cs typeface="Times New Roman" pitchFamily="18" charset="0"/>
              </a:rPr>
              <a:t>CYB23IN201 Internship -II</a:t>
            </a:r>
          </a:p>
        </p:txBody>
      </p:sp>
      <p:sp>
        <p:nvSpPr>
          <p:cNvPr id="12" name="TextBox 11"/>
          <p:cNvSpPr txBox="1"/>
          <p:nvPr/>
        </p:nvSpPr>
        <p:spPr>
          <a:xfrm>
            <a:off x="2991174" y="2373895"/>
            <a:ext cx="3085694" cy="707886"/>
          </a:xfrm>
          <a:prstGeom prst="rect">
            <a:avLst/>
          </a:prstGeom>
          <a:noFill/>
        </p:spPr>
        <p:txBody>
          <a:bodyPr wrap="square" rtlCol="0">
            <a:spAutoFit/>
          </a:bodyPr>
          <a:lstStyle/>
          <a:p>
            <a:r>
              <a:rPr lang="en-IN" sz="2000" b="1" dirty="0">
                <a:solidFill>
                  <a:srgbClr val="FF0000"/>
                </a:solidFill>
                <a:latin typeface="Times New Roman" pitchFamily="18" charset="0"/>
                <a:cs typeface="Times New Roman" pitchFamily="18" charset="0"/>
              </a:rPr>
              <a:t>	    Second Review</a:t>
            </a:r>
          </a:p>
          <a:p>
            <a:pPr algn="ctr"/>
            <a:r>
              <a:rPr lang="en-IN" sz="2000" b="1" dirty="0">
                <a:solidFill>
                  <a:srgbClr val="FF0000"/>
                </a:solidFill>
                <a:latin typeface="Times New Roman" pitchFamily="18" charset="0"/>
                <a:cs typeface="Times New Roman" pitchFamily="18" charset="0"/>
              </a:rPr>
              <a:t>   Date: 2.7.2026  </a:t>
            </a:r>
          </a:p>
        </p:txBody>
      </p:sp>
      <p:pic>
        <p:nvPicPr>
          <p:cNvPr id="13" name="image1.png"/>
          <p:cNvPicPr preferRelativeResize="0"/>
          <p:nvPr/>
        </p:nvPicPr>
        <p:blipFill>
          <a:blip r:embed="rId2"/>
          <a:srcRect/>
          <a:stretch>
            <a:fillRect/>
          </a:stretch>
        </p:blipFill>
        <p:spPr>
          <a:xfrm>
            <a:off x="679539" y="125601"/>
            <a:ext cx="7797055" cy="902057"/>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solidFill>
                  <a:srgbClr val="C00000"/>
                </a:solidFill>
                <a:latin typeface="Times New Roman" pitchFamily="18" charset="0"/>
                <a:cs typeface="Times New Roman" pitchFamily="18" charset="0"/>
              </a:rPr>
              <a:t>2</a:t>
            </a:fld>
            <a:endParaRPr lang="en-US" dirty="0">
              <a:solidFill>
                <a:srgbClr val="C00000"/>
              </a:solidFill>
              <a:latin typeface="Times New Roman" pitchFamily="18" charset="0"/>
              <a:cs typeface="Times New Roman" pitchFamily="18" charset="0"/>
            </a:endParaRPr>
          </a:p>
        </p:txBody>
      </p:sp>
      <p:sp>
        <p:nvSpPr>
          <p:cNvPr id="20" name="Title 1"/>
          <p:cNvSpPr>
            <a:spLocks noGrp="1"/>
          </p:cNvSpPr>
          <p:nvPr>
            <p:ph type="title"/>
          </p:nvPr>
        </p:nvSpPr>
        <p:spPr>
          <a:xfrm>
            <a:off x="507820" y="102393"/>
            <a:ext cx="8526998" cy="553358"/>
          </a:xfrm>
        </p:spPr>
        <p:txBody>
          <a:bodyPr>
            <a:noAutofit/>
          </a:bodyPr>
          <a:lstStyle/>
          <a:p>
            <a:pPr algn="ctr">
              <a:lnSpc>
                <a:spcPct val="107000"/>
              </a:lnSpc>
              <a:spcBef>
                <a:spcPts val="0"/>
              </a:spcBef>
              <a:spcAft>
                <a:spcPts val="450"/>
              </a:spcAft>
            </a:pPr>
            <a:r>
              <a:rPr lang="en-US" sz="2400" b="1" dirty="0">
                <a:solidFill>
                  <a:srgbClr val="C00000"/>
                </a:solidFill>
                <a:latin typeface="Times New Roman" pitchFamily="18" charset="0"/>
                <a:ea typeface="Calibri" panose="020F0502020204030204" pitchFamily="34" charset="0"/>
                <a:cs typeface="Times New Roman" panose="02020603050405020304" pitchFamily="18" charset="0"/>
              </a:rPr>
              <a:t>INTRODUCTION </a:t>
            </a:r>
            <a:br>
              <a:rPr lang="en-US" sz="2400" b="1" dirty="0">
                <a:solidFill>
                  <a:srgbClr val="C00000"/>
                </a:solidFill>
                <a:latin typeface="Times New Roman" pitchFamily="18" charset="0"/>
                <a:ea typeface="Calibri" panose="020F0502020204030204" pitchFamily="34" charset="0"/>
                <a:cs typeface="Times New Roman" panose="02020603050405020304" pitchFamily="18" charset="0"/>
              </a:rPr>
            </a:br>
            <a:endParaRPr lang="en-US" sz="1800" dirty="0">
              <a:solidFill>
                <a:srgbClr val="C0000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507820" y="2443171"/>
            <a:ext cx="4136645" cy="2339102"/>
          </a:xfrm>
          <a:prstGeom prst="rect">
            <a:avLst/>
          </a:prstGeom>
          <a:noFill/>
        </p:spPr>
        <p:txBody>
          <a:bodyPr wrap="none" rtlCol="0">
            <a:spAutoFit/>
          </a:bodyPr>
          <a:lstStyle/>
          <a:p>
            <a:r>
              <a:rPr lang="en-GB" b="1" dirty="0">
                <a:solidFill>
                  <a:srgbClr val="C00000"/>
                </a:solidFill>
                <a:latin typeface="Times New Roman" pitchFamily="18" charset="0"/>
                <a:cs typeface="Times New Roman" pitchFamily="18" charset="0"/>
              </a:rPr>
              <a:t>Applications:</a:t>
            </a:r>
          </a:p>
          <a:p>
            <a:pPr marL="285750" indent="-285750">
              <a:buFont typeface="Arial" panose="020B0604020202020204" pitchFamily="34" charset="0"/>
              <a:buChar char="•"/>
            </a:pPr>
            <a:r>
              <a:rPr lang="en-GB" sz="1600" b="1" dirty="0">
                <a:latin typeface="Times New Roman" pitchFamily="18" charset="0"/>
                <a:cs typeface="Times New Roman" pitchFamily="18" charset="0"/>
              </a:rPr>
              <a:t>Interactive Learning</a:t>
            </a:r>
          </a:p>
          <a:p>
            <a:pPr marL="285750" indent="-285750">
              <a:buFont typeface="Arial" panose="020B0604020202020204" pitchFamily="34" charset="0"/>
              <a:buChar char="•"/>
            </a:pPr>
            <a:r>
              <a:rPr lang="en-GB" sz="1600" b="1" dirty="0">
                <a:latin typeface="Times New Roman" pitchFamily="18" charset="0"/>
                <a:cs typeface="Times New Roman" pitchFamily="18" charset="0"/>
              </a:rPr>
              <a:t>Experience points-based level progression</a:t>
            </a:r>
          </a:p>
          <a:p>
            <a:pPr marL="285750" indent="-285750">
              <a:buFont typeface="Arial" panose="020B0604020202020204" pitchFamily="34" charset="0"/>
              <a:buChar char="•"/>
            </a:pPr>
            <a:r>
              <a:rPr lang="en-GB" sz="1600" b="1" dirty="0">
                <a:latin typeface="Times New Roman" pitchFamily="18" charset="0"/>
                <a:cs typeface="Times New Roman" pitchFamily="18" charset="0"/>
              </a:rPr>
              <a:t>User centric customization</a:t>
            </a:r>
          </a:p>
          <a:p>
            <a:pPr marL="285750" indent="-285750">
              <a:buFont typeface="Arial" panose="020B0604020202020204" pitchFamily="34" charset="0"/>
              <a:buChar char="•"/>
            </a:pPr>
            <a:r>
              <a:rPr lang="en-GB" sz="1600" b="1" dirty="0">
                <a:latin typeface="Times New Roman" pitchFamily="18" charset="0"/>
                <a:cs typeface="Times New Roman" pitchFamily="18" charset="0"/>
              </a:rPr>
              <a:t>Day to Day Leaderboard Update</a:t>
            </a:r>
          </a:p>
          <a:p>
            <a:pPr marL="285750" indent="-285750">
              <a:buFont typeface="Arial" panose="020B0604020202020204" pitchFamily="34" charset="0"/>
              <a:buChar char="•"/>
            </a:pPr>
            <a:r>
              <a:rPr lang="en-GB" sz="1600" b="1" dirty="0">
                <a:latin typeface="Times New Roman" pitchFamily="18" charset="0"/>
                <a:cs typeface="Times New Roman" pitchFamily="18" charset="0"/>
              </a:rPr>
              <a:t>Different Question Modes</a:t>
            </a:r>
          </a:p>
          <a:p>
            <a:pPr marL="285750" indent="-285750">
              <a:buFont typeface="Arial" panose="020B0604020202020204" pitchFamily="34" charset="0"/>
              <a:buChar char="•"/>
            </a:pPr>
            <a:r>
              <a:rPr lang="en-GB" sz="1600" b="1" dirty="0">
                <a:latin typeface="Times New Roman" pitchFamily="18" charset="0"/>
                <a:cs typeface="Times New Roman" pitchFamily="18" charset="0"/>
              </a:rPr>
              <a:t>Domain based Modules</a:t>
            </a:r>
          </a:p>
          <a:p>
            <a:pPr marL="285750" indent="-285750">
              <a:buFont typeface="Arial" panose="020B0604020202020204" pitchFamily="34" charset="0"/>
              <a:buChar char="•"/>
            </a:pPr>
            <a:r>
              <a:rPr lang="en-GB" sz="1600" b="1" dirty="0">
                <a:latin typeface="Times New Roman" pitchFamily="18" charset="0"/>
                <a:cs typeface="Times New Roman" pitchFamily="18" charset="0"/>
              </a:rPr>
              <a:t>Live Quiz</a:t>
            </a:r>
          </a:p>
          <a:p>
            <a:pPr marL="285750" indent="-285750">
              <a:buFont typeface="Arial" panose="020B0604020202020204" pitchFamily="34" charset="0"/>
              <a:buChar char="•"/>
            </a:pPr>
            <a:r>
              <a:rPr lang="en-GB" sz="1600" b="1" dirty="0">
                <a:latin typeface="Times New Roman" pitchFamily="18" charset="0"/>
                <a:cs typeface="Times New Roman" pitchFamily="18" charset="0"/>
              </a:rPr>
              <a:t>And more…</a:t>
            </a:r>
          </a:p>
        </p:txBody>
      </p:sp>
      <p:sp>
        <p:nvSpPr>
          <p:cNvPr id="6" name="TextBox 5"/>
          <p:cNvSpPr txBox="1"/>
          <p:nvPr/>
        </p:nvSpPr>
        <p:spPr>
          <a:xfrm>
            <a:off x="507820" y="655751"/>
            <a:ext cx="8443767" cy="1600438"/>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Need for the technology: </a:t>
            </a:r>
          </a:p>
          <a:p>
            <a:pPr algn="just"/>
            <a:r>
              <a:rPr lang="en-GB" sz="1600" b="1" dirty="0">
                <a:latin typeface="Times New Roman" pitchFamily="18" charset="0"/>
                <a:cs typeface="Times New Roman" pitchFamily="18" charset="0"/>
              </a:rPr>
              <a:t>Domain based platforms are hard to find publicly on the Internet. Usually Interactive Quizzes and Quiz Platforms that are publicly available are general for all and that is user specific. But each domain, each department should have their own basic modules and questions that can be used irrespective of their syllabus. As I am Collaborating with SRIHER’s Nursing Department, this need of technology had fall into my eyes  </a:t>
            </a:r>
          </a:p>
        </p:txBody>
      </p:sp>
      <p:sp>
        <p:nvSpPr>
          <p:cNvPr id="3" name="Date Placeholder 2"/>
          <p:cNvSpPr>
            <a:spLocks noGrp="1"/>
          </p:cNvSpPr>
          <p:nvPr>
            <p:ph type="dt" sz="half" idx="10"/>
          </p:nvPr>
        </p:nvSpPr>
        <p:spPr/>
        <p:txBody>
          <a:bodyPr/>
          <a:lstStyle/>
          <a:p>
            <a:fld id="{E019806D-BBF9-4065-82F1-BB4B2025BF7F}" type="datetime3">
              <a:rPr lang="en-US" smtClean="0"/>
              <a:t>2 July 2026</a:t>
            </a:fld>
            <a:endParaRPr lang="en-US" dirty="0"/>
          </a:p>
        </p:txBody>
      </p:sp>
      <p:sp>
        <p:nvSpPr>
          <p:cNvPr id="10"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F867C2F-14C8-6012-67D6-4D23BADF2572}"/>
              </a:ext>
            </a:extLst>
          </p:cNvPr>
          <p:cNvSpPr>
            <a:spLocks noGrp="1"/>
          </p:cNvSpPr>
          <p:nvPr>
            <p:ph type="dt" sz="half" idx="10"/>
          </p:nvPr>
        </p:nvSpPr>
        <p:spPr/>
        <p:txBody>
          <a:bodyPr/>
          <a:lstStyle/>
          <a:p>
            <a:fld id="{2DB9DF8F-09D3-46AE-87C0-0E6AC09D07A6}" type="datetime3">
              <a:rPr lang="en-US" smtClean="0"/>
              <a:t>2 July 2026</a:t>
            </a:fld>
            <a:endParaRPr lang="en-US" dirty="0"/>
          </a:p>
        </p:txBody>
      </p:sp>
      <p:sp>
        <p:nvSpPr>
          <p:cNvPr id="5" name="Footer Placeholder 4">
            <a:extLst>
              <a:ext uri="{FF2B5EF4-FFF2-40B4-BE49-F238E27FC236}">
                <a16:creationId xmlns:a16="http://schemas.microsoft.com/office/drawing/2014/main" id="{92252AD3-8D1D-C820-68D0-6982F2A1F334}"/>
              </a:ext>
            </a:extLst>
          </p:cNvPr>
          <p:cNvSpPr>
            <a:spLocks noGrp="1"/>
          </p:cNvSpPr>
          <p:nvPr>
            <p:ph type="ftr" sz="quarter" idx="11"/>
          </p:nvPr>
        </p:nvSpPr>
        <p:spPr/>
        <p:txBody>
          <a:bodyPr/>
          <a:lstStyle/>
          <a:p>
            <a:r>
              <a:rPr lang="en-US" dirty="0"/>
              <a:t>INT500 REVIEW - II</a:t>
            </a:r>
          </a:p>
        </p:txBody>
      </p:sp>
      <p:sp>
        <p:nvSpPr>
          <p:cNvPr id="6" name="Slide Number Placeholder 5">
            <a:extLst>
              <a:ext uri="{FF2B5EF4-FFF2-40B4-BE49-F238E27FC236}">
                <a16:creationId xmlns:a16="http://schemas.microsoft.com/office/drawing/2014/main" id="{45DB75BC-A694-3CB0-43F8-8B9819C42666}"/>
              </a:ext>
            </a:extLst>
          </p:cNvPr>
          <p:cNvSpPr>
            <a:spLocks noGrp="1"/>
          </p:cNvSpPr>
          <p:nvPr>
            <p:ph type="sldNum" sz="quarter" idx="12"/>
          </p:nvPr>
        </p:nvSpPr>
        <p:spPr/>
        <p:txBody>
          <a:bodyPr/>
          <a:lstStyle/>
          <a:p>
            <a:fld id="{D57F1E4F-1CFF-5643-939E-217C01CDF565}" type="slidenum">
              <a:rPr lang="en-US" smtClean="0"/>
              <a:t>3</a:t>
            </a:fld>
            <a:endParaRPr lang="en-US" dirty="0"/>
          </a:p>
        </p:txBody>
      </p:sp>
      <p:sp>
        <p:nvSpPr>
          <p:cNvPr id="7" name="TextBox 6"/>
          <p:cNvSpPr txBox="1"/>
          <p:nvPr/>
        </p:nvSpPr>
        <p:spPr>
          <a:xfrm>
            <a:off x="214345" y="216485"/>
            <a:ext cx="8715309" cy="1846659"/>
          </a:xfrm>
          <a:prstGeom prst="rect">
            <a:avLst/>
          </a:prstGeom>
          <a:noFill/>
        </p:spPr>
        <p:txBody>
          <a:bodyPr wrap="square" rtlCol="0">
            <a:spAutoFit/>
          </a:bodyPr>
          <a:lstStyle/>
          <a:p>
            <a:r>
              <a:rPr lang="en-GB" b="1" dirty="0">
                <a:solidFill>
                  <a:srgbClr val="C00000"/>
                </a:solidFill>
                <a:latin typeface="Times New Roman" pitchFamily="18" charset="0"/>
                <a:cs typeface="Times New Roman" pitchFamily="18" charset="0"/>
              </a:rPr>
              <a:t>Motivation behind the study:</a:t>
            </a:r>
          </a:p>
          <a:p>
            <a:pPr algn="just"/>
            <a:r>
              <a:rPr lang="en-GB" sz="1600" b="1" dirty="0">
                <a:latin typeface="Times New Roman" pitchFamily="18" charset="0"/>
                <a:cs typeface="Times New Roman" pitchFamily="18" charset="0"/>
              </a:rPr>
              <a:t>The Motivation is that a study on how the Gamified or interactive learning implies effective learning among students. As an existing Technology, Kahoot, way ground and </a:t>
            </a:r>
            <a:r>
              <a:rPr lang="en-GB" sz="1600" b="1" dirty="0" err="1">
                <a:latin typeface="Times New Roman" pitchFamily="18" charset="0"/>
                <a:cs typeface="Times New Roman" pitchFamily="18" charset="0"/>
              </a:rPr>
              <a:t>Mentimeter</a:t>
            </a:r>
            <a:r>
              <a:rPr lang="en-GB" sz="1600" b="1" dirty="0">
                <a:latin typeface="Times New Roman" pitchFamily="18" charset="0"/>
                <a:cs typeface="Times New Roman" pitchFamily="18" charset="0"/>
              </a:rPr>
              <a:t> gives various features and interactivity for students. This makes the learning heartful and easy to remember. So, this motivates to create a Module based quizzes and level-based progression to consistent incoming of specific Department students irrespective of their syllabus. Thus, Motivation is to study the effectiveness   </a:t>
            </a:r>
          </a:p>
        </p:txBody>
      </p:sp>
      <p:sp>
        <p:nvSpPr>
          <p:cNvPr id="8" name="TextBox 7"/>
          <p:cNvSpPr txBox="1"/>
          <p:nvPr/>
        </p:nvSpPr>
        <p:spPr>
          <a:xfrm>
            <a:off x="187467" y="2325312"/>
            <a:ext cx="5686750" cy="2092881"/>
          </a:xfrm>
          <a:prstGeom prst="rect">
            <a:avLst/>
          </a:prstGeom>
          <a:noFill/>
        </p:spPr>
        <p:txBody>
          <a:bodyPr wrap="none" rtlCol="0">
            <a:spAutoFit/>
          </a:bodyPr>
          <a:lstStyle/>
          <a:p>
            <a:r>
              <a:rPr lang="en-GB" b="1" dirty="0">
                <a:solidFill>
                  <a:srgbClr val="C00000"/>
                </a:solidFill>
                <a:latin typeface="Times New Roman" pitchFamily="18" charset="0"/>
                <a:cs typeface="Times New Roman" pitchFamily="18" charset="0"/>
              </a:rPr>
              <a:t>Challenges to be addressed:</a:t>
            </a:r>
          </a:p>
          <a:p>
            <a:pPr marL="285750" indent="-285750">
              <a:buFont typeface="Arial" panose="020B0604020202020204" pitchFamily="34" charset="0"/>
              <a:buChar char="•"/>
            </a:pPr>
            <a:r>
              <a:rPr lang="en-GB" sz="1600" b="1" dirty="0">
                <a:latin typeface="Times New Roman" pitchFamily="18" charset="0"/>
                <a:cs typeface="Times New Roman" pitchFamily="18" charset="0"/>
              </a:rPr>
              <a:t>Handling Multiple Users at once (Scaling)</a:t>
            </a:r>
          </a:p>
          <a:p>
            <a:pPr marL="285750" indent="-285750">
              <a:buFont typeface="Arial" panose="020B0604020202020204" pitchFamily="34" charset="0"/>
              <a:buChar char="•"/>
            </a:pPr>
            <a:r>
              <a:rPr lang="en-GB" sz="1600" b="1" dirty="0">
                <a:latin typeface="Times New Roman" pitchFamily="18" charset="0"/>
                <a:cs typeface="Times New Roman" pitchFamily="18" charset="0"/>
              </a:rPr>
              <a:t>Creating Creative Question Modes</a:t>
            </a:r>
          </a:p>
          <a:p>
            <a:pPr marL="285750" indent="-285750">
              <a:buFont typeface="Arial" panose="020B0604020202020204" pitchFamily="34" charset="0"/>
              <a:buChar char="•"/>
            </a:pPr>
            <a:r>
              <a:rPr lang="en-GB" sz="1600" b="1" dirty="0">
                <a:latin typeface="Times New Roman" pitchFamily="18" charset="0"/>
                <a:cs typeface="Times New Roman" pitchFamily="18" charset="0"/>
              </a:rPr>
              <a:t>Selecting Suitable UI</a:t>
            </a:r>
          </a:p>
          <a:p>
            <a:pPr marL="285750" indent="-285750">
              <a:buFont typeface="Arial" panose="020B0604020202020204" pitchFamily="34" charset="0"/>
              <a:buChar char="•"/>
            </a:pPr>
            <a:r>
              <a:rPr lang="en-GB" sz="1600" b="1" dirty="0">
                <a:latin typeface="Times New Roman" pitchFamily="18" charset="0"/>
                <a:cs typeface="Times New Roman" pitchFamily="18" charset="0"/>
              </a:rPr>
              <a:t>Thinking of creative features to add</a:t>
            </a:r>
          </a:p>
          <a:p>
            <a:pPr marL="285750" indent="-285750">
              <a:buFont typeface="Arial" panose="020B0604020202020204" pitchFamily="34" charset="0"/>
              <a:buChar char="•"/>
            </a:pPr>
            <a:r>
              <a:rPr lang="en-GB" sz="1600" b="1" dirty="0">
                <a:latin typeface="Times New Roman" pitchFamily="18" charset="0"/>
                <a:cs typeface="Times New Roman" pitchFamily="18" charset="0"/>
              </a:rPr>
              <a:t>Making it portable for Multi Device</a:t>
            </a:r>
          </a:p>
          <a:p>
            <a:pPr marL="285750" indent="-285750">
              <a:buFont typeface="Arial" panose="020B0604020202020204" pitchFamily="34" charset="0"/>
              <a:buChar char="•"/>
            </a:pPr>
            <a:r>
              <a:rPr lang="en-GB" sz="1600" b="1" dirty="0">
                <a:latin typeface="Times New Roman" pitchFamily="18" charset="0"/>
                <a:cs typeface="Times New Roman" pitchFamily="18" charset="0"/>
              </a:rPr>
              <a:t>Designing User-centric customizations</a:t>
            </a:r>
          </a:p>
          <a:p>
            <a:pPr marL="285750" indent="-285750">
              <a:buFont typeface="Arial" panose="020B0604020202020204" pitchFamily="34" charset="0"/>
              <a:buChar char="•"/>
            </a:pPr>
            <a:r>
              <a:rPr lang="en-GB" sz="1600" b="1" dirty="0">
                <a:latin typeface="Times New Roman" pitchFamily="18" charset="0"/>
                <a:cs typeface="Times New Roman" pitchFamily="18" charset="0"/>
              </a:rPr>
              <a:t>Implementing security measures for security of the website </a:t>
            </a:r>
          </a:p>
        </p:txBody>
      </p:sp>
    </p:spTree>
    <p:extLst>
      <p:ext uri="{BB962C8B-B14F-4D97-AF65-F5344CB8AC3E}">
        <p14:creationId xmlns:p14="http://schemas.microsoft.com/office/powerpoint/2010/main" val="1196522430"/>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4</a:t>
            </a:fld>
            <a:endParaRPr lang="en-US" dirty="0"/>
          </a:p>
        </p:txBody>
      </p:sp>
      <p:sp>
        <p:nvSpPr>
          <p:cNvPr id="10" name="Title 1"/>
          <p:cNvSpPr>
            <a:spLocks noGrp="1"/>
          </p:cNvSpPr>
          <p:nvPr>
            <p:ph type="title"/>
          </p:nvPr>
        </p:nvSpPr>
        <p:spPr>
          <a:xfrm>
            <a:off x="674139" y="1"/>
            <a:ext cx="8172960" cy="433523"/>
          </a:xfrm>
        </p:spPr>
        <p:txBody>
          <a:bodyPr>
            <a:noAutofit/>
          </a:bodyPr>
          <a:lstStyle/>
          <a:p>
            <a:pPr algn="ct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REVIEW OF LITERATURE</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1910605918"/>
              </p:ext>
            </p:extLst>
          </p:nvPr>
        </p:nvGraphicFramePr>
        <p:xfrm>
          <a:off x="0" y="433524"/>
          <a:ext cx="9143999" cy="3924300"/>
        </p:xfrm>
        <a:graphic>
          <a:graphicData uri="http://schemas.openxmlformats.org/drawingml/2006/table">
            <a:tbl>
              <a:tblPr firstRow="1" bandRow="1">
                <a:tableStyleId>{5940675A-B579-460E-94D1-54222C63F5DA}</a:tableStyleId>
              </a:tblPr>
              <a:tblGrid>
                <a:gridCol w="999803">
                  <a:extLst>
                    <a:ext uri="{9D8B030D-6E8A-4147-A177-3AD203B41FA5}">
                      <a16:colId xmlns:a16="http://schemas.microsoft.com/office/drawing/2014/main" val="3245450958"/>
                    </a:ext>
                  </a:extLst>
                </a:gridCol>
                <a:gridCol w="1252617">
                  <a:extLst>
                    <a:ext uri="{9D8B030D-6E8A-4147-A177-3AD203B41FA5}">
                      <a16:colId xmlns:a16="http://schemas.microsoft.com/office/drawing/2014/main" val="3818927860"/>
                    </a:ext>
                  </a:extLst>
                </a:gridCol>
                <a:gridCol w="1508502">
                  <a:extLst>
                    <a:ext uri="{9D8B030D-6E8A-4147-A177-3AD203B41FA5}">
                      <a16:colId xmlns:a16="http://schemas.microsoft.com/office/drawing/2014/main" val="1974754508"/>
                    </a:ext>
                  </a:extLst>
                </a:gridCol>
                <a:gridCol w="1636149">
                  <a:extLst>
                    <a:ext uri="{9D8B030D-6E8A-4147-A177-3AD203B41FA5}">
                      <a16:colId xmlns:a16="http://schemas.microsoft.com/office/drawing/2014/main" val="1235881472"/>
                    </a:ext>
                  </a:extLst>
                </a:gridCol>
                <a:gridCol w="2145437">
                  <a:extLst>
                    <a:ext uri="{9D8B030D-6E8A-4147-A177-3AD203B41FA5}">
                      <a16:colId xmlns:a16="http://schemas.microsoft.com/office/drawing/2014/main" val="20004"/>
                    </a:ext>
                  </a:extLst>
                </a:gridCol>
                <a:gridCol w="1601491">
                  <a:extLst>
                    <a:ext uri="{9D8B030D-6E8A-4147-A177-3AD203B41FA5}">
                      <a16:colId xmlns:a16="http://schemas.microsoft.com/office/drawing/2014/main" val="3928919045"/>
                    </a:ext>
                  </a:extLst>
                </a:gridCol>
              </a:tblGrid>
              <a:tr h="158701">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baseline="0" dirty="0">
                          <a:latin typeface="Times New Roman" pitchFamily="18" charset="0"/>
                          <a:cs typeface="Times New Roman" pitchFamily="18" charset="0"/>
                        </a:rPr>
                        <a:t>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ctr"/>
                      <a:r>
                        <a:rPr sz="700" b="1" dirty="0">
                          <a:solidFill>
                            <a:srgbClr val="000000"/>
                          </a:solidFill>
                          <a:latin typeface="Times New Roman"/>
                        </a:rPr>
                        <a:t>R. Nguyen
2026</a:t>
                      </a:r>
                      <a:endParaRPr lang="en-IN" sz="1000" dirty="0"/>
                    </a:p>
                  </a:txBody>
                  <a:tcPr marT="34290" marB="34290"/>
                </a:tc>
                <a:tc>
                  <a:txBody>
                    <a:bodyPr/>
                    <a:lstStyle/>
                    <a:p>
                      <a:pPr algn="l"/>
                      <a:r>
                        <a:rPr sz="700" b="0">
                          <a:solidFill>
                            <a:srgbClr val="000000"/>
                          </a:solidFill>
                          <a:latin typeface="Times New Roman"/>
                        </a:rPr>
                        <a:t>Argumentative review &amp; pedagogical analysis of gamification frameworks applied to nursing curricula.</a:t>
                      </a:r>
                      <a:endParaRPr lang="en-IN" sz="1000" dirty="0"/>
                    </a:p>
                  </a:txBody>
                  <a:tcPr marT="34290" marB="34290"/>
                </a:tc>
                <a:tc>
                  <a:txBody>
                    <a:bodyPr/>
                    <a:lstStyle/>
                    <a:p>
                      <a:pPr algn="l"/>
                      <a:r>
                        <a:rPr sz="700" b="0">
                          <a:solidFill>
                            <a:srgbClr val="000000"/>
                          </a:solidFill>
                          <a:latin typeface="Times New Roman"/>
                        </a:rPr>
                        <a:t>Existing literature on nursing education gamification; not primary data collection.</a:t>
                      </a:r>
                      <a:endParaRPr lang="en-IN" sz="1000" dirty="0"/>
                    </a:p>
                  </a:txBody>
                  <a:tcPr marT="34290" marB="34290"/>
                </a:tc>
                <a:tc>
                  <a:txBody>
                    <a:bodyPr/>
                    <a:lstStyle/>
                    <a:p>
                      <a:pPr algn="l"/>
                      <a:r>
                        <a:rPr sz="700" b="0">
                          <a:solidFill>
                            <a:srgbClr val="000000"/>
                          </a:solidFill>
                          <a:latin typeface="Times New Roman"/>
                        </a:rPr>
                        <a:t>Gamification strategies (XP, leaderboards, rewards) significantly increase student motivation and knowledge retention.</a:t>
                      </a:r>
                      <a:endParaRPr lang="en-IN" sz="1000" dirty="0"/>
                    </a:p>
                  </a:txBody>
                  <a:tcPr marT="34290" marB="34290"/>
                </a:tc>
                <a:tc>
                  <a:txBody>
                    <a:bodyPr/>
                    <a:lstStyle/>
                    <a:p>
                      <a:pPr algn="l"/>
                      <a:r>
                        <a:rPr sz="700" b="0">
                          <a:solidFill>
                            <a:srgbClr val="000000"/>
                          </a:solidFill>
                          <a:latin typeface="Times New Roman"/>
                        </a:rPr>
                        <a:t>Establishes the theoretical basis for applying gamification in nursing; directly supports NurseQuest's XP and leveling model.</a:t>
                      </a:r>
                      <a:endParaRPr lang="en-IN" sz="1000" dirty="0"/>
                    </a:p>
                  </a:txBody>
                  <a:tcPr marT="34290" marB="34290"/>
                </a:tc>
                <a:tc>
                  <a:txBody>
                    <a:bodyPr/>
                    <a:lstStyle/>
                    <a:p>
                      <a:pPr algn="l"/>
                      <a:r>
                        <a:rPr sz="700" b="0">
                          <a:solidFill>
                            <a:srgbClr val="000000"/>
                          </a:solidFill>
                          <a:latin typeface="Times New Roman"/>
                        </a:rPr>
                        <a:t>Limited empirical data; lacks a controlled trial. Does not address technical implementation of gamification systems.</a:t>
                      </a:r>
                      <a:endParaRPr lang="en-IN" sz="1000" dirty="0"/>
                    </a:p>
                  </a:txBody>
                  <a:tcPr marT="34290" marB="34290"/>
                </a:tc>
                <a:extLst>
                  <a:ext uri="{0D108BD9-81ED-4DB2-BD59-A6C34878D82A}">
                    <a16:rowId xmlns:a16="http://schemas.microsoft.com/office/drawing/2014/main" val="1288415554"/>
                  </a:ext>
                </a:extLst>
              </a:tr>
              <a:tr h="293444">
                <a:tc>
                  <a:txBody>
                    <a:bodyPr/>
                    <a:lstStyle/>
                    <a:p>
                      <a:pPr algn="ctr"/>
                      <a:r>
                        <a:rPr sz="700" b="1">
                          <a:solidFill>
                            <a:srgbClr val="000000"/>
                          </a:solidFill>
                          <a:latin typeface="Times New Roman"/>
                        </a:rPr>
                        <a:t>A. Azoulay &amp; F. Lim
2026</a:t>
                      </a:r>
                      <a:endParaRPr lang="en-IN" sz="1000" dirty="0"/>
                    </a:p>
                  </a:txBody>
                  <a:tcPr marT="34290" marB="34290">
                    <a:solidFill>
                      <a:srgbClr val="F2DCDB"/>
                    </a:solidFill>
                  </a:tcPr>
                </a:tc>
                <a:tc>
                  <a:txBody>
                    <a:bodyPr/>
                    <a:lstStyle/>
                    <a:p>
                      <a:pPr algn="l"/>
                      <a:r>
                        <a:rPr sz="700" b="0">
                          <a:solidFill>
                            <a:srgbClr val="000000"/>
                          </a:solidFill>
                          <a:latin typeface="Times New Roman"/>
                        </a:rPr>
                        <a:t>Integrative review of 22 studies examining gamification effects on nursing academic performance.</a:t>
                      </a:r>
                      <a:endParaRPr lang="en-IN" sz="1000" dirty="0"/>
                    </a:p>
                  </a:txBody>
                  <a:tcPr marT="34290" marB="34290">
                    <a:solidFill>
                      <a:srgbClr val="F2DCDB"/>
                    </a:solidFill>
                  </a:tcPr>
                </a:tc>
                <a:tc>
                  <a:txBody>
                    <a:bodyPr/>
                    <a:lstStyle/>
                    <a:p>
                      <a:pPr algn="l"/>
                      <a:r>
                        <a:rPr sz="700" b="0" dirty="0">
                          <a:solidFill>
                            <a:srgbClr val="000000"/>
                          </a:solidFill>
                          <a:latin typeface="Times New Roman"/>
                        </a:rPr>
                        <a:t>22 peer-reviewed studies on nursing student cohorts in higher education institutions.</a:t>
                      </a:r>
                      <a:endParaRPr lang="en-IN" sz="1000" dirty="0"/>
                    </a:p>
                  </a:txBody>
                  <a:tcPr marT="34290" marB="34290">
                    <a:solidFill>
                      <a:srgbClr val="F2DCDB"/>
                    </a:solidFill>
                  </a:tcPr>
                </a:tc>
                <a:tc>
                  <a:txBody>
                    <a:bodyPr/>
                    <a:lstStyle/>
                    <a:p>
                      <a:pPr algn="l"/>
                      <a:r>
                        <a:rPr sz="700" b="0">
                          <a:solidFill>
                            <a:srgbClr val="000000"/>
                          </a:solidFill>
                          <a:latin typeface="Times New Roman"/>
                        </a:rPr>
                        <a:t>Gamified platforms improved academic performance scores by an average of 18% compared to traditional methods.</a:t>
                      </a:r>
                      <a:endParaRPr lang="en-IN" sz="1000" dirty="0"/>
                    </a:p>
                  </a:txBody>
                  <a:tcPr marT="34290" marB="34290">
                    <a:solidFill>
                      <a:srgbClr val="F2DCDB"/>
                    </a:solidFill>
                  </a:tcPr>
                </a:tc>
                <a:tc>
                  <a:txBody>
                    <a:bodyPr/>
                    <a:lstStyle/>
                    <a:p>
                      <a:pPr algn="l"/>
                      <a:r>
                        <a:rPr sz="700" b="0">
                          <a:solidFill>
                            <a:srgbClr val="000000"/>
                          </a:solidFill>
                          <a:latin typeface="Times New Roman"/>
                        </a:rPr>
                        <a:t>Provides strong evidence that gamified platforms improve academic scores; validates NurseQuest's evidence-based design.</a:t>
                      </a:r>
                      <a:endParaRPr lang="en-IN" sz="1000" dirty="0"/>
                    </a:p>
                  </a:txBody>
                  <a:tcPr marT="34290" marB="34290">
                    <a:solidFill>
                      <a:srgbClr val="F2DCDB"/>
                    </a:solidFill>
                  </a:tcPr>
                </a:tc>
                <a:tc>
                  <a:txBody>
                    <a:bodyPr/>
                    <a:lstStyle/>
                    <a:p>
                      <a:pPr algn="l"/>
                      <a:r>
                        <a:rPr sz="700" b="0">
                          <a:solidFill>
                            <a:srgbClr val="000000"/>
                          </a:solidFill>
                          <a:latin typeface="Times New Roman"/>
                        </a:rPr>
                        <a:t>Studies varied widely in gamification type and measurement; no standardized scoring metric across studies.</a:t>
                      </a:r>
                      <a:endParaRPr lang="en-IN" sz="1000" dirty="0"/>
                    </a:p>
                  </a:txBody>
                  <a:tcPr marT="34290" marB="34290">
                    <a:solidFill>
                      <a:srgbClr val="F2DCDB"/>
                    </a:solidFill>
                  </a:tcPr>
                </a:tc>
                <a:extLst>
                  <a:ext uri="{0D108BD9-81ED-4DB2-BD59-A6C34878D82A}">
                    <a16:rowId xmlns:a16="http://schemas.microsoft.com/office/drawing/2014/main" val="10002"/>
                  </a:ext>
                </a:extLst>
              </a:tr>
              <a:tr h="293444">
                <a:tc>
                  <a:txBody>
                    <a:bodyPr/>
                    <a:lstStyle/>
                    <a:p>
                      <a:pPr algn="ctr"/>
                      <a:r>
                        <a:rPr sz="700" b="1">
                          <a:solidFill>
                            <a:srgbClr val="000000"/>
                          </a:solidFill>
                          <a:latin typeface="Times New Roman"/>
                        </a:rPr>
                        <a:t>S. Aalaei et al.
2026</a:t>
                      </a:r>
                      <a:endParaRPr lang="en-IN" sz="1000" dirty="0"/>
                    </a:p>
                  </a:txBody>
                  <a:tcPr marT="34290" marB="34290"/>
                </a:tc>
                <a:tc>
                  <a:txBody>
                    <a:bodyPr/>
                    <a:lstStyle/>
                    <a:p>
                      <a:pPr algn="l"/>
                      <a:r>
                        <a:rPr sz="700" b="0">
                          <a:solidFill>
                            <a:srgbClr val="000000"/>
                          </a:solidFill>
                          <a:latin typeface="Times New Roman"/>
                        </a:rPr>
                        <a:t>Quasi-experimental pre-post study evaluating a gamified mobile app for cardiac rhythm interpretation.</a:t>
                      </a:r>
                      <a:endParaRPr lang="en-IN" sz="1000" dirty="0"/>
                    </a:p>
                  </a:txBody>
                  <a:tcPr marT="34290" marB="34290"/>
                </a:tc>
                <a:tc>
                  <a:txBody>
                    <a:bodyPr/>
                    <a:lstStyle/>
                    <a:p>
                      <a:pPr algn="l"/>
                      <a:r>
                        <a:rPr sz="700" b="0">
                          <a:solidFill>
                            <a:srgbClr val="000000"/>
                          </a:solidFill>
                          <a:latin typeface="Times New Roman"/>
                        </a:rPr>
                        <a:t>60 undergraduate nursing students tested pre/post on ECG interpretation using a gamified mobile application.</a:t>
                      </a:r>
                      <a:endParaRPr lang="en-IN" sz="1000" dirty="0"/>
                    </a:p>
                  </a:txBody>
                  <a:tcPr marT="34290" marB="34290"/>
                </a:tc>
                <a:tc>
                  <a:txBody>
                    <a:bodyPr/>
                    <a:lstStyle/>
                    <a:p>
                      <a:pPr algn="l"/>
                      <a:r>
                        <a:rPr sz="700" b="0">
                          <a:solidFill>
                            <a:srgbClr val="000000"/>
                          </a:solidFill>
                          <a:latin typeface="Times New Roman"/>
                        </a:rPr>
                        <a:t>Significant improvement in ECG interpretation scores post-intervention (p&lt;0.001); students rated engagement highly.</a:t>
                      </a:r>
                      <a:endParaRPr lang="en-IN" sz="1000" dirty="0"/>
                    </a:p>
                  </a:txBody>
                  <a:tcPr marT="34290" marB="34290"/>
                </a:tc>
                <a:tc>
                  <a:txBody>
                    <a:bodyPr/>
                    <a:lstStyle/>
                    <a:p>
                      <a:pPr algn="l"/>
                      <a:r>
                        <a:rPr sz="700" b="0">
                          <a:solidFill>
                            <a:srgbClr val="000000"/>
                          </a:solidFill>
                          <a:latin typeface="Times New Roman"/>
                        </a:rPr>
                        <a:t>Domain-specific gamified assessment design; directly informs NurseQuest's Image/Audio-based clinical question types.</a:t>
                      </a:r>
                      <a:endParaRPr lang="en-IN" sz="1000" dirty="0"/>
                    </a:p>
                  </a:txBody>
                  <a:tcPr marT="34290" marB="34290"/>
                </a:tc>
                <a:tc>
                  <a:txBody>
                    <a:bodyPr/>
                    <a:lstStyle/>
                    <a:p>
                      <a:pPr algn="l"/>
                      <a:r>
                        <a:rPr sz="700" b="0">
                          <a:solidFill>
                            <a:srgbClr val="000000"/>
                          </a:solidFill>
                          <a:latin typeface="Times New Roman"/>
                        </a:rPr>
                        <a:t>Single-institution study; limited generalizability. App was mobile-only with no web or multiplayer capability.</a:t>
                      </a:r>
                      <a:endParaRPr lang="en-IN" sz="1000" dirty="0"/>
                    </a:p>
                  </a:txBody>
                  <a:tcPr marT="34290" marB="34290"/>
                </a:tc>
                <a:extLst>
                  <a:ext uri="{0D108BD9-81ED-4DB2-BD59-A6C34878D82A}">
                    <a16:rowId xmlns:a16="http://schemas.microsoft.com/office/drawing/2014/main" val="10003"/>
                  </a:ext>
                </a:extLst>
              </a:tr>
              <a:tr h="293444">
                <a:tc>
                  <a:txBody>
                    <a:bodyPr/>
                    <a:lstStyle/>
                    <a:p>
                      <a:pPr algn="ctr"/>
                      <a:r>
                        <a:rPr sz="700" b="1">
                          <a:solidFill>
                            <a:srgbClr val="000000"/>
                          </a:solidFill>
                          <a:latin typeface="Times New Roman"/>
                        </a:rPr>
                        <a:t>M. AlMekkawi et al.
2026</a:t>
                      </a:r>
                      <a:endParaRPr lang="en-IN" sz="1000" dirty="0"/>
                    </a:p>
                  </a:txBody>
                  <a:tcPr marT="34290" marB="34290">
                    <a:solidFill>
                      <a:srgbClr val="F2DCDB"/>
                    </a:solidFill>
                  </a:tcPr>
                </a:tc>
                <a:tc>
                  <a:txBody>
                    <a:bodyPr/>
                    <a:lstStyle/>
                    <a:p>
                      <a:pPr algn="l"/>
                      <a:r>
                        <a:rPr sz="700" b="0">
                          <a:solidFill>
                            <a:srgbClr val="000000"/>
                          </a:solidFill>
                          <a:latin typeface="Times New Roman"/>
                        </a:rPr>
                        <a:t>Systematic review and meta-analysis of 18 RCTs and quasi-experimental studies on game-based learning in nursing.</a:t>
                      </a:r>
                      <a:endParaRPr lang="en-IN" sz="1000" dirty="0"/>
                    </a:p>
                  </a:txBody>
                  <a:tcPr marT="34290" marB="34290">
                    <a:solidFill>
                      <a:srgbClr val="F2DCDB"/>
                    </a:solidFill>
                  </a:tcPr>
                </a:tc>
                <a:tc>
                  <a:txBody>
                    <a:bodyPr/>
                    <a:lstStyle/>
                    <a:p>
                      <a:pPr algn="l"/>
                      <a:r>
                        <a:rPr sz="700" b="0">
                          <a:solidFill>
                            <a:srgbClr val="000000"/>
                          </a:solidFill>
                          <a:latin typeface="Times New Roman"/>
                        </a:rPr>
                        <a:t>18 studies across undergraduate nursing programs globally; 1,200+ students aggregated.</a:t>
                      </a:r>
                      <a:endParaRPr lang="en-IN" sz="1000" dirty="0"/>
                    </a:p>
                  </a:txBody>
                  <a:tcPr marT="34290" marB="34290">
                    <a:solidFill>
                      <a:srgbClr val="F2DCDB"/>
                    </a:solidFill>
                  </a:tcPr>
                </a:tc>
                <a:tc>
                  <a:txBody>
                    <a:bodyPr/>
                    <a:lstStyle/>
                    <a:p>
                      <a:pPr algn="l"/>
                      <a:r>
                        <a:rPr sz="700" b="0">
                          <a:solidFill>
                            <a:srgbClr val="000000"/>
                          </a:solidFill>
                          <a:latin typeface="Times New Roman"/>
                        </a:rPr>
                        <a:t>Game-based learning showed statistically significant improvements in knowledge retention (SMD=0.72) and clinical reasoning.</a:t>
                      </a:r>
                      <a:endParaRPr lang="en-IN" sz="1000" dirty="0"/>
                    </a:p>
                  </a:txBody>
                  <a:tcPr marT="34290" marB="34290">
                    <a:solidFill>
                      <a:srgbClr val="F2DCDB"/>
                    </a:solidFill>
                  </a:tcPr>
                </a:tc>
                <a:tc>
                  <a:txBody>
                    <a:bodyPr/>
                    <a:lstStyle/>
                    <a:p>
                      <a:pPr algn="l"/>
                      <a:r>
                        <a:rPr sz="700" b="0">
                          <a:solidFill>
                            <a:srgbClr val="000000"/>
                          </a:solidFill>
                          <a:latin typeface="Times New Roman"/>
                        </a:rPr>
                        <a:t>Meta-analysis with strong statistical power confirming game-based learning effectiveness for nursing education.</a:t>
                      </a:r>
                      <a:endParaRPr lang="en-IN" sz="1000" dirty="0"/>
                    </a:p>
                  </a:txBody>
                  <a:tcPr marT="34290" marB="34290">
                    <a:solidFill>
                      <a:srgbClr val="F2DCDB"/>
                    </a:solidFill>
                  </a:tcPr>
                </a:tc>
                <a:tc>
                  <a:txBody>
                    <a:bodyPr/>
                    <a:lstStyle/>
                    <a:p>
                      <a:pPr algn="l"/>
                      <a:r>
                        <a:rPr sz="700" b="0">
                          <a:solidFill>
                            <a:srgbClr val="000000"/>
                          </a:solidFill>
                          <a:latin typeface="Times New Roman"/>
                        </a:rPr>
                        <a:t>High heterogeneity among included studies; most games were desktop-only and lacked real-time multiplayer components.</a:t>
                      </a:r>
                      <a:endParaRPr lang="en-IN" sz="1000" dirty="0"/>
                    </a:p>
                  </a:txBody>
                  <a:tcPr marT="34290" marB="34290">
                    <a:solidFill>
                      <a:srgbClr val="F2DCDB"/>
                    </a:solidFill>
                  </a:tcPr>
                </a:tc>
                <a:extLst>
                  <a:ext uri="{0D108BD9-81ED-4DB2-BD59-A6C34878D82A}">
                    <a16:rowId xmlns:a16="http://schemas.microsoft.com/office/drawing/2014/main" val="10004"/>
                  </a:ext>
                </a:extLst>
              </a:tr>
              <a:tr h="293444">
                <a:tc>
                  <a:txBody>
                    <a:bodyPr/>
                    <a:lstStyle/>
                    <a:p>
                      <a:pPr algn="ctr"/>
                      <a:r>
                        <a:rPr sz="700" b="1">
                          <a:solidFill>
                            <a:srgbClr val="000000"/>
                          </a:solidFill>
                          <a:latin typeface="Times New Roman"/>
                        </a:rPr>
                        <a:t>V. I. Bahar et al.
2026</a:t>
                      </a:r>
                      <a:endParaRPr lang="en-IN" sz="1000" dirty="0"/>
                    </a:p>
                  </a:txBody>
                  <a:tcPr marT="34290" marB="34290"/>
                </a:tc>
                <a:tc>
                  <a:txBody>
                    <a:bodyPr/>
                    <a:lstStyle/>
                    <a:p>
                      <a:pPr algn="l"/>
                      <a:r>
                        <a:rPr sz="700" b="0">
                          <a:solidFill>
                            <a:srgbClr val="000000"/>
                          </a:solidFill>
                          <a:latin typeface="Times New Roman"/>
                        </a:rPr>
                        <a:t>Descriptive, cross-sectional study evaluating a serious game's impact on palliative care awareness in nursing students.</a:t>
                      </a:r>
                      <a:endParaRPr lang="en-IN" sz="1000" dirty="0"/>
                    </a:p>
                  </a:txBody>
                  <a:tcPr marT="34290" marB="34290"/>
                </a:tc>
                <a:tc>
                  <a:txBody>
                    <a:bodyPr/>
                    <a:lstStyle/>
                    <a:p>
                      <a:pPr algn="l"/>
                      <a:r>
                        <a:rPr sz="700" b="0">
                          <a:solidFill>
                            <a:srgbClr val="000000"/>
                          </a:solidFill>
                          <a:latin typeface="Times New Roman"/>
                        </a:rPr>
                        <a:t>85 third-year nursing students from a Turkish university who played the serious game over 2 weeks.</a:t>
                      </a:r>
                      <a:endParaRPr lang="en-IN" sz="1000" dirty="0"/>
                    </a:p>
                  </a:txBody>
                  <a:tcPr marT="34290" marB="34290"/>
                </a:tc>
                <a:tc>
                  <a:txBody>
                    <a:bodyPr/>
                    <a:lstStyle/>
                    <a:p>
                      <a:pPr algn="l"/>
                      <a:r>
                        <a:rPr sz="700" b="0" dirty="0">
                          <a:solidFill>
                            <a:srgbClr val="000000"/>
                          </a:solidFill>
                          <a:latin typeface="Times New Roman"/>
                        </a:rPr>
                        <a:t>Palliative care awareness scores significantly increased post-game (p&lt;0.05); students reported higher empathy levels.</a:t>
                      </a:r>
                      <a:endParaRPr lang="en-IN" sz="1000" dirty="0"/>
                    </a:p>
                  </a:txBody>
                  <a:tcPr marT="34290" marB="34290"/>
                </a:tc>
                <a:tc>
                  <a:txBody>
                    <a:bodyPr/>
                    <a:lstStyle/>
                    <a:p>
                      <a:pPr algn="l"/>
                      <a:r>
                        <a:rPr sz="700" b="0">
                          <a:solidFill>
                            <a:srgbClr val="000000"/>
                          </a:solidFill>
                          <a:latin typeface="Times New Roman"/>
                        </a:rPr>
                        <a:t>Demonstrates that serious games work in specialized nursing domains; aligns with NurseQuest's domain module concept.</a:t>
                      </a:r>
                      <a:endParaRPr lang="en-IN" sz="1000" dirty="0"/>
                    </a:p>
                  </a:txBody>
                  <a:tcPr marT="34290" marB="34290"/>
                </a:tc>
                <a:tc>
                  <a:txBody>
                    <a:bodyPr/>
                    <a:lstStyle/>
                    <a:p>
                      <a:pPr algn="l"/>
                      <a:r>
                        <a:rPr sz="700" b="0">
                          <a:solidFill>
                            <a:srgbClr val="000000"/>
                          </a:solidFill>
                          <a:latin typeface="Times New Roman"/>
                        </a:rPr>
                        <a:t>Focused on a single nursing topic (palliative care); no leaderboard, progression system, or multiplayer component.</a:t>
                      </a:r>
                      <a:endParaRPr lang="en-IN" sz="1000" dirty="0"/>
                    </a:p>
                  </a:txBody>
                  <a:tcPr marT="34290" marB="34290"/>
                </a:tc>
                <a:extLst>
                  <a:ext uri="{0D108BD9-81ED-4DB2-BD59-A6C34878D82A}">
                    <a16:rowId xmlns:a16="http://schemas.microsoft.com/office/drawing/2014/main" val="10005"/>
                  </a:ext>
                </a:extLst>
              </a:tr>
              <a:tr h="293444">
                <a:tc>
                  <a:txBody>
                    <a:bodyPr/>
                    <a:lstStyle/>
                    <a:p>
                      <a:pPr algn="ctr"/>
                      <a:r>
                        <a:rPr sz="700" b="1">
                          <a:solidFill>
                            <a:srgbClr val="000000"/>
                          </a:solidFill>
                          <a:latin typeface="Times New Roman"/>
                        </a:rPr>
                        <a:t>K. McMillan et al.
2026</a:t>
                      </a:r>
                      <a:endParaRPr lang="en-IN" sz="1000" dirty="0"/>
                    </a:p>
                  </a:txBody>
                  <a:tcPr marT="34290" marB="34290">
                    <a:solidFill>
                      <a:srgbClr val="F2DCDB"/>
                    </a:solidFill>
                  </a:tcPr>
                </a:tc>
                <a:tc>
                  <a:txBody>
                    <a:bodyPr/>
                    <a:lstStyle/>
                    <a:p>
                      <a:pPr algn="l"/>
                      <a:r>
                        <a:rPr sz="700" b="0">
                          <a:solidFill>
                            <a:srgbClr val="000000"/>
                          </a:solidFill>
                          <a:latin typeface="Times New Roman"/>
                        </a:rPr>
                        <a:t>Scoping review protocol following JBI methodology for gamification design in preregistration nurse education.</a:t>
                      </a:r>
                      <a:endParaRPr lang="en-IN" sz="1000" dirty="0"/>
                    </a:p>
                  </a:txBody>
                  <a:tcPr marT="34290" marB="34290">
                    <a:solidFill>
                      <a:srgbClr val="F2DCDB"/>
                    </a:solidFill>
                  </a:tcPr>
                </a:tc>
                <a:tc>
                  <a:txBody>
                    <a:bodyPr/>
                    <a:lstStyle/>
                    <a:p>
                      <a:pPr algn="l"/>
                      <a:r>
                        <a:rPr sz="700" b="0">
                          <a:solidFill>
                            <a:srgbClr val="000000"/>
                          </a:solidFill>
                          <a:latin typeface="Times New Roman"/>
                        </a:rPr>
                        <a:t>Planned review of databases: CINAHL, MEDLINE, PsycINFO, Embase; no primary data collected yet.</a:t>
                      </a:r>
                      <a:endParaRPr lang="en-IN" sz="1000" dirty="0"/>
                    </a:p>
                  </a:txBody>
                  <a:tcPr marT="34290" marB="34290">
                    <a:solidFill>
                      <a:srgbClr val="F2DCDB"/>
                    </a:solidFill>
                  </a:tcPr>
                </a:tc>
                <a:tc>
                  <a:txBody>
                    <a:bodyPr/>
                    <a:lstStyle/>
                    <a:p>
                      <a:pPr algn="l"/>
                      <a:r>
                        <a:rPr sz="700" b="0" dirty="0">
                          <a:solidFill>
                            <a:srgbClr val="000000"/>
                          </a:solidFill>
                          <a:latin typeface="Times New Roman"/>
                        </a:rPr>
                        <a:t>Protocol identifies key design variables for nurse-targeted gamification: feedback loops, narrative, and leaderboards.</a:t>
                      </a:r>
                      <a:endParaRPr lang="en-IN" sz="1000" dirty="0"/>
                    </a:p>
                  </a:txBody>
                  <a:tcPr marT="34290" marB="34290">
                    <a:solidFill>
                      <a:srgbClr val="F2DCDB"/>
                    </a:solidFill>
                  </a:tcPr>
                </a:tc>
                <a:tc>
                  <a:txBody>
                    <a:bodyPr/>
                    <a:lstStyle/>
                    <a:p>
                      <a:pPr algn="l"/>
                      <a:r>
                        <a:rPr sz="700" b="0" dirty="0">
                          <a:solidFill>
                            <a:srgbClr val="000000"/>
                          </a:solidFill>
                          <a:latin typeface="Times New Roman"/>
                        </a:rPr>
                        <a:t>Defines design principles for nurse-targeted gamification; guides </a:t>
                      </a:r>
                      <a:r>
                        <a:rPr sz="700" b="0" dirty="0" err="1">
                          <a:solidFill>
                            <a:srgbClr val="000000"/>
                          </a:solidFill>
                          <a:latin typeface="Times New Roman"/>
                        </a:rPr>
                        <a:t>NurseQuest's</a:t>
                      </a:r>
                      <a:r>
                        <a:rPr sz="700" b="0" dirty="0">
                          <a:solidFill>
                            <a:srgbClr val="000000"/>
                          </a:solidFill>
                          <a:latin typeface="Times New Roman"/>
                        </a:rPr>
                        <a:t> leaderboard and badge system design.</a:t>
                      </a:r>
                      <a:endParaRPr lang="en-IN" sz="1000" dirty="0"/>
                    </a:p>
                  </a:txBody>
                  <a:tcPr marT="34290" marB="34290">
                    <a:solidFill>
                      <a:srgbClr val="F2DCDB"/>
                    </a:solidFill>
                  </a:tcPr>
                </a:tc>
                <a:tc>
                  <a:txBody>
                    <a:bodyPr/>
                    <a:lstStyle/>
                    <a:p>
                      <a:pPr algn="l"/>
                      <a:r>
                        <a:rPr sz="700" b="0" dirty="0">
                          <a:solidFill>
                            <a:srgbClr val="000000"/>
                          </a:solidFill>
                          <a:latin typeface="Times New Roman"/>
                        </a:rPr>
                        <a:t>Protocol paper only; full results not yet published. Lacks quantitative evidence of outcomes.</a:t>
                      </a:r>
                      <a:endParaRPr lang="en-IN" sz="1000" dirty="0"/>
                    </a:p>
                  </a:txBody>
                  <a:tcPr marT="34290" marB="34290">
                    <a:solidFill>
                      <a:srgbClr val="F2DCDB"/>
                    </a:solidFill>
                  </a:tcPr>
                </a:tc>
                <a:extLst>
                  <a:ext uri="{0D108BD9-81ED-4DB2-BD59-A6C34878D82A}">
                    <a16:rowId xmlns:a16="http://schemas.microsoft.com/office/drawing/2014/main" val="10006"/>
                  </a:ext>
                </a:extLst>
              </a:tr>
            </a:tbl>
          </a:graphicData>
        </a:graphic>
      </p:graphicFrame>
      <p:sp>
        <p:nvSpPr>
          <p:cNvPr id="3" name="Date Placeholder 2"/>
          <p:cNvSpPr>
            <a:spLocks noGrp="1"/>
          </p:cNvSpPr>
          <p:nvPr>
            <p:ph type="dt" sz="half" idx="10"/>
          </p:nvPr>
        </p:nvSpPr>
        <p:spPr/>
        <p:txBody>
          <a:bodyPr/>
          <a:lstStyle/>
          <a:p>
            <a:fld id="{4E2F8081-A97F-4DB5-8CE1-E687C3C2B1EA}" type="datetime3">
              <a:rPr lang="en-US" smtClean="0"/>
              <a:t>2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5</a:t>
            </a:fld>
            <a:endParaRPr lang="en-US" dirty="0"/>
          </a:p>
        </p:txBody>
      </p:sp>
      <p:sp>
        <p:nvSpPr>
          <p:cNvPr id="10" name="Title 1"/>
          <p:cNvSpPr>
            <a:spLocks noGrp="1"/>
          </p:cNvSpPr>
          <p:nvPr>
            <p:ph type="title"/>
          </p:nvPr>
        </p:nvSpPr>
        <p:spPr>
          <a:xfrm>
            <a:off x="109182" y="1"/>
            <a:ext cx="8737917" cy="433523"/>
          </a:xfrm>
        </p:spPr>
        <p:txBody>
          <a:bodyPr>
            <a:noAutofit/>
          </a:bodyPr>
          <a:lstStyle/>
          <a:p>
            <a:pPr algn="ctr">
              <a:lnSpc>
                <a:spcPct val="107000"/>
              </a:lnSpc>
              <a:spcBef>
                <a:spcPts val="0"/>
              </a:spcBef>
              <a:spcAft>
                <a:spcPts val="450"/>
              </a:spcAft>
            </a:pPr>
            <a:r>
              <a:rPr lang="en-US" sz="2400" b="1" dirty="0">
                <a:solidFill>
                  <a:srgbClr val="A50021"/>
                </a:solidFill>
                <a:latin typeface="Times New Roman" panose="02020603050405020304" pitchFamily="18" charset="0"/>
                <a:cs typeface="Times New Roman" panose="02020603050405020304" pitchFamily="18" charset="0"/>
              </a:rPr>
              <a:t>REVIEW OF LITERATURE</a:t>
            </a:r>
            <a:endParaRPr lang="en-US" sz="1800" b="1" dirty="0">
              <a:solidFill>
                <a:srgbClr val="A50021"/>
              </a:solidFill>
              <a:latin typeface="Times New Roman" panose="02020603050405020304" pitchFamily="18" charset="0"/>
              <a:cs typeface="Times New Roman" panose="02020603050405020304" pitchFamily="18" charset="0"/>
            </a:endParaRP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2869042260"/>
              </p:ext>
            </p:extLst>
          </p:nvPr>
        </p:nvGraphicFramePr>
        <p:xfrm>
          <a:off x="109182" y="495554"/>
          <a:ext cx="9054934" cy="3924300"/>
        </p:xfrm>
        <a:graphic>
          <a:graphicData uri="http://schemas.openxmlformats.org/drawingml/2006/table">
            <a:tbl>
              <a:tblPr firstRow="1" bandRow="1">
                <a:tableStyleId>{5940675A-B579-460E-94D1-54222C63F5DA}</a:tableStyleId>
              </a:tblPr>
              <a:tblGrid>
                <a:gridCol w="962477">
                  <a:extLst>
                    <a:ext uri="{9D8B030D-6E8A-4147-A177-3AD203B41FA5}">
                      <a16:colId xmlns:a16="http://schemas.microsoft.com/office/drawing/2014/main" val="3245450958"/>
                    </a:ext>
                  </a:extLst>
                </a:gridCol>
                <a:gridCol w="1256466">
                  <a:extLst>
                    <a:ext uri="{9D8B030D-6E8A-4147-A177-3AD203B41FA5}">
                      <a16:colId xmlns:a16="http://schemas.microsoft.com/office/drawing/2014/main" val="3818927860"/>
                    </a:ext>
                  </a:extLst>
                </a:gridCol>
                <a:gridCol w="1475232">
                  <a:extLst>
                    <a:ext uri="{9D8B030D-6E8A-4147-A177-3AD203B41FA5}">
                      <a16:colId xmlns:a16="http://schemas.microsoft.com/office/drawing/2014/main" val="1974754508"/>
                    </a:ext>
                  </a:extLst>
                </a:gridCol>
                <a:gridCol w="1501404">
                  <a:extLst>
                    <a:ext uri="{9D8B030D-6E8A-4147-A177-3AD203B41FA5}">
                      <a16:colId xmlns:a16="http://schemas.microsoft.com/office/drawing/2014/main" val="1235881472"/>
                    </a:ext>
                  </a:extLst>
                </a:gridCol>
                <a:gridCol w="2308147">
                  <a:extLst>
                    <a:ext uri="{9D8B030D-6E8A-4147-A177-3AD203B41FA5}">
                      <a16:colId xmlns:a16="http://schemas.microsoft.com/office/drawing/2014/main" val="20004"/>
                    </a:ext>
                  </a:extLst>
                </a:gridCol>
                <a:gridCol w="1551208">
                  <a:extLst>
                    <a:ext uri="{9D8B030D-6E8A-4147-A177-3AD203B41FA5}">
                      <a16:colId xmlns:a16="http://schemas.microsoft.com/office/drawing/2014/main" val="3928919045"/>
                    </a:ext>
                  </a:extLst>
                </a:gridCol>
              </a:tblGrid>
              <a:tr h="399796">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ctr"/>
                      <a:r>
                        <a:rPr sz="700" b="1">
                          <a:solidFill>
                            <a:srgbClr val="000000"/>
                          </a:solidFill>
                          <a:latin typeface="Times New Roman"/>
                        </a:rPr>
                        <a:t>N. Aktaş &amp; Y. Sazak
2025</a:t>
                      </a:r>
                      <a:endParaRPr lang="en-IN" sz="1000" dirty="0"/>
                    </a:p>
                  </a:txBody>
                  <a:tcPr marT="34290" marB="34290"/>
                </a:tc>
                <a:tc>
                  <a:txBody>
                    <a:bodyPr/>
                    <a:lstStyle/>
                    <a:p>
                      <a:pPr algn="l"/>
                      <a:r>
                        <a:rPr sz="700" b="0">
                          <a:solidFill>
                            <a:srgbClr val="000000"/>
                          </a:solidFill>
                          <a:latin typeface="Times New Roman"/>
                        </a:rPr>
                        <a:t>Quasi-experimental study using an escape room as the intervention for pharmacology knowledge acquisition.</a:t>
                      </a:r>
                      <a:endParaRPr lang="en-IN" sz="1000" dirty="0"/>
                    </a:p>
                  </a:txBody>
                  <a:tcPr marT="34290" marB="34290"/>
                </a:tc>
                <a:tc>
                  <a:txBody>
                    <a:bodyPr/>
                    <a:lstStyle/>
                    <a:p>
                      <a:pPr algn="l"/>
                      <a:r>
                        <a:rPr sz="700" b="0">
                          <a:solidFill>
                            <a:srgbClr val="000000"/>
                          </a:solidFill>
                          <a:latin typeface="Times New Roman"/>
                        </a:rPr>
                        <a:t>48 nursing students (intervention=24, control=24) at a Turkish nursing school over one semester.</a:t>
                      </a:r>
                      <a:endParaRPr lang="en-IN" sz="1000" dirty="0"/>
                    </a:p>
                  </a:txBody>
                  <a:tcPr marT="34290" marB="34290"/>
                </a:tc>
                <a:tc>
                  <a:txBody>
                    <a:bodyPr/>
                    <a:lstStyle/>
                    <a:p>
                      <a:pPr algn="l"/>
                      <a:r>
                        <a:rPr sz="700" b="0" dirty="0">
                          <a:solidFill>
                            <a:srgbClr val="000000"/>
                          </a:solidFill>
                          <a:latin typeface="Times New Roman"/>
                        </a:rPr>
                        <a:t>Escape room group scored significantly higher on post-tests (p&lt;0.01); higher satisfaction compared to lectures.</a:t>
                      </a:r>
                      <a:endParaRPr lang="en-IN" sz="1000" dirty="0"/>
                    </a:p>
                  </a:txBody>
                  <a:tcPr marT="34290" marB="34290"/>
                </a:tc>
                <a:tc>
                  <a:txBody>
                    <a:bodyPr/>
                    <a:lstStyle/>
                    <a:p>
                      <a:pPr algn="l"/>
                      <a:r>
                        <a:rPr sz="700" b="0" dirty="0">
                          <a:solidFill>
                            <a:srgbClr val="000000"/>
                          </a:solidFill>
                          <a:latin typeface="Times New Roman"/>
                        </a:rPr>
                        <a:t>Supports scenario-based quiz format; informs </a:t>
                      </a:r>
                      <a:r>
                        <a:rPr sz="700" b="0" dirty="0" err="1">
                          <a:solidFill>
                            <a:srgbClr val="000000"/>
                          </a:solidFill>
                          <a:latin typeface="Times New Roman"/>
                        </a:rPr>
                        <a:t>NurseQuest's</a:t>
                      </a:r>
                      <a:r>
                        <a:rPr sz="700" b="0" dirty="0">
                          <a:solidFill>
                            <a:srgbClr val="000000"/>
                          </a:solidFill>
                          <a:latin typeface="Times New Roman"/>
                        </a:rPr>
                        <a:t> Jumbled Letters and Sequence question type design.</a:t>
                      </a:r>
                      <a:endParaRPr lang="en-IN" sz="1000" dirty="0"/>
                    </a:p>
                  </a:txBody>
                  <a:tcPr marT="34290" marB="34290"/>
                </a:tc>
                <a:tc>
                  <a:txBody>
                    <a:bodyPr/>
                    <a:lstStyle/>
                    <a:p>
                      <a:pPr algn="l"/>
                      <a:r>
                        <a:rPr sz="700" b="0">
                          <a:solidFill>
                            <a:srgbClr val="000000"/>
                          </a:solidFill>
                          <a:latin typeface="Times New Roman"/>
                        </a:rPr>
                        <a:t>Physical escape room format; cannot scale digitally, no real-time scoring or remote accessibility.</a:t>
                      </a:r>
                      <a:endParaRPr lang="en-IN" sz="1000" dirty="0"/>
                    </a:p>
                  </a:txBody>
                  <a:tcPr marT="34290" marB="34290"/>
                </a:tc>
                <a:extLst>
                  <a:ext uri="{0D108BD9-81ED-4DB2-BD59-A6C34878D82A}">
                    <a16:rowId xmlns:a16="http://schemas.microsoft.com/office/drawing/2014/main" val="1288415554"/>
                  </a:ext>
                </a:extLst>
              </a:tr>
              <a:tr h="293444">
                <a:tc>
                  <a:txBody>
                    <a:bodyPr/>
                    <a:lstStyle/>
                    <a:p>
                      <a:pPr algn="ctr"/>
                      <a:r>
                        <a:rPr sz="700" b="1">
                          <a:solidFill>
                            <a:srgbClr val="000000"/>
                          </a:solidFill>
                          <a:latin typeface="Times New Roman"/>
                        </a:rPr>
                        <a:t>M. White &amp; T. Shellenbarger
2018</a:t>
                      </a:r>
                      <a:endParaRPr lang="en-IN" sz="1000" dirty="0"/>
                    </a:p>
                  </a:txBody>
                  <a:tcPr marT="34290" marB="34290">
                    <a:solidFill>
                      <a:srgbClr val="F2DCDB"/>
                    </a:solidFill>
                  </a:tcPr>
                </a:tc>
                <a:tc>
                  <a:txBody>
                    <a:bodyPr/>
                    <a:lstStyle/>
                    <a:p>
                      <a:pPr algn="l"/>
                      <a:r>
                        <a:rPr sz="700" b="0">
                          <a:solidFill>
                            <a:srgbClr val="000000"/>
                          </a:solidFill>
                          <a:latin typeface="Times New Roman"/>
                        </a:rPr>
                        <a:t>Descriptive study examining the integration of digital badges as motivational gamification in nursing courses.</a:t>
                      </a:r>
                      <a:endParaRPr lang="en-IN" sz="1000" dirty="0"/>
                    </a:p>
                  </a:txBody>
                  <a:tcPr marT="34290" marB="34290">
                    <a:solidFill>
                      <a:srgbClr val="F2DCDB"/>
                    </a:solidFill>
                  </a:tcPr>
                </a:tc>
                <a:tc>
                  <a:txBody>
                    <a:bodyPr/>
                    <a:lstStyle/>
                    <a:p>
                      <a:pPr algn="l"/>
                      <a:r>
                        <a:rPr sz="700" b="0">
                          <a:solidFill>
                            <a:srgbClr val="000000"/>
                          </a:solidFill>
                          <a:latin typeface="Times New Roman"/>
                        </a:rPr>
                        <a:t>Undergraduate nursing students across 3 semesters in a US university nursing program.</a:t>
                      </a:r>
                      <a:endParaRPr lang="en-IN" sz="1000" dirty="0"/>
                    </a:p>
                  </a:txBody>
                  <a:tcPr marT="34290" marB="34290">
                    <a:solidFill>
                      <a:srgbClr val="F2DCDB"/>
                    </a:solidFill>
                  </a:tcPr>
                </a:tc>
                <a:tc>
                  <a:txBody>
                    <a:bodyPr/>
                    <a:lstStyle/>
                    <a:p>
                      <a:pPr algn="l"/>
                      <a:r>
                        <a:rPr sz="700" b="0">
                          <a:solidFill>
                            <a:srgbClr val="000000"/>
                          </a:solidFill>
                          <a:latin typeface="Times New Roman"/>
                        </a:rPr>
                        <a:t>Badge-earning behavior correlated with higher assignment completion rates and increased student engagement.</a:t>
                      </a:r>
                      <a:endParaRPr lang="en-IN" sz="1000" dirty="0"/>
                    </a:p>
                  </a:txBody>
                  <a:tcPr marT="34290" marB="34290">
                    <a:solidFill>
                      <a:srgbClr val="F2DCDB"/>
                    </a:solidFill>
                  </a:tcPr>
                </a:tc>
                <a:tc>
                  <a:txBody>
                    <a:bodyPr/>
                    <a:lstStyle/>
                    <a:p>
                      <a:pPr algn="l"/>
                      <a:r>
                        <a:rPr sz="700" b="0">
                          <a:solidFill>
                            <a:srgbClr val="000000"/>
                          </a:solidFill>
                          <a:latin typeface="Times New Roman"/>
                        </a:rPr>
                        <a:t>Pioneering work on badge-based motivation in nursing; directly informs NurseQuest's achievement badge system.</a:t>
                      </a:r>
                      <a:endParaRPr lang="en-IN" sz="1000" dirty="0"/>
                    </a:p>
                  </a:txBody>
                  <a:tcPr marT="34290" marB="34290">
                    <a:solidFill>
                      <a:srgbClr val="F2DCDB"/>
                    </a:solidFill>
                  </a:tcPr>
                </a:tc>
                <a:tc>
                  <a:txBody>
                    <a:bodyPr/>
                    <a:lstStyle/>
                    <a:p>
                      <a:pPr algn="l"/>
                      <a:r>
                        <a:rPr sz="700" b="0">
                          <a:solidFill>
                            <a:srgbClr val="000000"/>
                          </a:solidFill>
                          <a:latin typeface="Times New Roman"/>
                        </a:rPr>
                        <a:t>Study predates modern web platforms; no XP, leaderboard, or real-time feedback component evaluated.</a:t>
                      </a:r>
                      <a:endParaRPr lang="en-IN" sz="1000" dirty="0"/>
                    </a:p>
                  </a:txBody>
                  <a:tcPr marT="34290" marB="34290">
                    <a:solidFill>
                      <a:srgbClr val="F2DCDB"/>
                    </a:solidFill>
                  </a:tcPr>
                </a:tc>
                <a:extLst>
                  <a:ext uri="{0D108BD9-81ED-4DB2-BD59-A6C34878D82A}">
                    <a16:rowId xmlns:a16="http://schemas.microsoft.com/office/drawing/2014/main" val="10002"/>
                  </a:ext>
                </a:extLst>
              </a:tr>
              <a:tr h="293444">
                <a:tc>
                  <a:txBody>
                    <a:bodyPr/>
                    <a:lstStyle/>
                    <a:p>
                      <a:pPr algn="ctr"/>
                      <a:r>
                        <a:rPr sz="700" b="1">
                          <a:solidFill>
                            <a:srgbClr val="000000"/>
                          </a:solidFill>
                          <a:latin typeface="Times New Roman"/>
                        </a:rPr>
                        <a:t>S. Mishra et al.
2026</a:t>
                      </a:r>
                      <a:endParaRPr lang="en-IN" sz="1000" dirty="0"/>
                    </a:p>
                  </a:txBody>
                  <a:tcPr marT="34290" marB="34290"/>
                </a:tc>
                <a:tc>
                  <a:txBody>
                    <a:bodyPr/>
                    <a:lstStyle/>
                    <a:p>
                      <a:pPr algn="l"/>
                      <a:r>
                        <a:rPr sz="700" b="0">
                          <a:solidFill>
                            <a:srgbClr val="000000"/>
                          </a:solidFill>
                          <a:latin typeface="Times New Roman"/>
                        </a:rPr>
                        <a:t>System design and development using Next.js, Node.js, and Socket.IO for a scalable multiplayer quiz platform.</a:t>
                      </a:r>
                      <a:endParaRPr lang="en-IN" sz="1000" dirty="0"/>
                    </a:p>
                  </a:txBody>
                  <a:tcPr marT="34290" marB="34290"/>
                </a:tc>
                <a:tc>
                  <a:txBody>
                    <a:bodyPr/>
                    <a:lstStyle/>
                    <a:p>
                      <a:pPr algn="l"/>
                      <a:r>
                        <a:rPr sz="700" b="0">
                          <a:solidFill>
                            <a:srgbClr val="000000"/>
                          </a:solidFill>
                          <a:latin typeface="Times New Roman"/>
                        </a:rPr>
                        <a:t>Load testing with 500 concurrent users; performance benchmarks for latency and throughput measured.</a:t>
                      </a:r>
                      <a:endParaRPr lang="en-IN" sz="1000" dirty="0"/>
                    </a:p>
                  </a:txBody>
                  <a:tcPr marT="34290" marB="34290"/>
                </a:tc>
                <a:tc>
                  <a:txBody>
                    <a:bodyPr/>
                    <a:lstStyle/>
                    <a:p>
                      <a:pPr algn="l"/>
                      <a:r>
                        <a:rPr sz="700" b="0">
                          <a:solidFill>
                            <a:srgbClr val="000000"/>
                          </a:solidFill>
                          <a:latin typeface="Times New Roman"/>
                        </a:rPr>
                        <a:t>Platform achieved sub-100ms latency under 500 concurrent users; Socket.IO enabled reliable real-time sync.</a:t>
                      </a:r>
                      <a:endParaRPr lang="en-IN" sz="1000" dirty="0"/>
                    </a:p>
                  </a:txBody>
                  <a:tcPr marT="34290" marB="34290"/>
                </a:tc>
                <a:tc>
                  <a:txBody>
                    <a:bodyPr/>
                    <a:lstStyle/>
                    <a:p>
                      <a:pPr algn="l"/>
                      <a:r>
                        <a:rPr sz="700" b="0">
                          <a:solidFill>
                            <a:srgbClr val="000000"/>
                          </a:solidFill>
                          <a:latin typeface="Times New Roman"/>
                        </a:rPr>
                        <a:t>Technical architecture reference for scalable quiz platforms; directly maps to NurseQuest's full-stack design.</a:t>
                      </a:r>
                      <a:endParaRPr lang="en-IN" sz="1000" dirty="0"/>
                    </a:p>
                  </a:txBody>
                  <a:tcPr marT="34290" marB="34290"/>
                </a:tc>
                <a:tc>
                  <a:txBody>
                    <a:bodyPr/>
                    <a:lstStyle/>
                    <a:p>
                      <a:pPr algn="l"/>
                      <a:r>
                        <a:rPr sz="700" b="0">
                          <a:solidFill>
                            <a:srgbClr val="000000"/>
                          </a:solidFill>
                          <a:latin typeface="Times New Roman"/>
                        </a:rPr>
                        <a:t>Generic quiz content; no domain specificity, no gamification progression (XP/badges), no role-based access.</a:t>
                      </a:r>
                      <a:endParaRPr lang="en-IN" sz="1000" dirty="0"/>
                    </a:p>
                  </a:txBody>
                  <a:tcPr marT="34290" marB="34290"/>
                </a:tc>
                <a:extLst>
                  <a:ext uri="{0D108BD9-81ED-4DB2-BD59-A6C34878D82A}">
                    <a16:rowId xmlns:a16="http://schemas.microsoft.com/office/drawing/2014/main" val="10003"/>
                  </a:ext>
                </a:extLst>
              </a:tr>
              <a:tr h="293444">
                <a:tc>
                  <a:txBody>
                    <a:bodyPr/>
                    <a:lstStyle/>
                    <a:p>
                      <a:pPr algn="ctr"/>
                      <a:r>
                        <a:rPr sz="700" b="1">
                          <a:solidFill>
                            <a:srgbClr val="000000"/>
                          </a:solidFill>
                          <a:latin typeface="Times New Roman"/>
                        </a:rPr>
                        <a:t>A. Kumar et al.
2025</a:t>
                      </a:r>
                      <a:endParaRPr lang="en-IN" sz="1000" dirty="0"/>
                    </a:p>
                  </a:txBody>
                  <a:tcPr marT="34290" marB="34290">
                    <a:solidFill>
                      <a:srgbClr val="F2DCDB"/>
                    </a:solidFill>
                  </a:tcPr>
                </a:tc>
                <a:tc>
                  <a:txBody>
                    <a:bodyPr/>
                    <a:lstStyle/>
                    <a:p>
                      <a:pPr algn="l"/>
                      <a:r>
                        <a:rPr sz="700" b="0">
                          <a:solidFill>
                            <a:srgbClr val="000000"/>
                          </a:solidFill>
                          <a:latin typeface="Times New Roman"/>
                        </a:rPr>
                        <a:t>Software development study using React 18, Node.js Express, and Socket.IO for a gamified quiz application.</a:t>
                      </a:r>
                      <a:endParaRPr lang="en-IN" sz="1000" dirty="0"/>
                    </a:p>
                  </a:txBody>
                  <a:tcPr marT="34290" marB="34290">
                    <a:solidFill>
                      <a:srgbClr val="F2DCDB"/>
                    </a:solidFill>
                  </a:tcPr>
                </a:tc>
                <a:tc>
                  <a:txBody>
                    <a:bodyPr/>
                    <a:lstStyle/>
                    <a:p>
                      <a:pPr algn="l"/>
                      <a:r>
                        <a:rPr sz="700" b="0">
                          <a:solidFill>
                            <a:srgbClr val="000000"/>
                          </a:solidFill>
                          <a:latin typeface="Times New Roman"/>
                        </a:rPr>
                        <a:t>Developer testing environment with 50 concurrent WebSocket connections; functional testing performed.</a:t>
                      </a:r>
                      <a:endParaRPr lang="en-IN" sz="1000" dirty="0"/>
                    </a:p>
                  </a:txBody>
                  <a:tcPr marT="34290" marB="34290">
                    <a:solidFill>
                      <a:srgbClr val="F2DCDB"/>
                    </a:solidFill>
                  </a:tcPr>
                </a:tc>
                <a:tc>
                  <a:txBody>
                    <a:bodyPr/>
                    <a:lstStyle/>
                    <a:p>
                      <a:pPr algn="l"/>
                      <a:r>
                        <a:rPr sz="700" b="0">
                          <a:solidFill>
                            <a:srgbClr val="000000"/>
                          </a:solidFill>
                          <a:latin typeface="Times New Roman"/>
                        </a:rPr>
                        <a:t>Demonstrated real-time score updates, live leaderboard sync, and responsive React UI across device types.</a:t>
                      </a:r>
                      <a:endParaRPr lang="en-IN" sz="1000" dirty="0"/>
                    </a:p>
                  </a:txBody>
                  <a:tcPr marT="34290" marB="34290">
                    <a:solidFill>
                      <a:srgbClr val="F2DCDB"/>
                    </a:solidFill>
                  </a:tcPr>
                </a:tc>
                <a:tc>
                  <a:txBody>
                    <a:bodyPr/>
                    <a:lstStyle/>
                    <a:p>
                      <a:pPr algn="l"/>
                      <a:r>
                        <a:rPr sz="700" b="0">
                          <a:solidFill>
                            <a:srgbClr val="000000"/>
                          </a:solidFill>
                          <a:latin typeface="Times New Roman"/>
                        </a:rPr>
                        <a:t>Blueprint for React + Socket.IO quiz architecture; validates NurseQuest's front-end and real-time stack choices.</a:t>
                      </a:r>
                      <a:endParaRPr lang="en-IN" sz="1000" dirty="0"/>
                    </a:p>
                  </a:txBody>
                  <a:tcPr marT="34290" marB="34290">
                    <a:solidFill>
                      <a:srgbClr val="F2DCDB"/>
                    </a:solidFill>
                  </a:tcPr>
                </a:tc>
                <a:tc>
                  <a:txBody>
                    <a:bodyPr/>
                    <a:lstStyle/>
                    <a:p>
                      <a:pPr algn="l"/>
                      <a:r>
                        <a:rPr sz="700" b="0">
                          <a:solidFill>
                            <a:srgbClr val="000000"/>
                          </a:solidFill>
                          <a:latin typeface="Times New Roman"/>
                        </a:rPr>
                        <a:t>No nursing or clinical domain content; lacks a progression system, role-based access, or media-rich questions.</a:t>
                      </a:r>
                      <a:endParaRPr lang="en-IN" sz="1000" dirty="0"/>
                    </a:p>
                  </a:txBody>
                  <a:tcPr marT="34290" marB="34290">
                    <a:solidFill>
                      <a:srgbClr val="F2DCDB"/>
                    </a:solidFill>
                  </a:tcPr>
                </a:tc>
                <a:extLst>
                  <a:ext uri="{0D108BD9-81ED-4DB2-BD59-A6C34878D82A}">
                    <a16:rowId xmlns:a16="http://schemas.microsoft.com/office/drawing/2014/main" val="10004"/>
                  </a:ext>
                </a:extLst>
              </a:tr>
              <a:tr h="293444">
                <a:tc>
                  <a:txBody>
                    <a:bodyPr/>
                    <a:lstStyle/>
                    <a:p>
                      <a:pPr algn="ctr"/>
                      <a:r>
                        <a:rPr sz="700" b="1">
                          <a:solidFill>
                            <a:srgbClr val="000000"/>
                          </a:solidFill>
                          <a:latin typeface="Times New Roman"/>
                        </a:rPr>
                        <a:t>J. Silva &amp; M. Santos
2023</a:t>
                      </a:r>
                      <a:endParaRPr lang="en-IN" sz="1000" dirty="0"/>
                    </a:p>
                  </a:txBody>
                  <a:tcPr marT="34290" marB="34290"/>
                </a:tc>
                <a:tc>
                  <a:txBody>
                    <a:bodyPr/>
                    <a:lstStyle/>
                    <a:p>
                      <a:pPr algn="l"/>
                      <a:r>
                        <a:rPr sz="700" b="0">
                          <a:solidFill>
                            <a:srgbClr val="000000"/>
                          </a:solidFill>
                          <a:latin typeface="Times New Roman"/>
                        </a:rPr>
                        <a:t>Comparative benchmarking study evaluating SQLite vs. PostgreSQL vs. MySQL for LMS-type web applications.</a:t>
                      </a:r>
                      <a:endParaRPr lang="en-IN" sz="1000" dirty="0"/>
                    </a:p>
                  </a:txBody>
                  <a:tcPr marT="34290" marB="34290"/>
                </a:tc>
                <a:tc>
                  <a:txBody>
                    <a:bodyPr/>
                    <a:lstStyle/>
                    <a:p>
                      <a:pPr algn="l"/>
                      <a:r>
                        <a:rPr sz="700" b="0">
                          <a:solidFill>
                            <a:srgbClr val="000000"/>
                          </a:solidFill>
                          <a:latin typeface="Times New Roman"/>
                        </a:rPr>
                        <a:t>Synthetic LMS database workloads: 100K records, read/write benchmarks, concurrent access tests.</a:t>
                      </a:r>
                      <a:endParaRPr lang="en-IN" sz="1000" dirty="0"/>
                    </a:p>
                  </a:txBody>
                  <a:tcPr marT="34290" marB="34290"/>
                </a:tc>
                <a:tc>
                  <a:txBody>
                    <a:bodyPr/>
                    <a:lstStyle/>
                    <a:p>
                      <a:pPr algn="l"/>
                      <a:r>
                        <a:rPr sz="700" b="0">
                          <a:solidFill>
                            <a:srgbClr val="000000"/>
                          </a:solidFill>
                          <a:latin typeface="Times New Roman"/>
                        </a:rPr>
                        <a:t>SQLite outperformed others in read-heavy single-server workloads; best suited for embedded deployments.</a:t>
                      </a:r>
                      <a:endParaRPr lang="en-IN" sz="1000" dirty="0"/>
                    </a:p>
                  </a:txBody>
                  <a:tcPr marT="34290" marB="34290"/>
                </a:tc>
                <a:tc>
                  <a:txBody>
                    <a:bodyPr/>
                    <a:lstStyle/>
                    <a:p>
                      <a:pPr algn="l"/>
                      <a:r>
                        <a:rPr sz="700" b="0">
                          <a:solidFill>
                            <a:srgbClr val="000000"/>
                          </a:solidFill>
                          <a:latin typeface="Times New Roman"/>
                        </a:rPr>
                        <a:t>Justifies SQLite (better-sqlite3) selection as NurseQuest's embedded database for single-server deployment.</a:t>
                      </a:r>
                      <a:endParaRPr lang="en-IN" sz="1000" dirty="0"/>
                    </a:p>
                  </a:txBody>
                  <a:tcPr marT="34290" marB="34290"/>
                </a:tc>
                <a:tc>
                  <a:txBody>
                    <a:bodyPr/>
                    <a:lstStyle/>
                    <a:p>
                      <a:pPr algn="l"/>
                      <a:r>
                        <a:rPr sz="700" b="0">
                          <a:solidFill>
                            <a:srgbClr val="000000"/>
                          </a:solidFill>
                          <a:latin typeface="Times New Roman"/>
                        </a:rPr>
                        <a:t>SQLite limitations in multi-server/distributed deployments are not addressed; not ideal for large-scale production.</a:t>
                      </a:r>
                      <a:endParaRPr lang="en-IN" sz="1000" dirty="0"/>
                    </a:p>
                  </a:txBody>
                  <a:tcPr marT="34290" marB="34290"/>
                </a:tc>
                <a:extLst>
                  <a:ext uri="{0D108BD9-81ED-4DB2-BD59-A6C34878D82A}">
                    <a16:rowId xmlns:a16="http://schemas.microsoft.com/office/drawing/2014/main" val="10005"/>
                  </a:ext>
                </a:extLst>
              </a:tr>
              <a:tr h="293444">
                <a:tc>
                  <a:txBody>
                    <a:bodyPr/>
                    <a:lstStyle/>
                    <a:p>
                      <a:pPr algn="ctr"/>
                      <a:r>
                        <a:rPr sz="700" b="1">
                          <a:solidFill>
                            <a:srgbClr val="000000"/>
                          </a:solidFill>
                          <a:latin typeface="Times New Roman"/>
                        </a:rPr>
                        <a:t>L. Chen &amp; X. Wang
2024</a:t>
                      </a:r>
                      <a:endParaRPr lang="en-IN" sz="1000" dirty="0"/>
                    </a:p>
                  </a:txBody>
                  <a:tcPr marT="34290" marB="34290">
                    <a:solidFill>
                      <a:srgbClr val="F2DCDB"/>
                    </a:solidFill>
                  </a:tcPr>
                </a:tc>
                <a:tc>
                  <a:txBody>
                    <a:bodyPr/>
                    <a:lstStyle/>
                    <a:p>
                      <a:pPr algn="l"/>
                      <a:r>
                        <a:rPr sz="700" b="0">
                          <a:solidFill>
                            <a:srgbClr val="000000"/>
                          </a:solidFill>
                          <a:latin typeface="Times New Roman"/>
                        </a:rPr>
                        <a:t>Experimental performance comparison of WebSocket (Socket.IO) and WebRTC for browser-based multiplayer games.</a:t>
                      </a:r>
                      <a:endParaRPr lang="en-IN" sz="1000" dirty="0"/>
                    </a:p>
                  </a:txBody>
                  <a:tcPr marT="34290" marB="34290">
                    <a:solidFill>
                      <a:srgbClr val="F2DCDB"/>
                    </a:solidFill>
                  </a:tcPr>
                </a:tc>
                <a:tc>
                  <a:txBody>
                    <a:bodyPr/>
                    <a:lstStyle/>
                    <a:p>
                      <a:pPr algn="l"/>
                      <a:r>
                        <a:rPr sz="700" b="0">
                          <a:solidFill>
                            <a:srgbClr val="000000"/>
                          </a:solidFill>
                          <a:latin typeface="Times New Roman"/>
                        </a:rPr>
                        <a:t>Simulated 200-player game sessions; latency, jitter, and packet loss measured under varying network conditions.</a:t>
                      </a:r>
                      <a:endParaRPr lang="en-IN" sz="1000" dirty="0"/>
                    </a:p>
                  </a:txBody>
                  <a:tcPr marT="34290" marB="34290">
                    <a:solidFill>
                      <a:srgbClr val="F2DCDB"/>
                    </a:solidFill>
                  </a:tcPr>
                </a:tc>
                <a:tc>
                  <a:txBody>
                    <a:bodyPr/>
                    <a:lstStyle/>
                    <a:p>
                      <a:pPr algn="l"/>
                      <a:r>
                        <a:rPr sz="700" b="0">
                          <a:solidFill>
                            <a:srgbClr val="000000"/>
                          </a:solidFill>
                          <a:latin typeface="Times New Roman"/>
                        </a:rPr>
                        <a:t>Socket.IO achieved lower average latency (42ms) and simpler server-side architecture than WebRTC for game sync.</a:t>
                      </a:r>
                      <a:endParaRPr lang="en-IN" sz="1000" dirty="0"/>
                    </a:p>
                  </a:txBody>
                  <a:tcPr marT="34290" marB="34290">
                    <a:solidFill>
                      <a:srgbClr val="F2DCDB"/>
                    </a:solidFill>
                  </a:tcPr>
                </a:tc>
                <a:tc>
                  <a:txBody>
                    <a:bodyPr/>
                    <a:lstStyle/>
                    <a:p>
                      <a:pPr algn="l"/>
                      <a:r>
                        <a:rPr sz="700" b="0" dirty="0">
                          <a:solidFill>
                            <a:srgbClr val="000000"/>
                          </a:solidFill>
                          <a:latin typeface="Times New Roman"/>
                        </a:rPr>
                        <a:t>Performance data supporting WebSocket (Socket.IO) choice for </a:t>
                      </a:r>
                      <a:r>
                        <a:rPr sz="700" b="0" dirty="0" err="1">
                          <a:solidFill>
                            <a:srgbClr val="000000"/>
                          </a:solidFill>
                          <a:latin typeface="Times New Roman"/>
                        </a:rPr>
                        <a:t>NurseQuest's</a:t>
                      </a:r>
                      <a:r>
                        <a:rPr sz="700" b="0" dirty="0">
                          <a:solidFill>
                            <a:srgbClr val="000000"/>
                          </a:solidFill>
                          <a:latin typeface="Times New Roman"/>
                        </a:rPr>
                        <a:t> live multiplayer quiz synchronization.</a:t>
                      </a:r>
                      <a:endParaRPr lang="en-IN" sz="1000" dirty="0"/>
                    </a:p>
                  </a:txBody>
                  <a:tcPr marT="34290" marB="34290">
                    <a:solidFill>
                      <a:srgbClr val="F2DCDB"/>
                    </a:solidFill>
                  </a:tcPr>
                </a:tc>
                <a:tc>
                  <a:txBody>
                    <a:bodyPr/>
                    <a:lstStyle/>
                    <a:p>
                      <a:pPr algn="l"/>
                      <a:r>
                        <a:rPr sz="700" b="0" dirty="0">
                          <a:solidFill>
                            <a:srgbClr val="000000"/>
                          </a:solidFill>
                          <a:latin typeface="Times New Roman"/>
                        </a:rPr>
                        <a:t>WebRTC offers lower latency for peer-to-peer; Socket.IO may face scalability bottlenecks beyond 1000 concurrent users.</a:t>
                      </a:r>
                      <a:endParaRPr lang="en-IN" sz="1000" dirty="0"/>
                    </a:p>
                  </a:txBody>
                  <a:tcPr marT="34290" marB="34290">
                    <a:solidFill>
                      <a:srgbClr val="F2DCDB"/>
                    </a:solidFill>
                  </a:tcPr>
                </a:tc>
                <a:extLst>
                  <a:ext uri="{0D108BD9-81ED-4DB2-BD59-A6C34878D82A}">
                    <a16:rowId xmlns:a16="http://schemas.microsoft.com/office/drawing/2014/main" val="10006"/>
                  </a:ext>
                </a:extLst>
              </a:tr>
            </a:tbl>
          </a:graphicData>
        </a:graphic>
      </p:graphicFrame>
      <p:sp>
        <p:nvSpPr>
          <p:cNvPr id="3" name="Date Placeholder 2"/>
          <p:cNvSpPr>
            <a:spLocks noGrp="1"/>
          </p:cNvSpPr>
          <p:nvPr>
            <p:ph type="dt" sz="half" idx="10"/>
          </p:nvPr>
        </p:nvSpPr>
        <p:spPr/>
        <p:txBody>
          <a:bodyPr/>
          <a:lstStyle/>
          <a:p>
            <a:fld id="{79B8DED3-A3EE-40F6-BF5C-4608A21E219C}" type="datetime3">
              <a:rPr lang="en-US" smtClean="0"/>
              <a:t>2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1174085072"/>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81DCA-4B86-F36E-8B15-E19E568C024A}"/>
              </a:ext>
            </a:extLst>
          </p:cNvPr>
          <p:cNvSpPr>
            <a:spLocks noGrp="1"/>
          </p:cNvSpPr>
          <p:nvPr>
            <p:ph type="title"/>
          </p:nvPr>
        </p:nvSpPr>
        <p:spPr>
          <a:xfrm>
            <a:off x="635001" y="102392"/>
            <a:ext cx="7886700" cy="994172"/>
          </a:xfrm>
        </p:spPr>
        <p:txBody>
          <a:bodyPr>
            <a:normAutofit/>
          </a:bodyPr>
          <a:lstStyle/>
          <a:p>
            <a:pPr algn="ctr"/>
            <a:r>
              <a:rPr lang="en-US" sz="2800" b="1" dirty="0">
                <a:solidFill>
                  <a:srgbClr val="A50021"/>
                </a:solidFill>
                <a:latin typeface="Times New Roman" panose="02020603050405020304" pitchFamily="18" charset="0"/>
                <a:cs typeface="Times New Roman" panose="02020603050405020304" pitchFamily="18" charset="0"/>
              </a:rPr>
              <a:t>REVIEW OF LITERATURE</a:t>
            </a:r>
            <a:endParaRPr lang="en-IN" sz="2800" dirty="0"/>
          </a:p>
        </p:txBody>
      </p:sp>
      <p:sp>
        <p:nvSpPr>
          <p:cNvPr id="4" name="Date Placeholder 3">
            <a:extLst>
              <a:ext uri="{FF2B5EF4-FFF2-40B4-BE49-F238E27FC236}">
                <a16:creationId xmlns:a16="http://schemas.microsoft.com/office/drawing/2014/main" id="{2678F6BA-686D-845C-3E4A-13E66F69CA66}"/>
              </a:ext>
            </a:extLst>
          </p:cNvPr>
          <p:cNvSpPr>
            <a:spLocks noGrp="1"/>
          </p:cNvSpPr>
          <p:nvPr>
            <p:ph type="dt" sz="half" idx="10"/>
          </p:nvPr>
        </p:nvSpPr>
        <p:spPr/>
        <p:txBody>
          <a:bodyPr/>
          <a:lstStyle/>
          <a:p>
            <a:fld id="{2DB9DF8F-09D3-46AE-87C0-0E6AC09D07A6}" type="datetime3">
              <a:rPr lang="en-US" smtClean="0"/>
              <a:t>2 July 2026</a:t>
            </a:fld>
            <a:endParaRPr lang="en-US" dirty="0"/>
          </a:p>
        </p:txBody>
      </p:sp>
      <p:sp>
        <p:nvSpPr>
          <p:cNvPr id="5" name="Footer Placeholder 4">
            <a:extLst>
              <a:ext uri="{FF2B5EF4-FFF2-40B4-BE49-F238E27FC236}">
                <a16:creationId xmlns:a16="http://schemas.microsoft.com/office/drawing/2014/main" id="{C30D037A-9DDD-3B52-4B2D-C4F86E8893A8}"/>
              </a:ext>
            </a:extLst>
          </p:cNvPr>
          <p:cNvSpPr>
            <a:spLocks noGrp="1"/>
          </p:cNvSpPr>
          <p:nvPr>
            <p:ph type="ftr" sz="quarter" idx="11"/>
          </p:nvPr>
        </p:nvSpPr>
        <p:spPr/>
        <p:txBody>
          <a:bodyPr/>
          <a:lstStyle/>
          <a:p>
            <a:r>
              <a:rPr lang="en-US" dirty="0"/>
              <a:t>INT500 REVIEW - II</a:t>
            </a:r>
          </a:p>
        </p:txBody>
      </p:sp>
      <p:sp>
        <p:nvSpPr>
          <p:cNvPr id="6" name="Slide Number Placeholder 5">
            <a:extLst>
              <a:ext uri="{FF2B5EF4-FFF2-40B4-BE49-F238E27FC236}">
                <a16:creationId xmlns:a16="http://schemas.microsoft.com/office/drawing/2014/main" id="{3B4DB0C3-1873-EBD3-966A-AB3C7569BC33}"/>
              </a:ext>
            </a:extLst>
          </p:cNvPr>
          <p:cNvSpPr>
            <a:spLocks noGrp="1"/>
          </p:cNvSpPr>
          <p:nvPr>
            <p:ph type="sldNum" sz="quarter" idx="12"/>
          </p:nvPr>
        </p:nvSpPr>
        <p:spPr/>
        <p:txBody>
          <a:bodyPr/>
          <a:lstStyle/>
          <a:p>
            <a:fld id="{D57F1E4F-1CFF-5643-939E-217C01CDF565}" type="slidenum">
              <a:rPr lang="en-US" smtClean="0"/>
              <a:t>6</a:t>
            </a:fld>
            <a:endParaRPr lang="en-US" dirty="0"/>
          </a:p>
        </p:txBody>
      </p:sp>
      <p:graphicFrame>
        <p:nvGraphicFramePr>
          <p:cNvPr id="7" name="Table 6">
            <a:extLst>
              <a:ext uri="{FF2B5EF4-FFF2-40B4-BE49-F238E27FC236}">
                <a16:creationId xmlns:a16="http://schemas.microsoft.com/office/drawing/2014/main" id="{FD07DB2B-5D95-1724-F775-13AE6691815A}"/>
              </a:ext>
            </a:extLst>
          </p:cNvPr>
          <p:cNvGraphicFramePr>
            <a:graphicFrameLocks noGrp="1"/>
          </p:cNvGraphicFramePr>
          <p:nvPr>
            <p:extLst>
              <p:ext uri="{D42A27DB-BD31-4B8C-83A1-F6EECF244321}">
                <p14:modId xmlns:p14="http://schemas.microsoft.com/office/powerpoint/2010/main" val="2635922938"/>
              </p:ext>
            </p:extLst>
          </p:nvPr>
        </p:nvGraphicFramePr>
        <p:xfrm>
          <a:off x="76200" y="1581150"/>
          <a:ext cx="8991600" cy="990600"/>
        </p:xfrm>
        <a:graphic>
          <a:graphicData uri="http://schemas.openxmlformats.org/drawingml/2006/table">
            <a:tbl>
              <a:tblPr firstRow="1" bandRow="1">
                <a:tableStyleId>{5940675A-B579-460E-94D1-54222C63F5DA}</a:tableStyleId>
              </a:tblPr>
              <a:tblGrid>
                <a:gridCol w="983140">
                  <a:extLst>
                    <a:ext uri="{9D8B030D-6E8A-4147-A177-3AD203B41FA5}">
                      <a16:colId xmlns:a16="http://schemas.microsoft.com/office/drawing/2014/main" val="1073769668"/>
                    </a:ext>
                  </a:extLst>
                </a:gridCol>
                <a:gridCol w="1231740">
                  <a:extLst>
                    <a:ext uri="{9D8B030D-6E8A-4147-A177-3AD203B41FA5}">
                      <a16:colId xmlns:a16="http://schemas.microsoft.com/office/drawing/2014/main" val="1766412793"/>
                    </a:ext>
                  </a:extLst>
                </a:gridCol>
                <a:gridCol w="1483360">
                  <a:extLst>
                    <a:ext uri="{9D8B030D-6E8A-4147-A177-3AD203B41FA5}">
                      <a16:colId xmlns:a16="http://schemas.microsoft.com/office/drawing/2014/main" val="3743125202"/>
                    </a:ext>
                  </a:extLst>
                </a:gridCol>
                <a:gridCol w="1608880">
                  <a:extLst>
                    <a:ext uri="{9D8B030D-6E8A-4147-A177-3AD203B41FA5}">
                      <a16:colId xmlns:a16="http://schemas.microsoft.com/office/drawing/2014/main" val="3933302018"/>
                    </a:ext>
                  </a:extLst>
                </a:gridCol>
                <a:gridCol w="2109680">
                  <a:extLst>
                    <a:ext uri="{9D8B030D-6E8A-4147-A177-3AD203B41FA5}">
                      <a16:colId xmlns:a16="http://schemas.microsoft.com/office/drawing/2014/main" val="3521380779"/>
                    </a:ext>
                  </a:extLst>
                </a:gridCol>
                <a:gridCol w="1574800">
                  <a:extLst>
                    <a:ext uri="{9D8B030D-6E8A-4147-A177-3AD203B41FA5}">
                      <a16:colId xmlns:a16="http://schemas.microsoft.com/office/drawing/2014/main" val="1849061362"/>
                    </a:ext>
                  </a:extLst>
                </a:gridCol>
              </a:tblGrid>
              <a:tr h="293444">
                <a:tc>
                  <a:txBody>
                    <a:bodyPr/>
                    <a:lstStyle/>
                    <a:p>
                      <a:pPr algn="ctr"/>
                      <a:r>
                        <a:rPr sz="700" b="1" dirty="0">
                          <a:solidFill>
                            <a:srgbClr val="000000"/>
                          </a:solidFill>
                          <a:latin typeface="Times New Roman"/>
                        </a:rPr>
                        <a:t>M. Yang et al.
2026</a:t>
                      </a:r>
                      <a:endParaRPr lang="en-IN" sz="1000" dirty="0"/>
                    </a:p>
                  </a:txBody>
                  <a:tcPr marT="34290" marB="34290"/>
                </a:tc>
                <a:tc>
                  <a:txBody>
                    <a:bodyPr/>
                    <a:lstStyle/>
                    <a:p>
                      <a:pPr algn="l"/>
                      <a:r>
                        <a:rPr sz="700" b="0" dirty="0">
                          <a:solidFill>
                            <a:srgbClr val="000000"/>
                          </a:solidFill>
                          <a:latin typeface="Times New Roman"/>
                        </a:rPr>
                        <a:t>Systematic review and meta-analysis of escape room interventions in Chinese nursing education programs.</a:t>
                      </a:r>
                      <a:endParaRPr lang="en-IN" sz="1000" dirty="0"/>
                    </a:p>
                  </a:txBody>
                  <a:tcPr marT="34290" marB="34290"/>
                </a:tc>
                <a:tc>
                  <a:txBody>
                    <a:bodyPr/>
                    <a:lstStyle/>
                    <a:p>
                      <a:pPr algn="l"/>
                      <a:r>
                        <a:rPr sz="700" b="0">
                          <a:solidFill>
                            <a:srgbClr val="000000"/>
                          </a:solidFill>
                          <a:latin typeface="Times New Roman"/>
                        </a:rPr>
                        <a:t>12 studies conducted at Chinese nursing universities; 850+ nursing students across various clinical specialties.</a:t>
                      </a:r>
                      <a:endParaRPr lang="en-IN" sz="1000" dirty="0"/>
                    </a:p>
                  </a:txBody>
                  <a:tcPr marT="34290" marB="34290"/>
                </a:tc>
                <a:tc>
                  <a:txBody>
                    <a:bodyPr/>
                    <a:lstStyle/>
                    <a:p>
                      <a:pPr algn="l"/>
                      <a:r>
                        <a:rPr sz="700" b="0">
                          <a:solidFill>
                            <a:srgbClr val="000000"/>
                          </a:solidFill>
                          <a:latin typeface="Times New Roman"/>
                        </a:rPr>
                        <a:t>Escape room learning produced significantly higher clinical reasoning scores (SMD=0.61) vs. traditional teaching.</a:t>
                      </a:r>
                      <a:endParaRPr lang="en-IN" sz="1000" dirty="0"/>
                    </a:p>
                  </a:txBody>
                  <a:tcPr marT="34290" marB="34290"/>
                </a:tc>
                <a:tc>
                  <a:txBody>
                    <a:bodyPr/>
                    <a:lstStyle/>
                    <a:p>
                      <a:pPr algn="l"/>
                      <a:r>
                        <a:rPr sz="700" b="0" dirty="0">
                          <a:solidFill>
                            <a:srgbClr val="000000"/>
                          </a:solidFill>
                          <a:latin typeface="Times New Roman"/>
                        </a:rPr>
                        <a:t>Validates interactive challenge-based formats; informs </a:t>
                      </a:r>
                      <a:r>
                        <a:rPr sz="700" b="0" dirty="0" err="1">
                          <a:solidFill>
                            <a:srgbClr val="000000"/>
                          </a:solidFill>
                          <a:latin typeface="Times New Roman"/>
                        </a:rPr>
                        <a:t>NurseQuest's</a:t>
                      </a:r>
                      <a:r>
                        <a:rPr sz="700" b="0" dirty="0">
                          <a:solidFill>
                            <a:srgbClr val="000000"/>
                          </a:solidFill>
                          <a:latin typeface="Times New Roman"/>
                        </a:rPr>
                        <a:t> Live Quiz (Kahoot-style) and scenario question types.</a:t>
                      </a:r>
                      <a:endParaRPr lang="en-IN" sz="1000" dirty="0"/>
                    </a:p>
                  </a:txBody>
                  <a:tcPr marT="34290" marB="34290"/>
                </a:tc>
                <a:tc>
                  <a:txBody>
                    <a:bodyPr/>
                    <a:lstStyle/>
                    <a:p>
                      <a:pPr algn="l"/>
                      <a:r>
                        <a:rPr sz="700" b="0">
                          <a:solidFill>
                            <a:srgbClr val="000000"/>
                          </a:solidFill>
                          <a:latin typeface="Times New Roman"/>
                        </a:rPr>
                        <a:t>Geographically limited to China; escape room format is physical-first, lacking digital scalability and multiplayer realism.</a:t>
                      </a:r>
                      <a:endParaRPr lang="en-IN" sz="1000" dirty="0"/>
                    </a:p>
                  </a:txBody>
                  <a:tcPr marT="34290" marB="34290"/>
                </a:tc>
                <a:extLst>
                  <a:ext uri="{0D108BD9-81ED-4DB2-BD59-A6C34878D82A}">
                    <a16:rowId xmlns:a16="http://schemas.microsoft.com/office/drawing/2014/main" val="2570978342"/>
                  </a:ext>
                </a:extLst>
              </a:tr>
              <a:tr h="293444">
                <a:tc>
                  <a:txBody>
                    <a:bodyPr/>
                    <a:lstStyle/>
                    <a:p>
                      <a:pPr algn="ctr"/>
                      <a:r>
                        <a:rPr sz="700" b="1">
                          <a:solidFill>
                            <a:srgbClr val="000000"/>
                          </a:solidFill>
                          <a:latin typeface="Times New Roman"/>
                        </a:rPr>
                        <a:t>Y. G. S. Barbalho et al.
2025</a:t>
                      </a:r>
                      <a:endParaRPr lang="en-IN" sz="1000" dirty="0"/>
                    </a:p>
                  </a:txBody>
                  <a:tcPr marT="34290" marB="34290">
                    <a:solidFill>
                      <a:srgbClr val="F2DCDB"/>
                    </a:solidFill>
                  </a:tcPr>
                </a:tc>
                <a:tc>
                  <a:txBody>
                    <a:bodyPr/>
                    <a:lstStyle/>
                    <a:p>
                      <a:pPr algn="l"/>
                      <a:r>
                        <a:rPr sz="700" b="0">
                          <a:solidFill>
                            <a:srgbClr val="000000"/>
                          </a:solidFill>
                          <a:latin typeface="Times New Roman"/>
                        </a:rPr>
                        <a:t>Design and validation study using iterative prototyping and expert panel review for a serious game in nursing.</a:t>
                      </a:r>
                      <a:endParaRPr lang="en-IN" sz="1000" dirty="0"/>
                    </a:p>
                  </a:txBody>
                  <a:tcPr marT="34290" marB="34290">
                    <a:solidFill>
                      <a:srgbClr val="F2DCDB"/>
                    </a:solidFill>
                  </a:tcPr>
                </a:tc>
                <a:tc>
                  <a:txBody>
                    <a:bodyPr/>
                    <a:lstStyle/>
                    <a:p>
                      <a:pPr algn="l"/>
                      <a:r>
                        <a:rPr sz="700" b="0" dirty="0">
                          <a:solidFill>
                            <a:srgbClr val="000000"/>
                          </a:solidFill>
                          <a:latin typeface="Times New Roman"/>
                        </a:rPr>
                        <a:t>Expert panel of 12 nursing educators + 40 undergraduate students for usability and content validation testing.</a:t>
                      </a:r>
                      <a:endParaRPr lang="en-IN" sz="1000" dirty="0"/>
                    </a:p>
                  </a:txBody>
                  <a:tcPr marT="34290" marB="34290">
                    <a:solidFill>
                      <a:srgbClr val="F2DCDB"/>
                    </a:solidFill>
                  </a:tcPr>
                </a:tc>
                <a:tc>
                  <a:txBody>
                    <a:bodyPr/>
                    <a:lstStyle/>
                    <a:p>
                      <a:pPr algn="l"/>
                      <a:r>
                        <a:rPr sz="700" b="0" dirty="0">
                          <a:solidFill>
                            <a:srgbClr val="000000"/>
                          </a:solidFill>
                          <a:latin typeface="Times New Roman"/>
                        </a:rPr>
                        <a:t>Game achieved high content validity index (CVI=0.92) and usability scores; students showed improved knowledge scores.</a:t>
                      </a:r>
                      <a:endParaRPr lang="en-IN" sz="1000" dirty="0"/>
                    </a:p>
                  </a:txBody>
                  <a:tcPr marT="34290" marB="34290">
                    <a:solidFill>
                      <a:srgbClr val="F2DCDB"/>
                    </a:solidFill>
                  </a:tcPr>
                </a:tc>
                <a:tc>
                  <a:txBody>
                    <a:bodyPr/>
                    <a:lstStyle/>
                    <a:p>
                      <a:pPr algn="l"/>
                      <a:r>
                        <a:rPr sz="700" b="0" dirty="0">
                          <a:solidFill>
                            <a:srgbClr val="000000"/>
                          </a:solidFill>
                          <a:latin typeface="Times New Roman"/>
                        </a:rPr>
                        <a:t>Provides a validated serious game design and validation framework directly applicable to </a:t>
                      </a:r>
                      <a:r>
                        <a:rPr sz="700" b="0" dirty="0" err="1">
                          <a:solidFill>
                            <a:srgbClr val="000000"/>
                          </a:solidFill>
                          <a:latin typeface="Times New Roman"/>
                        </a:rPr>
                        <a:t>NurseQuest's</a:t>
                      </a:r>
                      <a:r>
                        <a:rPr sz="700" b="0" dirty="0">
                          <a:solidFill>
                            <a:srgbClr val="000000"/>
                          </a:solidFill>
                          <a:latin typeface="Times New Roman"/>
                        </a:rPr>
                        <a:t> development.</a:t>
                      </a:r>
                      <a:endParaRPr lang="en-IN" sz="1000" dirty="0"/>
                    </a:p>
                  </a:txBody>
                  <a:tcPr marT="34290" marB="34290">
                    <a:solidFill>
                      <a:srgbClr val="F2DCDB"/>
                    </a:solidFill>
                  </a:tcPr>
                </a:tc>
                <a:tc>
                  <a:txBody>
                    <a:bodyPr/>
                    <a:lstStyle/>
                    <a:p>
                      <a:pPr algn="l"/>
                      <a:r>
                        <a:rPr sz="700" b="0" dirty="0">
                          <a:solidFill>
                            <a:srgbClr val="000000"/>
                          </a:solidFill>
                          <a:latin typeface="Times New Roman"/>
                        </a:rPr>
                        <a:t>Single-cycle validation; long-term retention and multi-session engagement were not measured in this study.</a:t>
                      </a:r>
                      <a:endParaRPr lang="en-IN" sz="1000" dirty="0"/>
                    </a:p>
                  </a:txBody>
                  <a:tcPr marT="34290" marB="34290">
                    <a:solidFill>
                      <a:srgbClr val="F2DCDB"/>
                    </a:solidFill>
                  </a:tcPr>
                </a:tc>
                <a:extLst>
                  <a:ext uri="{0D108BD9-81ED-4DB2-BD59-A6C34878D82A}">
                    <a16:rowId xmlns:a16="http://schemas.microsoft.com/office/drawing/2014/main" val="1485766934"/>
                  </a:ext>
                </a:extLst>
              </a:tr>
            </a:tbl>
          </a:graphicData>
        </a:graphic>
      </p:graphicFrame>
      <p:graphicFrame>
        <p:nvGraphicFramePr>
          <p:cNvPr id="8" name="Table 7">
            <a:extLst>
              <a:ext uri="{FF2B5EF4-FFF2-40B4-BE49-F238E27FC236}">
                <a16:creationId xmlns:a16="http://schemas.microsoft.com/office/drawing/2014/main" id="{AFE1103D-B9EF-08B5-80A8-1FF253470C26}"/>
              </a:ext>
            </a:extLst>
          </p:cNvPr>
          <p:cNvGraphicFramePr>
            <a:graphicFrameLocks noGrp="1"/>
          </p:cNvGraphicFramePr>
          <p:nvPr>
            <p:extLst>
              <p:ext uri="{D42A27DB-BD31-4B8C-83A1-F6EECF244321}">
                <p14:modId xmlns:p14="http://schemas.microsoft.com/office/powerpoint/2010/main" val="954095677"/>
              </p:ext>
            </p:extLst>
          </p:nvPr>
        </p:nvGraphicFramePr>
        <p:xfrm>
          <a:off x="76198" y="1055370"/>
          <a:ext cx="8991601" cy="525780"/>
        </p:xfrm>
        <a:graphic>
          <a:graphicData uri="http://schemas.openxmlformats.org/drawingml/2006/table">
            <a:tbl>
              <a:tblPr firstRow="1" bandRow="1">
                <a:tableStyleId>{5940675A-B579-460E-94D1-54222C63F5DA}</a:tableStyleId>
              </a:tblPr>
              <a:tblGrid>
                <a:gridCol w="955745">
                  <a:extLst>
                    <a:ext uri="{9D8B030D-6E8A-4147-A177-3AD203B41FA5}">
                      <a16:colId xmlns:a16="http://schemas.microsoft.com/office/drawing/2014/main" val="2986059403"/>
                    </a:ext>
                  </a:extLst>
                </a:gridCol>
                <a:gridCol w="1247678">
                  <a:extLst>
                    <a:ext uri="{9D8B030D-6E8A-4147-A177-3AD203B41FA5}">
                      <a16:colId xmlns:a16="http://schemas.microsoft.com/office/drawing/2014/main" val="1723868471"/>
                    </a:ext>
                  </a:extLst>
                </a:gridCol>
                <a:gridCol w="1484690">
                  <a:extLst>
                    <a:ext uri="{9D8B030D-6E8A-4147-A177-3AD203B41FA5}">
                      <a16:colId xmlns:a16="http://schemas.microsoft.com/office/drawing/2014/main" val="1062322599"/>
                    </a:ext>
                  </a:extLst>
                </a:gridCol>
                <a:gridCol w="1589775">
                  <a:extLst>
                    <a:ext uri="{9D8B030D-6E8A-4147-A177-3AD203B41FA5}">
                      <a16:colId xmlns:a16="http://schemas.microsoft.com/office/drawing/2014/main" val="2528486011"/>
                    </a:ext>
                  </a:extLst>
                </a:gridCol>
                <a:gridCol w="2136658">
                  <a:extLst>
                    <a:ext uri="{9D8B030D-6E8A-4147-A177-3AD203B41FA5}">
                      <a16:colId xmlns:a16="http://schemas.microsoft.com/office/drawing/2014/main" val="192657974"/>
                    </a:ext>
                  </a:extLst>
                </a:gridCol>
                <a:gridCol w="1577055">
                  <a:extLst>
                    <a:ext uri="{9D8B030D-6E8A-4147-A177-3AD203B41FA5}">
                      <a16:colId xmlns:a16="http://schemas.microsoft.com/office/drawing/2014/main" val="392841035"/>
                    </a:ext>
                  </a:extLst>
                </a:gridCol>
              </a:tblGrid>
              <a:tr h="399796">
                <a:tc>
                  <a:txBody>
                    <a:bodyPr/>
                    <a:lstStyle/>
                    <a:p>
                      <a:pPr algn="ctr"/>
                      <a:r>
                        <a:rPr lang="en-IN" sz="1000" b="1" dirty="0">
                          <a:latin typeface="Times New Roman" pitchFamily="18" charset="0"/>
                          <a:cs typeface="Times New Roman" pitchFamily="18" charset="0"/>
                        </a:rPr>
                        <a:t>Author</a:t>
                      </a:r>
                      <a:r>
                        <a:rPr lang="en-IN" sz="1000" b="1" baseline="0" dirty="0">
                          <a:latin typeface="Times New Roman" pitchFamily="18" charset="0"/>
                          <a:cs typeface="Times New Roman" pitchFamily="18" charset="0"/>
                        </a:rPr>
                        <a:t> and Year </a:t>
                      </a:r>
                      <a:endParaRPr lang="en-IN" sz="10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Methodology/</a:t>
                      </a:r>
                    </a:p>
                    <a:p>
                      <a:pPr algn="ctr"/>
                      <a:r>
                        <a:rPr lang="en-US" sz="1000" b="1" dirty="0">
                          <a:latin typeface="Times New Roman" pitchFamily="18" charset="0"/>
                          <a:cs typeface="Times New Roman" pitchFamily="18" charset="0"/>
                        </a:rPr>
                        <a:t>Materials and Methods</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10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Results/Outcome </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1000" b="1" dirty="0">
                          <a:latin typeface="Times New Roman" pitchFamily="18" charset="0"/>
                          <a:cs typeface="Times New Roman" pitchFamily="18" charset="0"/>
                        </a:rPr>
                        <a:t>Advantage /</a:t>
                      </a:r>
                      <a:r>
                        <a:rPr lang="en-US" sz="1000" b="1" baseline="0" dirty="0">
                          <a:latin typeface="Times New Roman" pitchFamily="18" charset="0"/>
                          <a:cs typeface="Times New Roman" pitchFamily="18" charset="0"/>
                        </a:rPr>
                        <a:t> </a:t>
                      </a:r>
                      <a:r>
                        <a:rPr lang="en-US" sz="1000" b="1" dirty="0">
                          <a:latin typeface="Times New Roman" pitchFamily="18" charset="0"/>
                          <a:cs typeface="Times New Roman" pitchFamily="18" charset="0"/>
                        </a:rPr>
                        <a:t>Key findings from the work</a:t>
                      </a:r>
                      <a:endParaRPr lang="en-IN" sz="1000" b="1" dirty="0">
                        <a:latin typeface="Times New Roman" pitchFamily="18" charset="0"/>
                        <a:ea typeface="Cambria" panose="02040503050406030204" pitchFamily="18" charset="0"/>
                        <a:cs typeface="Times New Roman" pitchFamily="18" charset="0"/>
                      </a:endParaRPr>
                    </a:p>
                    <a:p>
                      <a:pPr algn="ct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1000" b="1" dirty="0">
                          <a:latin typeface="Times New Roman" pitchFamily="18" charset="0"/>
                          <a:cs typeface="Times New Roman" pitchFamily="18" charset="0"/>
                        </a:rPr>
                        <a:t>Disadvantage/</a:t>
                      </a:r>
                      <a:r>
                        <a:rPr lang="en-US" sz="1000" b="1" baseline="0" dirty="0">
                          <a:latin typeface="Times New Roman" pitchFamily="18" charset="0"/>
                          <a:cs typeface="Times New Roman" pitchFamily="18" charset="0"/>
                        </a:rPr>
                        <a:t> GAP Identified from the work</a:t>
                      </a:r>
                      <a:endParaRPr lang="en-IN" sz="10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2912961191"/>
                  </a:ext>
                </a:extLst>
              </a:tr>
            </a:tbl>
          </a:graphicData>
        </a:graphic>
      </p:graphicFrame>
      <p:graphicFrame>
        <p:nvGraphicFramePr>
          <p:cNvPr id="9" name="Table 8">
            <a:extLst>
              <a:ext uri="{FF2B5EF4-FFF2-40B4-BE49-F238E27FC236}">
                <a16:creationId xmlns:a16="http://schemas.microsoft.com/office/drawing/2014/main" id="{1969AB88-99EF-0F15-2AD0-2FCBA8A57C43}"/>
              </a:ext>
            </a:extLst>
          </p:cNvPr>
          <p:cNvGraphicFramePr>
            <a:graphicFrameLocks noGrp="1"/>
          </p:cNvGraphicFramePr>
          <p:nvPr>
            <p:extLst>
              <p:ext uri="{D42A27DB-BD31-4B8C-83A1-F6EECF244321}">
                <p14:modId xmlns:p14="http://schemas.microsoft.com/office/powerpoint/2010/main" val="267569621"/>
              </p:ext>
            </p:extLst>
          </p:nvPr>
        </p:nvGraphicFramePr>
        <p:xfrm>
          <a:off x="89066" y="2571750"/>
          <a:ext cx="8978732" cy="495300"/>
        </p:xfrm>
        <a:graphic>
          <a:graphicData uri="http://schemas.openxmlformats.org/drawingml/2006/table">
            <a:tbl>
              <a:tblPr firstRow="1" bandRow="1">
                <a:tableStyleId>{5940675A-B579-460E-94D1-54222C63F5DA}</a:tableStyleId>
              </a:tblPr>
              <a:tblGrid>
                <a:gridCol w="977734">
                  <a:extLst>
                    <a:ext uri="{9D8B030D-6E8A-4147-A177-3AD203B41FA5}">
                      <a16:colId xmlns:a16="http://schemas.microsoft.com/office/drawing/2014/main" val="381356205"/>
                    </a:ext>
                  </a:extLst>
                </a:gridCol>
                <a:gridCol w="1225550">
                  <a:extLst>
                    <a:ext uri="{9D8B030D-6E8A-4147-A177-3AD203B41FA5}">
                      <a16:colId xmlns:a16="http://schemas.microsoft.com/office/drawing/2014/main" val="340849509"/>
                    </a:ext>
                  </a:extLst>
                </a:gridCol>
                <a:gridCol w="1485900">
                  <a:extLst>
                    <a:ext uri="{9D8B030D-6E8A-4147-A177-3AD203B41FA5}">
                      <a16:colId xmlns:a16="http://schemas.microsoft.com/office/drawing/2014/main" val="2089495858"/>
                    </a:ext>
                  </a:extLst>
                </a:gridCol>
                <a:gridCol w="1587500">
                  <a:extLst>
                    <a:ext uri="{9D8B030D-6E8A-4147-A177-3AD203B41FA5}">
                      <a16:colId xmlns:a16="http://schemas.microsoft.com/office/drawing/2014/main" val="3938876799"/>
                    </a:ext>
                  </a:extLst>
                </a:gridCol>
                <a:gridCol w="2120900">
                  <a:extLst>
                    <a:ext uri="{9D8B030D-6E8A-4147-A177-3AD203B41FA5}">
                      <a16:colId xmlns:a16="http://schemas.microsoft.com/office/drawing/2014/main" val="4028512974"/>
                    </a:ext>
                  </a:extLst>
                </a:gridCol>
                <a:gridCol w="1581148">
                  <a:extLst>
                    <a:ext uri="{9D8B030D-6E8A-4147-A177-3AD203B41FA5}">
                      <a16:colId xmlns:a16="http://schemas.microsoft.com/office/drawing/2014/main" val="2807259751"/>
                    </a:ext>
                  </a:extLst>
                </a:gridCol>
              </a:tblGrid>
              <a:tr h="0">
                <a:tc>
                  <a:txBody>
                    <a:bodyPr/>
                    <a:lstStyle/>
                    <a:p>
                      <a:pPr algn="ctr"/>
                      <a:r>
                        <a:rPr sz="700" b="1" dirty="0">
                          <a:solidFill>
                            <a:srgbClr val="000000"/>
                          </a:solidFill>
                          <a:latin typeface="Times New Roman"/>
                        </a:rPr>
                        <a:t>D. Jones &amp; R. Smith
2022</a:t>
                      </a:r>
                      <a:endParaRPr lang="en-IN" sz="1000" dirty="0"/>
                    </a:p>
                  </a:txBody>
                  <a:tcPr marT="34290" marB="34290"/>
                </a:tc>
                <a:tc>
                  <a:txBody>
                    <a:bodyPr/>
                    <a:lstStyle/>
                    <a:p>
                      <a:pPr algn="l"/>
                      <a:r>
                        <a:rPr sz="700" b="0" dirty="0">
                          <a:solidFill>
                            <a:srgbClr val="000000"/>
                          </a:solidFill>
                          <a:latin typeface="Times New Roman"/>
                        </a:rPr>
                        <a:t>Case study and iterative development using React.js for interactive SPA-based medical training tools.</a:t>
                      </a:r>
                      <a:endParaRPr lang="en-IN" sz="1000" dirty="0"/>
                    </a:p>
                  </a:txBody>
                  <a:tcPr marT="34290" marB="34290"/>
                </a:tc>
                <a:tc>
                  <a:txBody>
                    <a:bodyPr/>
                    <a:lstStyle/>
                    <a:p>
                      <a:pPr algn="l"/>
                      <a:r>
                        <a:rPr sz="700" b="0" dirty="0">
                          <a:solidFill>
                            <a:srgbClr val="000000"/>
                          </a:solidFill>
                          <a:latin typeface="Times New Roman"/>
                        </a:rPr>
                        <a:t>Medical training application used by 120 students; usability and learning outcome data collected over 8 weeks.</a:t>
                      </a:r>
                      <a:endParaRPr lang="en-IN" sz="1000" dirty="0"/>
                    </a:p>
                  </a:txBody>
                  <a:tcPr marT="34290" marB="34290"/>
                </a:tc>
                <a:tc>
                  <a:txBody>
                    <a:bodyPr/>
                    <a:lstStyle/>
                    <a:p>
                      <a:pPr algn="l"/>
                      <a:r>
                        <a:rPr sz="700" b="0" dirty="0">
                          <a:solidFill>
                            <a:srgbClr val="000000"/>
                          </a:solidFill>
                          <a:latin typeface="Times New Roman"/>
                        </a:rPr>
                        <a:t>React SPA achieved high usability scores (SUS=82.5); students showed measurable improvement in knowledge tests.</a:t>
                      </a:r>
                      <a:endParaRPr lang="en-IN" sz="1000" dirty="0"/>
                    </a:p>
                  </a:txBody>
                  <a:tcPr marT="34290" marB="34290"/>
                </a:tc>
                <a:tc>
                  <a:txBody>
                    <a:bodyPr/>
                    <a:lstStyle/>
                    <a:p>
                      <a:pPr algn="l"/>
                      <a:r>
                        <a:rPr sz="700" b="0" dirty="0">
                          <a:solidFill>
                            <a:srgbClr val="000000"/>
                          </a:solidFill>
                          <a:latin typeface="Times New Roman"/>
                        </a:rPr>
                        <a:t>Validates React SPA architecture for medical education; confirms </a:t>
                      </a:r>
                      <a:r>
                        <a:rPr sz="700" b="0" dirty="0" err="1">
                          <a:solidFill>
                            <a:srgbClr val="000000"/>
                          </a:solidFill>
                          <a:latin typeface="Times New Roman"/>
                        </a:rPr>
                        <a:t>NurseQuest's</a:t>
                      </a:r>
                      <a:r>
                        <a:rPr sz="700" b="0" dirty="0">
                          <a:solidFill>
                            <a:srgbClr val="000000"/>
                          </a:solidFill>
                          <a:latin typeface="Times New Roman"/>
                        </a:rPr>
                        <a:t> frontend design approach.</a:t>
                      </a:r>
                      <a:endParaRPr lang="en-IN" sz="1000" dirty="0"/>
                    </a:p>
                  </a:txBody>
                  <a:tcPr marT="34290" marB="34290"/>
                </a:tc>
                <a:tc>
                  <a:txBody>
                    <a:bodyPr/>
                    <a:lstStyle/>
                    <a:p>
                      <a:pPr algn="l"/>
                      <a:r>
                        <a:rPr sz="700" b="0" dirty="0">
                          <a:solidFill>
                            <a:srgbClr val="000000"/>
                          </a:solidFill>
                          <a:latin typeface="Times New Roman"/>
                        </a:rPr>
                        <a:t>Study used older React 16; did not address real-time features, multiplayer, or gamification components.</a:t>
                      </a:r>
                      <a:endParaRPr lang="en-IN" sz="1000" dirty="0"/>
                    </a:p>
                  </a:txBody>
                  <a:tcPr marT="34290" marB="34290"/>
                </a:tc>
                <a:extLst>
                  <a:ext uri="{0D108BD9-81ED-4DB2-BD59-A6C34878D82A}">
                    <a16:rowId xmlns:a16="http://schemas.microsoft.com/office/drawing/2014/main" val="2085249467"/>
                  </a:ext>
                </a:extLst>
              </a:tr>
            </a:tbl>
          </a:graphicData>
        </a:graphic>
      </p:graphicFrame>
    </p:spTree>
    <p:extLst>
      <p:ext uri="{BB962C8B-B14F-4D97-AF65-F5344CB8AC3E}">
        <p14:creationId xmlns:p14="http://schemas.microsoft.com/office/powerpoint/2010/main" val="601561563"/>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7</a:t>
            </a:fld>
            <a:endParaRPr lang="en-US" dirty="0"/>
          </a:p>
        </p:txBody>
      </p:sp>
      <p:sp>
        <p:nvSpPr>
          <p:cNvPr id="10" name="Title 1"/>
          <p:cNvSpPr>
            <a:spLocks noGrp="1"/>
          </p:cNvSpPr>
          <p:nvPr>
            <p:ph type="title"/>
          </p:nvPr>
        </p:nvSpPr>
        <p:spPr>
          <a:xfrm>
            <a:off x="150125" y="112594"/>
            <a:ext cx="8643839" cy="433523"/>
          </a:xfrm>
        </p:spPr>
        <p:txBody>
          <a:bodyPr>
            <a:noAutofit/>
          </a:bodyPr>
          <a:lstStyle/>
          <a:p>
            <a:pPr algn="ctr">
              <a:lnSpc>
                <a:spcPct val="107000"/>
              </a:lnSpc>
              <a:spcBef>
                <a:spcPts val="0"/>
              </a:spcBef>
              <a:spcAft>
                <a:spcPts val="450"/>
              </a:spcAft>
            </a:pPr>
            <a:r>
              <a:rPr lang="en-US" sz="2400" b="1" dirty="0">
                <a:solidFill>
                  <a:srgbClr val="A50021"/>
                </a:solidFill>
                <a:latin typeface="Times New Roman" panose="02020603050405020304" pitchFamily="18" charset="0"/>
                <a:cs typeface="Times New Roman" panose="02020603050405020304" pitchFamily="18" charset="0"/>
              </a:rPr>
              <a:t>REVIEW OF EXISTING SYSTEM </a:t>
            </a:r>
            <a:r>
              <a:rPr lang="en-US" sz="1800" b="1" dirty="0">
                <a:solidFill>
                  <a:srgbClr val="A50021"/>
                </a:solidFill>
                <a:latin typeface="Times New Roman" panose="02020603050405020304" pitchFamily="18" charset="0"/>
                <a:cs typeface="Times New Roman" panose="02020603050405020304" pitchFamily="18" charset="0"/>
              </a:rPr>
              <a:t>(S/W/H/W PRODUCTS, TOOLS) </a:t>
            </a:r>
          </a:p>
        </p:txBody>
      </p:sp>
      <p:graphicFrame>
        <p:nvGraphicFramePr>
          <p:cNvPr id="2" name="Table 2">
            <a:extLst>
              <a:ext uri="{FF2B5EF4-FFF2-40B4-BE49-F238E27FC236}">
                <a16:creationId xmlns:a16="http://schemas.microsoft.com/office/drawing/2014/main" id="{111D3F43-164F-C0DE-29C1-B22C76F7C651}"/>
              </a:ext>
            </a:extLst>
          </p:cNvPr>
          <p:cNvGraphicFramePr>
            <a:graphicFrameLocks noGrp="1"/>
          </p:cNvGraphicFramePr>
          <p:nvPr>
            <p:extLst>
              <p:ext uri="{D42A27DB-BD31-4B8C-83A1-F6EECF244321}">
                <p14:modId xmlns:p14="http://schemas.microsoft.com/office/powerpoint/2010/main" val="2408555469"/>
              </p:ext>
            </p:extLst>
          </p:nvPr>
        </p:nvGraphicFramePr>
        <p:xfrm>
          <a:off x="47624" y="701040"/>
          <a:ext cx="9048751" cy="3741420"/>
        </p:xfrm>
        <a:graphic>
          <a:graphicData uri="http://schemas.openxmlformats.org/drawingml/2006/table">
            <a:tbl>
              <a:tblPr firstRow="1" bandRow="1">
                <a:tableStyleId>{5940675A-B579-460E-94D1-54222C63F5DA}</a:tableStyleId>
              </a:tblPr>
              <a:tblGrid>
                <a:gridCol w="820412">
                  <a:extLst>
                    <a:ext uri="{9D8B030D-6E8A-4147-A177-3AD203B41FA5}">
                      <a16:colId xmlns:a16="http://schemas.microsoft.com/office/drawing/2014/main" val="3245450958"/>
                    </a:ext>
                  </a:extLst>
                </a:gridCol>
                <a:gridCol w="1028356">
                  <a:extLst>
                    <a:ext uri="{9D8B030D-6E8A-4147-A177-3AD203B41FA5}">
                      <a16:colId xmlns:a16="http://schemas.microsoft.com/office/drawing/2014/main" val="3818927860"/>
                    </a:ext>
                  </a:extLst>
                </a:gridCol>
                <a:gridCol w="1301417">
                  <a:extLst>
                    <a:ext uri="{9D8B030D-6E8A-4147-A177-3AD203B41FA5}">
                      <a16:colId xmlns:a16="http://schemas.microsoft.com/office/drawing/2014/main" val="1974754508"/>
                    </a:ext>
                  </a:extLst>
                </a:gridCol>
                <a:gridCol w="1691589">
                  <a:extLst>
                    <a:ext uri="{9D8B030D-6E8A-4147-A177-3AD203B41FA5}">
                      <a16:colId xmlns:a16="http://schemas.microsoft.com/office/drawing/2014/main" val="1235881472"/>
                    </a:ext>
                  </a:extLst>
                </a:gridCol>
                <a:gridCol w="1708559">
                  <a:extLst>
                    <a:ext uri="{9D8B030D-6E8A-4147-A177-3AD203B41FA5}">
                      <a16:colId xmlns:a16="http://schemas.microsoft.com/office/drawing/2014/main" val="20004"/>
                    </a:ext>
                  </a:extLst>
                </a:gridCol>
                <a:gridCol w="2498418">
                  <a:extLst>
                    <a:ext uri="{9D8B030D-6E8A-4147-A177-3AD203B41FA5}">
                      <a16:colId xmlns:a16="http://schemas.microsoft.com/office/drawing/2014/main" val="3928919045"/>
                    </a:ext>
                  </a:extLst>
                </a:gridCol>
              </a:tblGrid>
              <a:tr h="0">
                <a:tc>
                  <a:txBody>
                    <a:bodyPr/>
                    <a:lstStyle/>
                    <a:p>
                      <a:pPr algn="ctr"/>
                      <a:r>
                        <a:rPr lang="en-IN" sz="700" b="1" dirty="0">
                          <a:latin typeface="Times New Roman" pitchFamily="18" charset="0"/>
                          <a:cs typeface="Times New Roman" pitchFamily="18" charset="0"/>
                        </a:rPr>
                        <a:t>Author</a:t>
                      </a:r>
                      <a:r>
                        <a:rPr lang="en-IN" sz="700" b="1" baseline="0" dirty="0">
                          <a:latin typeface="Times New Roman" pitchFamily="18" charset="0"/>
                          <a:cs typeface="Times New Roman" pitchFamily="18" charset="0"/>
                        </a:rPr>
                        <a:t> /Developer </a:t>
                      </a:r>
                    </a:p>
                    <a:p>
                      <a:pPr algn="ctr"/>
                      <a:r>
                        <a:rPr lang="en-IN" sz="700" b="1" baseline="0" dirty="0">
                          <a:latin typeface="Times New Roman" pitchFamily="18" charset="0"/>
                          <a:cs typeface="Times New Roman" pitchFamily="18" charset="0"/>
                        </a:rPr>
                        <a:t>Year </a:t>
                      </a:r>
                      <a:endParaRPr lang="en-IN" sz="700" b="1" dirty="0">
                        <a:latin typeface="Times New Roman" pitchFamily="18" charset="0"/>
                        <a:cs typeface="Times New Roman" pitchFamily="18" charset="0"/>
                      </a:endParaRP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Methodology/</a:t>
                      </a:r>
                    </a:p>
                    <a:p>
                      <a:pPr algn="ctr"/>
                      <a:r>
                        <a:rPr lang="en-US" sz="700" b="1" dirty="0">
                          <a:latin typeface="Times New Roman" pitchFamily="18" charset="0"/>
                          <a:cs typeface="Times New Roman" pitchFamily="18" charset="0"/>
                        </a:rPr>
                        <a:t>Materials and Methods</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IN" sz="700" b="1" dirty="0">
                          <a:latin typeface="Times New Roman" pitchFamily="18" charset="0"/>
                          <a:ea typeface="Cambria" panose="02040503050406030204" pitchFamily="18" charset="0"/>
                          <a:cs typeface="Times New Roman" pitchFamily="18" charset="0"/>
                        </a:rPr>
                        <a:t>Datasets</a:t>
                      </a: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Results/Outcome </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Times New Roman" pitchFamily="18" charset="0"/>
                          <a:cs typeface="Times New Roman" pitchFamily="18" charset="0"/>
                        </a:rPr>
                        <a:t>Advantage /</a:t>
                      </a:r>
                      <a:r>
                        <a:rPr lang="en-US" sz="700" b="1" baseline="0" dirty="0">
                          <a:latin typeface="Times New Roman" pitchFamily="18" charset="0"/>
                          <a:cs typeface="Times New Roman" pitchFamily="18" charset="0"/>
                        </a:rPr>
                        <a:t> </a:t>
                      </a:r>
                      <a:r>
                        <a:rPr lang="en-US" sz="700" b="1" dirty="0">
                          <a:latin typeface="Times New Roman" pitchFamily="18" charset="0"/>
                          <a:cs typeface="Times New Roman" pitchFamily="18" charset="0"/>
                        </a:rPr>
                        <a:t>Key findings from the work</a:t>
                      </a:r>
                      <a:endParaRPr lang="en-IN" sz="700" b="1" dirty="0">
                        <a:latin typeface="Times New Roman" pitchFamily="18" charset="0"/>
                        <a:ea typeface="Cambria" panose="02040503050406030204" pitchFamily="18" charset="0"/>
                        <a:cs typeface="Times New Roman" pitchFamily="18" charset="0"/>
                      </a:endParaRPr>
                    </a:p>
                    <a:p>
                      <a:pPr algn="ct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tc>
                  <a:txBody>
                    <a:bodyPr/>
                    <a:lstStyle/>
                    <a:p>
                      <a:pPr algn="ctr"/>
                      <a:r>
                        <a:rPr lang="en-US" sz="700" b="1" dirty="0">
                          <a:latin typeface="Times New Roman" pitchFamily="18" charset="0"/>
                          <a:cs typeface="Times New Roman" pitchFamily="18" charset="0"/>
                        </a:rPr>
                        <a:t>Disadvantage/</a:t>
                      </a:r>
                      <a:r>
                        <a:rPr lang="en-US" sz="700" b="1" baseline="0" dirty="0">
                          <a:latin typeface="Times New Roman" pitchFamily="18" charset="0"/>
                          <a:cs typeface="Times New Roman" pitchFamily="18" charset="0"/>
                        </a:rPr>
                        <a:t> GAP Identified from the work</a:t>
                      </a:r>
                      <a:endParaRPr lang="en-IN" sz="700" b="1" dirty="0">
                        <a:latin typeface="Times New Roman" pitchFamily="18" charset="0"/>
                        <a:ea typeface="Cambria" panose="02040503050406030204" pitchFamily="18" charset="0"/>
                        <a:cs typeface="Times New Roman" pitchFamily="18" charset="0"/>
                      </a:endParaRPr>
                    </a:p>
                  </a:txBody>
                  <a:tcPr marT="34290" marB="34290">
                    <a:solidFill>
                      <a:schemeClr val="bg2"/>
                    </a:solidFill>
                  </a:tcPr>
                </a:tc>
                <a:extLst>
                  <a:ext uri="{0D108BD9-81ED-4DB2-BD59-A6C34878D82A}">
                    <a16:rowId xmlns:a16="http://schemas.microsoft.com/office/drawing/2014/main" val="388308832"/>
                  </a:ext>
                </a:extLst>
              </a:tr>
              <a:tr h="293444">
                <a:tc>
                  <a:txBody>
                    <a:bodyPr/>
                    <a:lstStyle/>
                    <a:p>
                      <a:pPr algn="l">
                        <a:buNone/>
                      </a:pPr>
                      <a:r>
                        <a:rPr lang="en-IN" sz="700" b="1" dirty="0">
                          <a:effectLst/>
                        </a:rPr>
                        <a:t>Moodle Pty Ltd (Open Source)</a:t>
                      </a:r>
                      <a:br>
                        <a:rPr lang="en-IN" sz="700" dirty="0">
                          <a:effectLst/>
                        </a:rPr>
                      </a:br>
                      <a:r>
                        <a:rPr lang="en-IN" sz="700" dirty="0">
                          <a:effectLst/>
                        </a:rPr>
                        <a:t>2002</a:t>
                      </a:r>
                    </a:p>
                  </a:txBody>
                  <a:tcPr anchor="ctr"/>
                </a:tc>
                <a:tc>
                  <a:txBody>
                    <a:bodyPr/>
                    <a:lstStyle/>
                    <a:p>
                      <a:pPr algn="l">
                        <a:buNone/>
                      </a:pPr>
                      <a:r>
                        <a:rPr lang="en-IN" sz="700" dirty="0">
                          <a:effectLst/>
                        </a:rPr>
                        <a:t>Learning Management System (LMS) built on PHP. Delivers course content, quizzes, forums, and grading through a structured course-module architecture.</a:t>
                      </a:r>
                    </a:p>
                  </a:txBody>
                  <a:tcPr anchor="ctr"/>
                </a:tc>
                <a:tc>
                  <a:txBody>
                    <a:bodyPr/>
                    <a:lstStyle/>
                    <a:p>
                      <a:pPr algn="l">
                        <a:buNone/>
                      </a:pPr>
                      <a:r>
                        <a:rPr lang="en-IN" sz="700" dirty="0">
                          <a:effectLst/>
                        </a:rPr>
                        <a:t>Used by 300 million+ users in 250+ countries; deployed across universities, hospitals, and government institutions.</a:t>
                      </a:r>
                    </a:p>
                  </a:txBody>
                  <a:tcPr anchor="ctr"/>
                </a:tc>
                <a:tc>
                  <a:txBody>
                    <a:bodyPr/>
                    <a:lstStyle/>
                    <a:p>
                      <a:pPr algn="l">
                        <a:buNone/>
                      </a:pPr>
                      <a:r>
                        <a:rPr lang="en-IN" sz="700" dirty="0">
                          <a:effectLst/>
                        </a:rPr>
                        <a:t>Provides comprehensive course management; supports blended and online learning with detailed progress reports.</a:t>
                      </a:r>
                    </a:p>
                  </a:txBody>
                  <a:tcPr anchor="ctr"/>
                </a:tc>
                <a:tc>
                  <a:txBody>
                    <a:bodyPr/>
                    <a:lstStyle/>
                    <a:p>
                      <a:pPr algn="l">
                        <a:buNone/>
                      </a:pPr>
                      <a:r>
                        <a:rPr lang="en-IN" sz="700">
                          <a:effectLst/>
                        </a:rPr>
                        <a:t>Open-source and free; highly extensible via plugins; supports SCORM, rich media, peer assessment, and grading.</a:t>
                      </a:r>
                    </a:p>
                  </a:txBody>
                  <a:tcPr anchor="ctr"/>
                </a:tc>
                <a:tc>
                  <a:txBody>
                    <a:bodyPr/>
                    <a:lstStyle/>
                    <a:p>
                      <a:pPr algn="l">
                        <a:buNone/>
                      </a:pPr>
                      <a:r>
                        <a:rPr lang="en-IN" sz="700">
                          <a:effectLst/>
                        </a:rPr>
                        <a:t>Heavy and complex server setup; no built-in gamification or competitive gameplay; poor UI/UX for student engagement; lacks real-time quiz session capability.</a:t>
                      </a:r>
                    </a:p>
                  </a:txBody>
                  <a:tcPr anchor="ctr"/>
                </a:tc>
                <a:extLst>
                  <a:ext uri="{0D108BD9-81ED-4DB2-BD59-A6C34878D82A}">
                    <a16:rowId xmlns:a16="http://schemas.microsoft.com/office/drawing/2014/main" val="1288415554"/>
                  </a:ext>
                </a:extLst>
              </a:tr>
              <a:tr h="293444">
                <a:tc>
                  <a:txBody>
                    <a:bodyPr/>
                    <a:lstStyle/>
                    <a:p>
                      <a:pPr algn="l">
                        <a:buNone/>
                      </a:pPr>
                      <a:r>
                        <a:rPr lang="en-IN" sz="700" b="1">
                          <a:effectLst/>
                        </a:rPr>
                        <a:t>Quizlet Inc.</a:t>
                      </a:r>
                      <a:br>
                        <a:rPr lang="en-IN" sz="700">
                          <a:effectLst/>
                        </a:rPr>
                      </a:br>
                      <a:r>
                        <a:rPr lang="en-IN" sz="700">
                          <a:effectLst/>
                        </a:rPr>
                        <a:t>2005</a:t>
                      </a:r>
                    </a:p>
                  </a:txBody>
                  <a:tcPr anchor="ctr"/>
                </a:tc>
                <a:tc>
                  <a:txBody>
                    <a:bodyPr/>
                    <a:lstStyle/>
                    <a:p>
                      <a:pPr algn="l">
                        <a:buNone/>
                      </a:pPr>
                      <a:r>
                        <a:rPr lang="en-IN" sz="700">
                          <a:effectLst/>
                        </a:rPr>
                        <a:t>Spaced-repetition and active recall via digital flashcards. Students self-study using study modes (Learn, Match, Test).</a:t>
                      </a:r>
                    </a:p>
                  </a:txBody>
                  <a:tcPr anchor="ctr"/>
                </a:tc>
                <a:tc>
                  <a:txBody>
                    <a:bodyPr/>
                    <a:lstStyle/>
                    <a:p>
                      <a:pPr algn="l">
                        <a:buNone/>
                      </a:pPr>
                      <a:r>
                        <a:rPr lang="en-IN" sz="700" dirty="0">
                          <a:effectLst/>
                        </a:rPr>
                        <a:t>500 million+ study sets created by users; 60 million active learners across 130+ countries.</a:t>
                      </a:r>
                    </a:p>
                  </a:txBody>
                  <a:tcPr anchor="ctr"/>
                </a:tc>
                <a:tc>
                  <a:txBody>
                    <a:bodyPr/>
                    <a:lstStyle/>
                    <a:p>
                      <a:pPr algn="l">
                        <a:buNone/>
                      </a:pPr>
                      <a:r>
                        <a:rPr lang="en-IN" sz="700" dirty="0">
                          <a:effectLst/>
                        </a:rPr>
                        <a:t>Improved memorisation of terminology and definitions; effective for vocabulary-heavy subjects like anatomy.</a:t>
                      </a:r>
                    </a:p>
                  </a:txBody>
                  <a:tcPr anchor="ctr"/>
                </a:tc>
                <a:tc>
                  <a:txBody>
                    <a:bodyPr/>
                    <a:lstStyle/>
                    <a:p>
                      <a:pPr algn="l">
                        <a:buNone/>
                      </a:pPr>
                      <a:r>
                        <a:rPr lang="en-IN" sz="700">
                          <a:effectLst/>
                        </a:rPr>
                        <a:t>Easy flashcard creation; collaborative study sets; multiple study modes; supports images in cards.</a:t>
                      </a:r>
                    </a:p>
                  </a:txBody>
                  <a:tcPr anchor="ctr"/>
                </a:tc>
                <a:tc>
                  <a:txBody>
                    <a:bodyPr/>
                    <a:lstStyle/>
                    <a:p>
                      <a:pPr algn="l">
                        <a:buNone/>
                      </a:pPr>
                      <a:r>
                        <a:rPr lang="en-IN" sz="700" dirty="0">
                          <a:effectLst/>
                        </a:rPr>
                        <a:t>No real-time multiplayer or live competitive sessions; no gamification engine (XP, badges, levels); not designed for clinical scenario-based assessment.</a:t>
                      </a:r>
                    </a:p>
                  </a:txBody>
                  <a:tcPr anchor="ctr"/>
                </a:tc>
                <a:extLst>
                  <a:ext uri="{0D108BD9-81ED-4DB2-BD59-A6C34878D82A}">
                    <a16:rowId xmlns:a16="http://schemas.microsoft.com/office/drawing/2014/main" val="10002"/>
                  </a:ext>
                </a:extLst>
              </a:tr>
              <a:tr h="293444">
                <a:tc>
                  <a:txBody>
                    <a:bodyPr/>
                    <a:lstStyle/>
                    <a:p>
                      <a:pPr algn="l">
                        <a:buNone/>
                      </a:pPr>
                      <a:r>
                        <a:rPr lang="en-IN" sz="700" b="1">
                          <a:effectLst/>
                        </a:rPr>
                        <a:t>ProProfs (Merger of Snow Technologies)</a:t>
                      </a:r>
                      <a:br>
                        <a:rPr lang="en-IN" sz="700">
                          <a:effectLst/>
                        </a:rPr>
                      </a:br>
                      <a:r>
                        <a:rPr lang="en-IN" sz="700">
                          <a:effectLst/>
                        </a:rPr>
                        <a:t>2006</a:t>
                      </a:r>
                    </a:p>
                  </a:txBody>
                  <a:tcPr anchor="ctr"/>
                </a:tc>
                <a:tc>
                  <a:txBody>
                    <a:bodyPr/>
                    <a:lstStyle/>
                    <a:p>
                      <a:pPr algn="l">
                        <a:buNone/>
                      </a:pPr>
                      <a:r>
                        <a:rPr lang="en-IN" sz="700">
                          <a:effectLst/>
                        </a:rPr>
                        <a:t>Online quiz maker with branching logic, timed tests, certificates of completion, and performance analytics dashboard for instructors.</a:t>
                      </a:r>
                    </a:p>
                  </a:txBody>
                  <a:tcPr anchor="ctr"/>
                </a:tc>
                <a:tc>
                  <a:txBody>
                    <a:bodyPr/>
                    <a:lstStyle/>
                    <a:p>
                      <a:pPr algn="l">
                        <a:buNone/>
                      </a:pPr>
                      <a:r>
                        <a:rPr lang="en-IN" sz="700" dirty="0">
                          <a:effectLst/>
                        </a:rPr>
                        <a:t>Used by 15 million+ users; deployed in corporate training, higher education, and professional certification programs.</a:t>
                      </a:r>
                    </a:p>
                  </a:txBody>
                  <a:tcPr anchor="ctr"/>
                </a:tc>
                <a:tc>
                  <a:txBody>
                    <a:bodyPr/>
                    <a:lstStyle/>
                    <a:p>
                      <a:pPr algn="l">
                        <a:buNone/>
                      </a:pPr>
                      <a:r>
                        <a:rPr lang="en-IN" sz="700" dirty="0">
                          <a:effectLst/>
                        </a:rPr>
                        <a:t>Enables self-paced online assessment; auto-generates certificates; provides detailed student performance reports.</a:t>
                      </a:r>
                    </a:p>
                  </a:txBody>
                  <a:tcPr anchor="ctr"/>
                </a:tc>
                <a:tc>
                  <a:txBody>
                    <a:bodyPr/>
                    <a:lstStyle/>
                    <a:p>
                      <a:pPr algn="l">
                        <a:buNone/>
                      </a:pPr>
                      <a:r>
                        <a:rPr lang="en-IN" sz="700" dirty="0">
                          <a:effectLst/>
                        </a:rPr>
                        <a:t>Rich quiz creation options; branching logic; certificate generation; white-label options; strong analytics.</a:t>
                      </a:r>
                    </a:p>
                  </a:txBody>
                  <a:tcPr anchor="ctr"/>
                </a:tc>
                <a:tc>
                  <a:txBody>
                    <a:bodyPr/>
                    <a:lstStyle/>
                    <a:p>
                      <a:pPr algn="l">
                        <a:buNone/>
                      </a:pPr>
                      <a:r>
                        <a:rPr lang="en-IN" sz="700" dirty="0">
                          <a:effectLst/>
                        </a:rPr>
                        <a:t>No nursing-specific domain modules; no live multiplayer mode; limited question types; subscription-based pricing limits accessibility for academic institutions.</a:t>
                      </a:r>
                    </a:p>
                  </a:txBody>
                  <a:tcPr anchor="ctr"/>
                </a:tc>
                <a:extLst>
                  <a:ext uri="{0D108BD9-81ED-4DB2-BD59-A6C34878D82A}">
                    <a16:rowId xmlns:a16="http://schemas.microsoft.com/office/drawing/2014/main" val="10003"/>
                  </a:ext>
                </a:extLst>
              </a:tr>
              <a:tr h="293444">
                <a:tc>
                  <a:txBody>
                    <a:bodyPr/>
                    <a:lstStyle/>
                    <a:p>
                      <a:pPr algn="l">
                        <a:buNone/>
                      </a:pPr>
                      <a:r>
                        <a:rPr lang="en-IN" sz="700" b="1">
                          <a:effectLst/>
                        </a:rPr>
                        <a:t>Socrative Inc. (acquired by Mastery Connect)</a:t>
                      </a:r>
                      <a:br>
                        <a:rPr lang="en-IN" sz="700">
                          <a:effectLst/>
                        </a:rPr>
                      </a:br>
                      <a:r>
                        <a:rPr lang="en-IN" sz="700">
                          <a:effectLst/>
                        </a:rPr>
                        <a:t>2011</a:t>
                      </a:r>
                    </a:p>
                  </a:txBody>
                  <a:tcPr anchor="ctr"/>
                </a:tc>
                <a:tc>
                  <a:txBody>
                    <a:bodyPr/>
                    <a:lstStyle/>
                    <a:p>
                      <a:pPr algn="l">
                        <a:buNone/>
                      </a:pPr>
                      <a:r>
                        <a:rPr lang="en-IN" sz="700">
                          <a:effectLst/>
                        </a:rPr>
                        <a:t>Classroom response system using teacher-created quizzes, exit tickets, and team "space races" for formative assessment in real time.</a:t>
                      </a:r>
                    </a:p>
                  </a:txBody>
                  <a:tcPr anchor="ctr"/>
                </a:tc>
                <a:tc>
                  <a:txBody>
                    <a:bodyPr/>
                    <a:lstStyle/>
                    <a:p>
                      <a:pPr algn="l">
                        <a:buNone/>
                      </a:pPr>
                      <a:r>
                        <a:rPr lang="en-IN" sz="700">
                          <a:effectLst/>
                        </a:rPr>
                        <a:t>Used by 2 million+ teachers in 150+ countries; primarily higher education and secondary school environments.</a:t>
                      </a:r>
                    </a:p>
                  </a:txBody>
                  <a:tcPr anchor="ctr"/>
                </a:tc>
                <a:tc>
                  <a:txBody>
                    <a:bodyPr/>
                    <a:lstStyle/>
                    <a:p>
                      <a:pPr algn="l">
                        <a:buNone/>
                      </a:pPr>
                      <a:r>
                        <a:rPr lang="en-IN" sz="700" dirty="0">
                          <a:effectLst/>
                        </a:rPr>
                        <a:t>Effective formative assessment tool; instant class performance reports; identifies student knowledge gaps.</a:t>
                      </a:r>
                    </a:p>
                  </a:txBody>
                  <a:tcPr anchor="ctr"/>
                </a:tc>
                <a:tc>
                  <a:txBody>
                    <a:bodyPr/>
                    <a:lstStyle/>
                    <a:p>
                      <a:pPr algn="l">
                        <a:buNone/>
                      </a:pPr>
                      <a:r>
                        <a:rPr lang="en-IN" sz="700" dirty="0">
                          <a:effectLst/>
                        </a:rPr>
                        <a:t>Simple quiz creation; real-time feedback; team Space Race adds competitive element; downloadable reports.</a:t>
                      </a:r>
                    </a:p>
                  </a:txBody>
                  <a:tcPr anchor="ctr"/>
                </a:tc>
                <a:tc>
                  <a:txBody>
                    <a:bodyPr/>
                    <a:lstStyle/>
                    <a:p>
                      <a:pPr algn="l">
                        <a:buNone/>
                      </a:pPr>
                      <a:r>
                        <a:rPr lang="en-IN" sz="700" dirty="0">
                          <a:effectLst/>
                        </a:rPr>
                        <a:t>Limited question types (MCQ, T/F, short answer only); no media-rich clinical scenarios; no gamification engine or XP/badge progression system for nursing education.</a:t>
                      </a:r>
                    </a:p>
                  </a:txBody>
                  <a:tcPr anchor="ctr"/>
                </a:tc>
                <a:extLst>
                  <a:ext uri="{0D108BD9-81ED-4DB2-BD59-A6C34878D82A}">
                    <a16:rowId xmlns:a16="http://schemas.microsoft.com/office/drawing/2014/main" val="10004"/>
                  </a:ext>
                </a:extLst>
              </a:tr>
            </a:tbl>
          </a:graphicData>
        </a:graphic>
      </p:graphicFrame>
      <p:sp>
        <p:nvSpPr>
          <p:cNvPr id="3" name="Date Placeholder 2"/>
          <p:cNvSpPr>
            <a:spLocks noGrp="1"/>
          </p:cNvSpPr>
          <p:nvPr>
            <p:ph type="dt" sz="half" idx="10"/>
          </p:nvPr>
        </p:nvSpPr>
        <p:spPr/>
        <p:txBody>
          <a:bodyPr/>
          <a:lstStyle/>
          <a:p>
            <a:fld id="{A677CD66-4046-4467-BD12-ED7F3687165D}" type="datetime3">
              <a:rPr lang="en-US" smtClean="0"/>
              <a:t>2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1314310089"/>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F7F4FF9F-E858-9E8F-D544-9186FC4BE797}"/>
              </a:ext>
            </a:extLst>
          </p:cNvPr>
          <p:cNvSpPr>
            <a:spLocks noGrp="1"/>
          </p:cNvSpPr>
          <p:nvPr>
            <p:ph type="dt" sz="half" idx="10"/>
          </p:nvPr>
        </p:nvSpPr>
        <p:spPr/>
        <p:txBody>
          <a:bodyPr/>
          <a:lstStyle/>
          <a:p>
            <a:fld id="{2DB9DF8F-09D3-46AE-87C0-0E6AC09D07A6}" type="datetime3">
              <a:rPr lang="en-US" smtClean="0"/>
              <a:t>2 July 2026</a:t>
            </a:fld>
            <a:endParaRPr lang="en-US" dirty="0"/>
          </a:p>
        </p:txBody>
      </p:sp>
      <p:sp>
        <p:nvSpPr>
          <p:cNvPr id="5" name="Footer Placeholder 4">
            <a:extLst>
              <a:ext uri="{FF2B5EF4-FFF2-40B4-BE49-F238E27FC236}">
                <a16:creationId xmlns:a16="http://schemas.microsoft.com/office/drawing/2014/main" id="{FAA3366B-1039-EF06-1391-0B97ECBD77DD}"/>
              </a:ext>
            </a:extLst>
          </p:cNvPr>
          <p:cNvSpPr>
            <a:spLocks noGrp="1"/>
          </p:cNvSpPr>
          <p:nvPr>
            <p:ph type="ftr" sz="quarter" idx="11"/>
          </p:nvPr>
        </p:nvSpPr>
        <p:spPr/>
        <p:txBody>
          <a:bodyPr/>
          <a:lstStyle/>
          <a:p>
            <a:r>
              <a:rPr lang="en-US" dirty="0"/>
              <a:t>INT500 REVIEW - II</a:t>
            </a:r>
          </a:p>
        </p:txBody>
      </p:sp>
      <p:sp>
        <p:nvSpPr>
          <p:cNvPr id="6" name="Slide Number Placeholder 5">
            <a:extLst>
              <a:ext uri="{FF2B5EF4-FFF2-40B4-BE49-F238E27FC236}">
                <a16:creationId xmlns:a16="http://schemas.microsoft.com/office/drawing/2014/main" id="{CE2EA4A3-5F7C-C12D-D721-DF62243D94B6}"/>
              </a:ext>
            </a:extLst>
          </p:cNvPr>
          <p:cNvSpPr>
            <a:spLocks noGrp="1"/>
          </p:cNvSpPr>
          <p:nvPr>
            <p:ph type="sldNum" sz="quarter" idx="12"/>
          </p:nvPr>
        </p:nvSpPr>
        <p:spPr/>
        <p:txBody>
          <a:bodyPr/>
          <a:lstStyle/>
          <a:p>
            <a:fld id="{D57F1E4F-1CFF-5643-939E-217C01CDF565}" type="slidenum">
              <a:rPr lang="en-US" smtClean="0"/>
              <a:t>8</a:t>
            </a:fld>
            <a:endParaRPr lang="en-US" dirty="0"/>
          </a:p>
        </p:txBody>
      </p:sp>
      <p:graphicFrame>
        <p:nvGraphicFramePr>
          <p:cNvPr id="7" name="Table 6">
            <a:extLst>
              <a:ext uri="{FF2B5EF4-FFF2-40B4-BE49-F238E27FC236}">
                <a16:creationId xmlns:a16="http://schemas.microsoft.com/office/drawing/2014/main" id="{22A435E9-F4D7-C1FB-7926-D7C044A6562B}"/>
              </a:ext>
            </a:extLst>
          </p:cNvPr>
          <p:cNvGraphicFramePr>
            <a:graphicFrameLocks noGrp="1"/>
          </p:cNvGraphicFramePr>
          <p:nvPr>
            <p:extLst>
              <p:ext uri="{D42A27DB-BD31-4B8C-83A1-F6EECF244321}">
                <p14:modId xmlns:p14="http://schemas.microsoft.com/office/powerpoint/2010/main" val="3597190213"/>
              </p:ext>
            </p:extLst>
          </p:nvPr>
        </p:nvGraphicFramePr>
        <p:xfrm>
          <a:off x="101600" y="157163"/>
          <a:ext cx="8845551" cy="2819400"/>
        </p:xfrm>
        <a:graphic>
          <a:graphicData uri="http://schemas.openxmlformats.org/drawingml/2006/table">
            <a:tbl>
              <a:tblPr firstRow="1" bandRow="1">
                <a:tableStyleId>{5940675A-B579-460E-94D1-54222C63F5DA}</a:tableStyleId>
              </a:tblPr>
              <a:tblGrid>
                <a:gridCol w="897497">
                  <a:extLst>
                    <a:ext uri="{9D8B030D-6E8A-4147-A177-3AD203B41FA5}">
                      <a16:colId xmlns:a16="http://schemas.microsoft.com/office/drawing/2014/main" val="1143926687"/>
                    </a:ext>
                  </a:extLst>
                </a:gridCol>
                <a:gridCol w="1299603">
                  <a:extLst>
                    <a:ext uri="{9D8B030D-6E8A-4147-A177-3AD203B41FA5}">
                      <a16:colId xmlns:a16="http://schemas.microsoft.com/office/drawing/2014/main" val="3256973788"/>
                    </a:ext>
                  </a:extLst>
                </a:gridCol>
                <a:gridCol w="1485900">
                  <a:extLst>
                    <a:ext uri="{9D8B030D-6E8A-4147-A177-3AD203B41FA5}">
                      <a16:colId xmlns:a16="http://schemas.microsoft.com/office/drawing/2014/main" val="3134100723"/>
                    </a:ext>
                  </a:extLst>
                </a:gridCol>
                <a:gridCol w="1593850">
                  <a:extLst>
                    <a:ext uri="{9D8B030D-6E8A-4147-A177-3AD203B41FA5}">
                      <a16:colId xmlns:a16="http://schemas.microsoft.com/office/drawing/2014/main" val="3983772261"/>
                    </a:ext>
                  </a:extLst>
                </a:gridCol>
                <a:gridCol w="1409700">
                  <a:extLst>
                    <a:ext uri="{9D8B030D-6E8A-4147-A177-3AD203B41FA5}">
                      <a16:colId xmlns:a16="http://schemas.microsoft.com/office/drawing/2014/main" val="4199833546"/>
                    </a:ext>
                  </a:extLst>
                </a:gridCol>
                <a:gridCol w="2159001">
                  <a:extLst>
                    <a:ext uri="{9D8B030D-6E8A-4147-A177-3AD203B41FA5}">
                      <a16:colId xmlns:a16="http://schemas.microsoft.com/office/drawing/2014/main" val="136715956"/>
                    </a:ext>
                  </a:extLst>
                </a:gridCol>
              </a:tblGrid>
              <a:tr h="293444">
                <a:tc>
                  <a:txBody>
                    <a:bodyPr/>
                    <a:lstStyle/>
                    <a:p>
                      <a:pPr algn="l">
                        <a:buNone/>
                      </a:pPr>
                      <a:r>
                        <a:rPr lang="en-IN" sz="700" b="1" dirty="0">
                          <a:effectLst/>
                        </a:rPr>
                        <a:t>Nearpod Inc.</a:t>
                      </a:r>
                      <a:br>
                        <a:rPr lang="en-IN" sz="700" dirty="0">
                          <a:effectLst/>
                        </a:rPr>
                      </a:br>
                      <a:r>
                        <a:rPr lang="en-IN" sz="700" dirty="0">
                          <a:effectLst/>
                        </a:rPr>
                        <a:t>2012</a:t>
                      </a:r>
                    </a:p>
                  </a:txBody>
                  <a:tcPr anchor="ctr"/>
                </a:tc>
                <a:tc>
                  <a:txBody>
                    <a:bodyPr/>
                    <a:lstStyle/>
                    <a:p>
                      <a:pPr algn="l">
                        <a:buNone/>
                      </a:pPr>
                      <a:r>
                        <a:rPr lang="en-IN" sz="700" dirty="0">
                          <a:effectLst/>
                        </a:rPr>
                        <a:t>Teacher-paced interactive lesson delivery platform. Lessons include embedded quizzes, polls, VR experiences, and collaborative boards synced to student devices.</a:t>
                      </a:r>
                    </a:p>
                  </a:txBody>
                  <a:tcPr anchor="ctr"/>
                </a:tc>
                <a:tc>
                  <a:txBody>
                    <a:bodyPr/>
                    <a:lstStyle/>
                    <a:p>
                      <a:pPr algn="l">
                        <a:buNone/>
                      </a:pPr>
                      <a:r>
                        <a:rPr lang="en-IN" sz="700" dirty="0">
                          <a:effectLst/>
                        </a:rPr>
                        <a:t>Used in 15,000+ schools; 2 million+ teachers; primarily K-12 in the US; integrated with Google Classroom &amp; Canvas.</a:t>
                      </a:r>
                    </a:p>
                  </a:txBody>
                  <a:tcPr anchor="ctr"/>
                </a:tc>
                <a:tc>
                  <a:txBody>
                    <a:bodyPr/>
                    <a:lstStyle/>
                    <a:p>
                      <a:pPr algn="l">
                        <a:buNone/>
                      </a:pPr>
                      <a:r>
                        <a:rPr lang="en-IN" sz="700">
                          <a:effectLst/>
                        </a:rPr>
                        <a:t>Improved student attention and lesson comprehension; real-time teacher visibility of student responses.</a:t>
                      </a:r>
                    </a:p>
                  </a:txBody>
                  <a:tcPr anchor="ctr"/>
                </a:tc>
                <a:tc>
                  <a:txBody>
                    <a:bodyPr/>
                    <a:lstStyle/>
                    <a:p>
                      <a:pPr algn="l">
                        <a:buNone/>
                      </a:pPr>
                      <a:r>
                        <a:rPr lang="en-IN" sz="700">
                          <a:effectLst/>
                        </a:rPr>
                        <a:t>Rich lesson formats (VR, 3D, video); real-time student response monitoring; integrates with major LMS platforms.</a:t>
                      </a:r>
                    </a:p>
                  </a:txBody>
                  <a:tcPr anchor="ctr"/>
                </a:tc>
                <a:tc>
                  <a:txBody>
                    <a:bodyPr/>
                    <a:lstStyle/>
                    <a:p>
                      <a:pPr algn="l">
                        <a:buNone/>
                      </a:pPr>
                      <a:r>
                        <a:rPr lang="en-IN" sz="700" dirty="0">
                          <a:effectLst/>
                        </a:rPr>
                        <a:t>Primarily a lesson delivery tool, not a standalone competitive quiz game; no XP system, no student rank progression, no nursing-specific content.</a:t>
                      </a:r>
                    </a:p>
                  </a:txBody>
                  <a:tcPr anchor="ctr"/>
                </a:tc>
                <a:extLst>
                  <a:ext uri="{0D108BD9-81ED-4DB2-BD59-A6C34878D82A}">
                    <a16:rowId xmlns:a16="http://schemas.microsoft.com/office/drawing/2014/main" val="1594679802"/>
                  </a:ext>
                </a:extLst>
              </a:tr>
              <a:tr h="293444">
                <a:tc>
                  <a:txBody>
                    <a:bodyPr/>
                    <a:lstStyle/>
                    <a:p>
                      <a:pPr algn="l">
                        <a:buNone/>
                      </a:pPr>
                      <a:r>
                        <a:rPr lang="en-IN" sz="700" b="1">
                          <a:effectLst/>
                        </a:rPr>
                        <a:t>Kahoot! AS</a:t>
                      </a:r>
                      <a:br>
                        <a:rPr lang="en-IN" sz="700">
                          <a:effectLst/>
                        </a:rPr>
                      </a:br>
                      <a:r>
                        <a:rPr lang="en-IN" sz="700">
                          <a:effectLst/>
                        </a:rPr>
                        <a:t>2013</a:t>
                      </a:r>
                    </a:p>
                  </a:txBody>
                  <a:tcPr anchor="ctr"/>
                </a:tc>
                <a:tc>
                  <a:txBody>
                    <a:bodyPr/>
                    <a:lstStyle/>
                    <a:p>
                      <a:pPr algn="l">
                        <a:buNone/>
                      </a:pPr>
                      <a:r>
                        <a:rPr lang="en-IN" sz="700">
                          <a:effectLst/>
                        </a:rPr>
                        <a:t>Game-based learning platform using a host-device model. Teachers launch quizzes on screen; students respond via personal devices in real time using a join PIN.</a:t>
                      </a:r>
                    </a:p>
                  </a:txBody>
                  <a:tcPr anchor="ctr"/>
                </a:tc>
                <a:tc>
                  <a:txBody>
                    <a:bodyPr/>
                    <a:lstStyle/>
                    <a:p>
                      <a:pPr algn="l">
                        <a:buNone/>
                      </a:pPr>
                      <a:r>
                        <a:rPr lang="en-IN" sz="700" dirty="0">
                          <a:effectLst/>
                        </a:rPr>
                        <a:t>300 million+ registered users globally; used across K-12, higher education, and corporate training environments.</a:t>
                      </a:r>
                    </a:p>
                  </a:txBody>
                  <a:tcPr anchor="ctr"/>
                </a:tc>
                <a:tc>
                  <a:txBody>
                    <a:bodyPr/>
                    <a:lstStyle/>
                    <a:p>
                      <a:pPr algn="l">
                        <a:buNone/>
                      </a:pPr>
                      <a:r>
                        <a:rPr lang="en-IN" sz="700" dirty="0">
                          <a:effectLst/>
                        </a:rPr>
                        <a:t>Demonstrated significant improvement in student engagement and short-term knowledge recall in classroom settings.</a:t>
                      </a:r>
                    </a:p>
                  </a:txBody>
                  <a:tcPr anchor="ctr"/>
                </a:tc>
                <a:tc>
                  <a:txBody>
                    <a:bodyPr/>
                    <a:lstStyle/>
                    <a:p>
                      <a:pPr algn="l">
                        <a:buNone/>
                      </a:pPr>
                      <a:r>
                        <a:rPr lang="en-IN" sz="700" dirty="0">
                          <a:effectLst/>
                        </a:rPr>
                        <a:t>Simple, intuitive UI; real-time leaderboard; broad device compatibility; widely adopted in education worldwide.</a:t>
                      </a:r>
                    </a:p>
                  </a:txBody>
                  <a:tcPr anchor="ctr"/>
                </a:tc>
                <a:tc>
                  <a:txBody>
                    <a:bodyPr/>
                    <a:lstStyle/>
                    <a:p>
                      <a:pPr algn="l">
                        <a:buNone/>
                      </a:pPr>
                      <a:r>
                        <a:rPr lang="en-IN" sz="700" dirty="0">
                          <a:effectLst/>
                        </a:rPr>
                        <a:t>No nursing-specific content or clinical question types; no XP/rank progression system; no role-based educator access; lacks media-rich clinical scenarios (ECG, audio).</a:t>
                      </a:r>
                    </a:p>
                  </a:txBody>
                  <a:tcPr anchor="ctr"/>
                </a:tc>
                <a:extLst>
                  <a:ext uri="{0D108BD9-81ED-4DB2-BD59-A6C34878D82A}">
                    <a16:rowId xmlns:a16="http://schemas.microsoft.com/office/drawing/2014/main" val="2921515736"/>
                  </a:ext>
                </a:extLst>
              </a:tr>
              <a:tr h="293444">
                <a:tc>
                  <a:txBody>
                    <a:bodyPr/>
                    <a:lstStyle/>
                    <a:p>
                      <a:pPr algn="l">
                        <a:buNone/>
                      </a:pPr>
                      <a:r>
                        <a:rPr lang="en-IN" sz="700" b="1">
                          <a:effectLst/>
                        </a:rPr>
                        <a:t>Mentimeter AB</a:t>
                      </a:r>
                      <a:br>
                        <a:rPr lang="en-IN" sz="700">
                          <a:effectLst/>
                        </a:rPr>
                      </a:br>
                      <a:r>
                        <a:rPr lang="en-IN" sz="700">
                          <a:effectLst/>
                        </a:rPr>
                        <a:t>2014</a:t>
                      </a:r>
                    </a:p>
                  </a:txBody>
                  <a:tcPr anchor="ctr"/>
                </a:tc>
                <a:tc>
                  <a:txBody>
                    <a:bodyPr/>
                    <a:lstStyle/>
                    <a:p>
                      <a:pPr algn="l">
                        <a:buNone/>
                      </a:pPr>
                      <a:r>
                        <a:rPr lang="en-IN" sz="700">
                          <a:effectLst/>
                        </a:rPr>
                        <a:t>Interactive slide-based presentation tool using live audience polling, word clouds, and Q&amp;A widgets embedded into teacher-driven slideshow sessions.</a:t>
                      </a:r>
                    </a:p>
                  </a:txBody>
                  <a:tcPr anchor="ctr"/>
                </a:tc>
                <a:tc>
                  <a:txBody>
                    <a:bodyPr/>
                    <a:lstStyle/>
                    <a:p>
                      <a:pPr algn="l">
                        <a:buNone/>
                      </a:pPr>
                      <a:r>
                        <a:rPr lang="en-IN" sz="700" dirty="0">
                          <a:effectLst/>
                        </a:rPr>
                        <a:t>Used by 300 million+ participants across 200+ countries in corporate and academic presentation settings.</a:t>
                      </a:r>
                    </a:p>
                  </a:txBody>
                  <a:tcPr anchor="ctr"/>
                </a:tc>
                <a:tc>
                  <a:txBody>
                    <a:bodyPr/>
                    <a:lstStyle/>
                    <a:p>
                      <a:pPr algn="l">
                        <a:buNone/>
                      </a:pPr>
                      <a:r>
                        <a:rPr lang="en-IN" sz="700" dirty="0">
                          <a:effectLst/>
                        </a:rPr>
                        <a:t>Increases audience participation and live feedback during lectures; reduces passive listening in classrooms.</a:t>
                      </a:r>
                    </a:p>
                  </a:txBody>
                  <a:tcPr anchor="ctr"/>
                </a:tc>
                <a:tc>
                  <a:txBody>
                    <a:bodyPr/>
                    <a:lstStyle/>
                    <a:p>
                      <a:pPr algn="l">
                        <a:buNone/>
                      </a:pPr>
                      <a:r>
                        <a:rPr lang="en-IN" sz="700" dirty="0">
                          <a:effectLst/>
                        </a:rPr>
                        <a:t>Visually appealing real-time responses; easy to embed in presentations; supports anonymous participation.</a:t>
                      </a:r>
                    </a:p>
                  </a:txBody>
                  <a:tcPr anchor="ctr"/>
                </a:tc>
                <a:tc>
                  <a:txBody>
                    <a:bodyPr/>
                    <a:lstStyle/>
                    <a:p>
                      <a:pPr algn="l">
                        <a:buNone/>
                      </a:pPr>
                      <a:r>
                        <a:rPr lang="en-IN" sz="700">
                          <a:effectLst/>
                        </a:rPr>
                        <a:t>Not a dedicated quiz/assessment platform; no scoring system, no XP or levels, no curriculum-linked assessments, and no nursing domain-specific content.</a:t>
                      </a:r>
                    </a:p>
                  </a:txBody>
                  <a:tcPr anchor="ctr"/>
                </a:tc>
                <a:extLst>
                  <a:ext uri="{0D108BD9-81ED-4DB2-BD59-A6C34878D82A}">
                    <a16:rowId xmlns:a16="http://schemas.microsoft.com/office/drawing/2014/main" val="968340629"/>
                  </a:ext>
                </a:extLst>
              </a:tr>
              <a:tr h="293444">
                <a:tc>
                  <a:txBody>
                    <a:bodyPr/>
                    <a:lstStyle/>
                    <a:p>
                      <a:pPr algn="l">
                        <a:buNone/>
                      </a:pPr>
                      <a:r>
                        <a:rPr lang="en-IN" sz="700" b="1">
                          <a:effectLst/>
                        </a:rPr>
                        <a:t>Wayground (EdTech Startup)</a:t>
                      </a:r>
                      <a:br>
                        <a:rPr lang="en-IN" sz="700">
                          <a:effectLst/>
                        </a:rPr>
                      </a:br>
                      <a:r>
                        <a:rPr lang="en-IN" sz="700">
                          <a:effectLst/>
                        </a:rPr>
                        <a:t>2019</a:t>
                      </a:r>
                    </a:p>
                  </a:txBody>
                  <a:tcPr anchor="ctr"/>
                </a:tc>
                <a:tc>
                  <a:txBody>
                    <a:bodyPr/>
                    <a:lstStyle/>
                    <a:p>
                      <a:pPr algn="l">
                        <a:buNone/>
                      </a:pPr>
                      <a:r>
                        <a:rPr lang="en-IN" sz="700">
                          <a:effectLst/>
                        </a:rPr>
                        <a:t>Online assessment and analytics platform with configurable test forms, auto-grading, and student dashboard reporting.</a:t>
                      </a:r>
                    </a:p>
                  </a:txBody>
                  <a:tcPr anchor="ctr"/>
                </a:tc>
                <a:tc>
                  <a:txBody>
                    <a:bodyPr/>
                    <a:lstStyle/>
                    <a:p>
                      <a:pPr algn="l">
                        <a:buNone/>
                      </a:pPr>
                      <a:r>
                        <a:rPr lang="en-IN" sz="700">
                          <a:effectLst/>
                        </a:rPr>
                        <a:t>Used in select universities and training centers; primarily corporate and professional certification environments.</a:t>
                      </a:r>
                    </a:p>
                  </a:txBody>
                  <a:tcPr anchor="ctr"/>
                </a:tc>
                <a:tc>
                  <a:txBody>
                    <a:bodyPr/>
                    <a:lstStyle/>
                    <a:p>
                      <a:pPr algn="l">
                        <a:buNone/>
                      </a:pPr>
                      <a:r>
                        <a:rPr lang="en-IN" sz="700" dirty="0">
                          <a:effectLst/>
                        </a:rPr>
                        <a:t>Enables structured online assessments with dashboard analytics for tracking student performance over time.</a:t>
                      </a:r>
                    </a:p>
                  </a:txBody>
                  <a:tcPr anchor="ctr"/>
                </a:tc>
                <a:tc>
                  <a:txBody>
                    <a:bodyPr/>
                    <a:lstStyle/>
                    <a:p>
                      <a:pPr algn="l">
                        <a:buNone/>
                      </a:pPr>
                      <a:r>
                        <a:rPr lang="en-IN" sz="700" dirty="0">
                          <a:effectLst/>
                        </a:rPr>
                        <a:t>Customisable assessments; decent analytics; integration support with popular LMS tools; automated grading.</a:t>
                      </a:r>
                    </a:p>
                  </a:txBody>
                  <a:tcPr anchor="ctr"/>
                </a:tc>
                <a:tc>
                  <a:txBody>
                    <a:bodyPr/>
                    <a:lstStyle/>
                    <a:p>
                      <a:pPr algn="l">
                        <a:buNone/>
                      </a:pPr>
                      <a:r>
                        <a:rPr lang="en-IN" sz="700" dirty="0">
                          <a:effectLst/>
                        </a:rPr>
                        <a:t>No gamification or competitive elements; no live multiplayer mode; generic content with no nursing or clinical domain specificity.</a:t>
                      </a:r>
                    </a:p>
                  </a:txBody>
                  <a:tcPr anchor="ctr"/>
                </a:tc>
                <a:extLst>
                  <a:ext uri="{0D108BD9-81ED-4DB2-BD59-A6C34878D82A}">
                    <a16:rowId xmlns:a16="http://schemas.microsoft.com/office/drawing/2014/main" val="1063156708"/>
                  </a:ext>
                </a:extLst>
              </a:tr>
            </a:tbl>
          </a:graphicData>
        </a:graphic>
      </p:graphicFrame>
      <p:graphicFrame>
        <p:nvGraphicFramePr>
          <p:cNvPr id="8" name="Table 7">
            <a:extLst>
              <a:ext uri="{FF2B5EF4-FFF2-40B4-BE49-F238E27FC236}">
                <a16:creationId xmlns:a16="http://schemas.microsoft.com/office/drawing/2014/main" id="{97849CA0-7A59-E434-2ADC-5E23123BF5CC}"/>
              </a:ext>
            </a:extLst>
          </p:cNvPr>
          <p:cNvGraphicFramePr>
            <a:graphicFrameLocks noGrp="1"/>
          </p:cNvGraphicFramePr>
          <p:nvPr>
            <p:extLst>
              <p:ext uri="{D42A27DB-BD31-4B8C-83A1-F6EECF244321}">
                <p14:modId xmlns:p14="http://schemas.microsoft.com/office/powerpoint/2010/main" val="1485771013"/>
              </p:ext>
            </p:extLst>
          </p:nvPr>
        </p:nvGraphicFramePr>
        <p:xfrm>
          <a:off x="101600" y="2976563"/>
          <a:ext cx="8845551" cy="624840"/>
        </p:xfrm>
        <a:graphic>
          <a:graphicData uri="http://schemas.openxmlformats.org/drawingml/2006/table">
            <a:tbl>
              <a:tblPr firstRow="1" bandRow="1">
                <a:tableStyleId>{5940675A-B579-460E-94D1-54222C63F5DA}</a:tableStyleId>
              </a:tblPr>
              <a:tblGrid>
                <a:gridCol w="889000">
                  <a:extLst>
                    <a:ext uri="{9D8B030D-6E8A-4147-A177-3AD203B41FA5}">
                      <a16:colId xmlns:a16="http://schemas.microsoft.com/office/drawing/2014/main" val="870320531"/>
                    </a:ext>
                  </a:extLst>
                </a:gridCol>
                <a:gridCol w="1308100">
                  <a:extLst>
                    <a:ext uri="{9D8B030D-6E8A-4147-A177-3AD203B41FA5}">
                      <a16:colId xmlns:a16="http://schemas.microsoft.com/office/drawing/2014/main" val="2117544235"/>
                    </a:ext>
                  </a:extLst>
                </a:gridCol>
                <a:gridCol w="1492250">
                  <a:extLst>
                    <a:ext uri="{9D8B030D-6E8A-4147-A177-3AD203B41FA5}">
                      <a16:colId xmlns:a16="http://schemas.microsoft.com/office/drawing/2014/main" val="4115051914"/>
                    </a:ext>
                  </a:extLst>
                </a:gridCol>
                <a:gridCol w="1587500">
                  <a:extLst>
                    <a:ext uri="{9D8B030D-6E8A-4147-A177-3AD203B41FA5}">
                      <a16:colId xmlns:a16="http://schemas.microsoft.com/office/drawing/2014/main" val="4180450513"/>
                    </a:ext>
                  </a:extLst>
                </a:gridCol>
                <a:gridCol w="1416050">
                  <a:extLst>
                    <a:ext uri="{9D8B030D-6E8A-4147-A177-3AD203B41FA5}">
                      <a16:colId xmlns:a16="http://schemas.microsoft.com/office/drawing/2014/main" val="1650582532"/>
                    </a:ext>
                  </a:extLst>
                </a:gridCol>
                <a:gridCol w="2152651">
                  <a:extLst>
                    <a:ext uri="{9D8B030D-6E8A-4147-A177-3AD203B41FA5}">
                      <a16:colId xmlns:a16="http://schemas.microsoft.com/office/drawing/2014/main" val="1876573996"/>
                    </a:ext>
                  </a:extLst>
                </a:gridCol>
              </a:tblGrid>
              <a:tr h="293444">
                <a:tc>
                  <a:txBody>
                    <a:bodyPr/>
                    <a:lstStyle/>
                    <a:p>
                      <a:pPr algn="l">
                        <a:buNone/>
                      </a:pPr>
                      <a:r>
                        <a:rPr lang="en-IN" sz="700" b="1" dirty="0">
                          <a:effectLst/>
                        </a:rPr>
                        <a:t>Google LLC</a:t>
                      </a:r>
                      <a:br>
                        <a:rPr lang="en-IN" sz="700" dirty="0">
                          <a:effectLst/>
                        </a:rPr>
                      </a:br>
                      <a:r>
                        <a:rPr lang="en-IN" sz="700" dirty="0">
                          <a:effectLst/>
                        </a:rPr>
                        <a:t>2012</a:t>
                      </a:r>
                    </a:p>
                  </a:txBody>
                  <a:tcPr anchor="ctr"/>
                </a:tc>
                <a:tc>
                  <a:txBody>
                    <a:bodyPr/>
                    <a:lstStyle/>
                    <a:p>
                      <a:pPr algn="l">
                        <a:buNone/>
                      </a:pPr>
                      <a:r>
                        <a:rPr lang="en-IN" sz="700" dirty="0">
                          <a:effectLst/>
                        </a:rPr>
                        <a:t>Web-based form/survey tool adapted for quiz delivery. Auto-grading via multiple-choice and short-answer types.</a:t>
                      </a:r>
                    </a:p>
                  </a:txBody>
                  <a:tcPr anchor="ctr"/>
                </a:tc>
                <a:tc>
                  <a:txBody>
                    <a:bodyPr/>
                    <a:lstStyle/>
                    <a:p>
                      <a:pPr algn="l">
                        <a:buNone/>
                      </a:pPr>
                      <a:r>
                        <a:rPr lang="en-IN" sz="700" dirty="0">
                          <a:effectLst/>
                        </a:rPr>
                        <a:t>Used by millions of educators globally; integrated with Google Workspace (Classroom, Sheets, Drive).</a:t>
                      </a:r>
                    </a:p>
                  </a:txBody>
                  <a:tcPr anchor="ctr"/>
                </a:tc>
                <a:tc>
                  <a:txBody>
                    <a:bodyPr/>
                    <a:lstStyle/>
                    <a:p>
                      <a:pPr algn="l">
                        <a:buNone/>
                      </a:pPr>
                      <a:r>
                        <a:rPr lang="en-IN" sz="700" dirty="0">
                          <a:effectLst/>
                        </a:rPr>
                        <a:t>Simple, fast quiz creation with automatic grade export to Google Sheets for teacher review.</a:t>
                      </a:r>
                    </a:p>
                  </a:txBody>
                  <a:tcPr anchor="ctr"/>
                </a:tc>
                <a:tc>
                  <a:txBody>
                    <a:bodyPr/>
                    <a:lstStyle/>
                    <a:p>
                      <a:pPr algn="l">
                        <a:buNone/>
                      </a:pPr>
                      <a:r>
                        <a:rPr lang="en-IN" sz="700" dirty="0">
                          <a:effectLst/>
                        </a:rPr>
                        <a:t>Zero cost; no account needed for respondents; instant result collation; integrates with Google Classroom.</a:t>
                      </a:r>
                    </a:p>
                  </a:txBody>
                  <a:tcPr anchor="ctr"/>
                </a:tc>
                <a:tc>
                  <a:txBody>
                    <a:bodyPr/>
                    <a:lstStyle/>
                    <a:p>
                      <a:pPr algn="l">
                        <a:buNone/>
                      </a:pPr>
                      <a:r>
                        <a:rPr lang="en-IN" sz="700" dirty="0">
                          <a:effectLst/>
                        </a:rPr>
                        <a:t>No gamification; no live multiplayer; no media-rich clinical question types; no student progression tracking, streaks, or achievement system.</a:t>
                      </a:r>
                    </a:p>
                  </a:txBody>
                  <a:tcPr anchor="ctr"/>
                </a:tc>
                <a:extLst>
                  <a:ext uri="{0D108BD9-81ED-4DB2-BD59-A6C34878D82A}">
                    <a16:rowId xmlns:a16="http://schemas.microsoft.com/office/drawing/2014/main" val="3075608159"/>
                  </a:ext>
                </a:extLst>
              </a:tr>
            </a:tbl>
          </a:graphicData>
        </a:graphic>
      </p:graphicFrame>
    </p:spTree>
    <p:extLst>
      <p:ext uri="{BB962C8B-B14F-4D97-AF65-F5344CB8AC3E}">
        <p14:creationId xmlns:p14="http://schemas.microsoft.com/office/powerpoint/2010/main" val="2444992757"/>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9</a:t>
            </a:fld>
            <a:endParaRPr lang="en-US" dirty="0"/>
          </a:p>
        </p:txBody>
      </p:sp>
      <p:sp>
        <p:nvSpPr>
          <p:cNvPr id="10" name="Title 1"/>
          <p:cNvSpPr>
            <a:spLocks noGrp="1"/>
          </p:cNvSpPr>
          <p:nvPr>
            <p:ph type="title"/>
          </p:nvPr>
        </p:nvSpPr>
        <p:spPr>
          <a:xfrm>
            <a:off x="628650" y="102392"/>
            <a:ext cx="7661438"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PROBLEM STATEMENT</a:t>
            </a:r>
          </a:p>
        </p:txBody>
      </p:sp>
      <p:sp>
        <p:nvSpPr>
          <p:cNvPr id="2" name="TextBox 1"/>
          <p:cNvSpPr txBox="1"/>
          <p:nvPr/>
        </p:nvSpPr>
        <p:spPr>
          <a:xfrm>
            <a:off x="628651" y="656869"/>
            <a:ext cx="8337550" cy="4247317"/>
          </a:xfrm>
          <a:prstGeom prst="rect">
            <a:avLst/>
          </a:prstGeom>
          <a:noFill/>
        </p:spPr>
        <p:txBody>
          <a:bodyPr wrap="square" rtlCol="0">
            <a:spAutoFit/>
          </a:bodyPr>
          <a:lstStyle/>
          <a:p>
            <a:pPr algn="just"/>
            <a:r>
              <a:rPr lang="en-IN" sz="1400" dirty="0">
                <a:latin typeface="Times New Roman" panose="02020603050405020304" pitchFamily="18" charset="0"/>
                <a:cs typeface="Times New Roman" panose="02020603050405020304" pitchFamily="18" charset="0"/>
              </a:rPr>
              <a:t>Traditional nursing education relies on passive learning methods (lectures, static PDFs, paper-based tests), leading to low student engagement, limited real-time assessment, and no personalized feedback — especially in clinical skill-building scenarios.</a:t>
            </a:r>
          </a:p>
          <a:p>
            <a:pPr algn="just"/>
            <a:r>
              <a:rPr lang="en-IN" sz="1400" dirty="0">
                <a:latin typeface="Times New Roman" panose="02020603050405020304" pitchFamily="18" charset="0"/>
                <a:cs typeface="Times New Roman" panose="02020603050405020304" pitchFamily="18" charset="0"/>
                <a:sym typeface="Wingdings" panose="05000000000000000000" pitchFamily="2" charset="2"/>
              </a:rPr>
              <a:t></a:t>
            </a:r>
            <a:r>
              <a:rPr lang="en-IN" sz="1400" dirty="0"/>
              <a:t>Lack of engagement</a:t>
            </a:r>
          </a:p>
          <a:p>
            <a:pPr algn="just"/>
            <a:r>
              <a:rPr lang="en-IN" sz="1400" dirty="0">
                <a:latin typeface="Times New Roman" pitchFamily="18" charset="0"/>
                <a:cs typeface="Times New Roman" pitchFamily="18" charset="0"/>
                <a:sym typeface="Wingdings" panose="05000000000000000000" pitchFamily="2" charset="2"/>
              </a:rPr>
              <a:t></a:t>
            </a:r>
            <a:r>
              <a:rPr lang="en-IN" sz="1400" dirty="0"/>
              <a:t>No competitive assessment</a:t>
            </a:r>
          </a:p>
          <a:p>
            <a:pPr algn="just"/>
            <a:r>
              <a:rPr lang="en-GB" sz="1400" dirty="0">
                <a:latin typeface="Times New Roman" pitchFamily="18" charset="0"/>
                <a:cs typeface="Times New Roman" pitchFamily="18" charset="0"/>
                <a:sym typeface="Wingdings" panose="05000000000000000000" pitchFamily="2" charset="2"/>
              </a:rPr>
              <a:t></a:t>
            </a:r>
            <a:r>
              <a:rPr lang="en-IN" sz="1400" dirty="0"/>
              <a:t>Limited question formats</a:t>
            </a:r>
          </a:p>
          <a:p>
            <a:pPr algn="just"/>
            <a:r>
              <a:rPr lang="en-IN" sz="1400" dirty="0">
                <a:latin typeface="Times New Roman" pitchFamily="18" charset="0"/>
                <a:cs typeface="Times New Roman" pitchFamily="18" charset="0"/>
                <a:sym typeface="Wingdings" panose="05000000000000000000" pitchFamily="2" charset="2"/>
              </a:rPr>
              <a:t></a:t>
            </a:r>
            <a:r>
              <a:rPr lang="en-IN" sz="1400" dirty="0"/>
              <a:t>Poor accessibility</a:t>
            </a:r>
          </a:p>
          <a:p>
            <a:pPr algn="just"/>
            <a:endParaRPr lang="en-IN" sz="1400" dirty="0">
              <a:latin typeface="Times New Roman" pitchFamily="18" charset="0"/>
              <a:cs typeface="Times New Roman" pitchFamily="18" charset="0"/>
            </a:endParaRPr>
          </a:p>
          <a:p>
            <a:pPr algn="just"/>
            <a:r>
              <a:rPr lang="en-IN" sz="1400" dirty="0">
                <a:latin typeface="Times New Roman" pitchFamily="18" charset="0"/>
                <a:cs typeface="Times New Roman" pitchFamily="18" charset="0"/>
              </a:rPr>
              <a:t>A full-stack web platform with </a:t>
            </a:r>
            <a:r>
              <a:rPr lang="en-IN" sz="1400" b="1" dirty="0">
                <a:latin typeface="Times New Roman" panose="02020603050405020304" pitchFamily="18" charset="0"/>
                <a:cs typeface="Times New Roman" panose="02020603050405020304" pitchFamily="18" charset="0"/>
              </a:rPr>
              <a:t>gamified learning</a:t>
            </a:r>
            <a:r>
              <a:rPr lang="en-IN" sz="1400" dirty="0">
                <a:latin typeface="Times New Roman" panose="02020603050405020304" pitchFamily="18" charset="0"/>
                <a:cs typeface="Times New Roman" panose="02020603050405020304" pitchFamily="18" charset="0"/>
              </a:rPr>
              <a:t> (XP, ranks, badges), </a:t>
            </a:r>
            <a:r>
              <a:rPr lang="en-IN" sz="1400" b="1" dirty="0">
                <a:latin typeface="Times New Roman" panose="02020603050405020304" pitchFamily="18" charset="0"/>
                <a:cs typeface="Times New Roman" panose="02020603050405020304" pitchFamily="18" charset="0"/>
              </a:rPr>
              <a:t>real-time multiplayer quizzes</a:t>
            </a:r>
            <a:r>
              <a:rPr lang="en-IN" sz="1400" dirty="0">
                <a:latin typeface="Times New Roman" panose="02020603050405020304" pitchFamily="18" charset="0"/>
                <a:cs typeface="Times New Roman" panose="02020603050405020304" pitchFamily="18" charset="0"/>
              </a:rPr>
              <a:t> via </a:t>
            </a:r>
            <a:r>
              <a:rPr lang="en-IN" sz="1400" dirty="0" err="1">
                <a:latin typeface="Times New Roman" panose="02020603050405020304" pitchFamily="18" charset="0"/>
                <a:cs typeface="Times New Roman" panose="02020603050405020304" pitchFamily="18" charset="0"/>
              </a:rPr>
              <a:t>WebSockets</a:t>
            </a: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6 multimedia question types</a:t>
            </a:r>
            <a:r>
              <a:rPr lang="en-IN" sz="1400" dirty="0">
                <a:latin typeface="Times New Roman" panose="02020603050405020304" pitchFamily="18" charset="0"/>
                <a:cs typeface="Times New Roman" panose="02020603050405020304" pitchFamily="18" charset="0"/>
              </a:rPr>
              <a:t>, </a:t>
            </a:r>
            <a:r>
              <a:rPr lang="en-IN" sz="1400" b="1" dirty="0">
                <a:latin typeface="Times New Roman" panose="02020603050405020304" pitchFamily="18" charset="0"/>
                <a:cs typeface="Times New Roman" panose="02020603050405020304" pitchFamily="18" charset="0"/>
              </a:rPr>
              <a:t>role-based access</a:t>
            </a:r>
            <a:r>
              <a:rPr lang="en-IN" sz="1400" dirty="0">
                <a:latin typeface="Times New Roman" panose="02020603050405020304" pitchFamily="18" charset="0"/>
                <a:cs typeface="Times New Roman" panose="02020603050405020304" pitchFamily="18" charset="0"/>
              </a:rPr>
              <a:t> (Teacher/Student), and </a:t>
            </a:r>
            <a:r>
              <a:rPr lang="en-IN" sz="1400" b="1" dirty="0">
                <a:latin typeface="Times New Roman" panose="02020603050405020304" pitchFamily="18" charset="0"/>
                <a:cs typeface="Times New Roman" panose="02020603050405020304" pitchFamily="18" charset="0"/>
              </a:rPr>
              <a:t>modular curriculum management</a:t>
            </a:r>
            <a:r>
              <a:rPr lang="en-IN" sz="1400" dirty="0">
                <a:latin typeface="Times New Roman" panose="02020603050405020304" pitchFamily="18" charset="0"/>
                <a:cs typeface="Times New Roman" panose="02020603050405020304" pitchFamily="18" charset="0"/>
              </a:rPr>
              <a:t> — built with React 19, Node.js/Express 5, Socket.IO, and SQLite.</a:t>
            </a:r>
            <a:endParaRPr lang="en-GB" sz="1400" dirty="0">
              <a:latin typeface="Times New Roman" pitchFamily="18" charset="0"/>
              <a:cs typeface="Times New Roman" pitchFamily="18" charset="0"/>
            </a:endParaRPr>
          </a:p>
          <a:p>
            <a:pPr algn="just"/>
            <a:endParaRPr lang="en-GB" sz="1400" dirty="0">
              <a:latin typeface="Times New Roman" pitchFamily="18" charset="0"/>
              <a:cs typeface="Times New Roman" pitchFamily="18" charset="0"/>
            </a:endParaRPr>
          </a:p>
          <a:p>
            <a:pPr marL="285750" indent="-285750" algn="just">
              <a:buFont typeface="Arial" panose="020B0604020202020204" pitchFamily="34" charset="0"/>
              <a:buChar char="•"/>
            </a:pPr>
            <a:r>
              <a:rPr lang="en-GB" sz="1400" dirty="0">
                <a:latin typeface="Times New Roman" pitchFamily="18" charset="0"/>
                <a:cs typeface="Times New Roman" pitchFamily="18" charset="0"/>
              </a:rPr>
              <a:t>To create a Web App or an Website for Quiz platform which includes Nursing specific question modules that any Nursing Student can attend irrespective of their Syllabus. </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We’ve used </a:t>
            </a:r>
            <a:r>
              <a:rPr lang="en-GB" sz="1400" dirty="0" err="1">
                <a:latin typeface="Times New Roman" pitchFamily="18" charset="0"/>
                <a:cs typeface="Times New Roman" pitchFamily="18" charset="0"/>
              </a:rPr>
              <a:t>React+vite</a:t>
            </a:r>
            <a:r>
              <a:rPr lang="en-GB" sz="1400" dirty="0">
                <a:latin typeface="Times New Roman" pitchFamily="18" charset="0"/>
                <a:cs typeface="Times New Roman" pitchFamily="18" charset="0"/>
              </a:rPr>
              <a:t> and the middleware as Node+Express.js. RESTful API handles the routing, middleware routing, file uploads and DB operations.</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Using SQLite (better-</a:t>
            </a:r>
            <a:r>
              <a:rPr lang="en-GB" sz="1400" dirty="0" err="1">
                <a:latin typeface="Times New Roman" pitchFamily="18" charset="0"/>
                <a:cs typeface="Times New Roman" pitchFamily="18" charset="0"/>
              </a:rPr>
              <a:t>sqlite</a:t>
            </a:r>
            <a:r>
              <a:rPr lang="en-GB" sz="1400" dirty="0">
                <a:latin typeface="Times New Roman" pitchFamily="18" charset="0"/>
                <a:cs typeface="Times New Roman" pitchFamily="18" charset="0"/>
              </a:rPr>
              <a:t>) for serverless, lightweight use for Database.  </a:t>
            </a:r>
          </a:p>
          <a:p>
            <a:pPr marL="285750" indent="-285750" algn="just">
              <a:buFont typeface="Arial" panose="020B0604020202020204" pitchFamily="34" charset="0"/>
              <a:buChar char="•"/>
            </a:pPr>
            <a:r>
              <a:rPr lang="en-GB" sz="1400" dirty="0">
                <a:latin typeface="Times New Roman" pitchFamily="18" charset="0"/>
                <a:cs typeface="Times New Roman" pitchFamily="18" charset="0"/>
              </a:rPr>
              <a:t>Web Sockets </a:t>
            </a:r>
            <a:r>
              <a:rPr lang="en-US" sz="1400" dirty="0">
                <a:latin typeface="Times New Roman" pitchFamily="18" charset="0"/>
                <a:cs typeface="Times New Roman" pitchFamily="18" charset="0"/>
              </a:rPr>
              <a:t>to enable live, real-time </a:t>
            </a:r>
            <a:r>
              <a:rPr lang="en-US" sz="1400" dirty="0" err="1">
                <a:latin typeface="Times New Roman" pitchFamily="18" charset="0"/>
                <a:cs typeface="Times New Roman" pitchFamily="18" charset="0"/>
              </a:rPr>
              <a:t>multiplayerquiz</a:t>
            </a:r>
            <a:r>
              <a:rPr lang="en-US" sz="1400" dirty="0">
                <a:latin typeface="Times New Roman" pitchFamily="18" charset="0"/>
                <a:cs typeface="Times New Roman" pitchFamily="18" charset="0"/>
              </a:rPr>
              <a:t> sessions where a teacher hosts and students join via a game code.</a:t>
            </a:r>
            <a:endParaRPr lang="en-GB" sz="1400" dirty="0">
              <a:latin typeface="Times New Roman" pitchFamily="18" charset="0"/>
              <a:cs typeface="Times New Roman" pitchFamily="18" charset="0"/>
            </a:endParaRPr>
          </a:p>
        </p:txBody>
      </p:sp>
      <p:sp>
        <p:nvSpPr>
          <p:cNvPr id="3" name="Date Placeholder 2"/>
          <p:cNvSpPr>
            <a:spLocks noGrp="1"/>
          </p:cNvSpPr>
          <p:nvPr>
            <p:ph type="dt" sz="half" idx="10"/>
          </p:nvPr>
        </p:nvSpPr>
        <p:spPr/>
        <p:txBody>
          <a:bodyPr/>
          <a:lstStyle/>
          <a:p>
            <a:fld id="{5A880E69-CE3A-4D4E-8C11-95F4E85341CB}" type="datetime3">
              <a:rPr lang="en-US" smtClean="0"/>
              <a:t>2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417" y="0"/>
            <a:ext cx="8651828" cy="994172"/>
          </a:xfrm>
        </p:spPr>
        <p:txBody>
          <a:bodyPr/>
          <a:lstStyle/>
          <a:p>
            <a:r>
              <a:rPr lang="en-US" sz="2800" b="1" dirty="0">
                <a:solidFill>
                  <a:srgbClr val="A50021"/>
                </a:solidFill>
                <a:latin typeface="Times New Roman" panose="02020603050405020304" pitchFamily="18" charset="0"/>
                <a:cs typeface="Times New Roman" panose="02020603050405020304" pitchFamily="18" charset="0"/>
              </a:rPr>
              <a:t>OBJECTIVES</a:t>
            </a:r>
            <a:r>
              <a:rPr lang="en-US" sz="3600" b="1" dirty="0">
                <a:solidFill>
                  <a:srgbClr val="A50021"/>
                </a:solidFill>
                <a:latin typeface="Times New Roman" panose="02020603050405020304" pitchFamily="18" charset="0"/>
                <a:cs typeface="Times New Roman" panose="02020603050405020304" pitchFamily="18" charset="0"/>
              </a:rPr>
              <a:t> </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t>10</a:t>
            </a:fld>
            <a:endParaRPr lang="en-US" dirty="0"/>
          </a:p>
        </p:txBody>
      </p:sp>
      <p:sp>
        <p:nvSpPr>
          <p:cNvPr id="3" name="TextBox 2"/>
          <p:cNvSpPr txBox="1"/>
          <p:nvPr/>
        </p:nvSpPr>
        <p:spPr>
          <a:xfrm>
            <a:off x="333417" y="690084"/>
            <a:ext cx="8810583" cy="4214102"/>
          </a:xfrm>
          <a:prstGeom prst="rect">
            <a:avLst/>
          </a:prstGeom>
          <a:noFill/>
        </p:spPr>
        <p:txBody>
          <a:bodyPr wrap="square" rtlCol="0">
            <a:spAutoFit/>
          </a:bodyPr>
          <a:lstStyle/>
          <a:p>
            <a:pPr algn="just">
              <a:lnSpc>
                <a:spcPct val="150000"/>
              </a:lnSpc>
            </a:pPr>
            <a:r>
              <a:rPr lang="en-GB" sz="1200" dirty="0">
                <a:latin typeface="Times New Roman" panose="02020603050405020304" pitchFamily="18" charset="0"/>
                <a:cs typeface="Times New Roman" pitchFamily="18" charset="0"/>
              </a:rPr>
              <a:t>Objective  - 1 :</a:t>
            </a:r>
          </a:p>
          <a:p>
            <a:pPr algn="just">
              <a:lnSpc>
                <a:spcPct val="150000"/>
              </a:lnSpc>
            </a:pPr>
            <a:r>
              <a:rPr lang="en-IN" sz="1200" dirty="0">
                <a:latin typeface="Times New Roman" panose="02020603050405020304" pitchFamily="18" charset="0"/>
                <a:cs typeface="Times New Roman" panose="02020603050405020304" pitchFamily="18" charset="0"/>
              </a:rPr>
              <a:t>To design a full-stack gamified nursing education platform (React, Node.js, Express, SQLite) with role-based access control, interactive dashboards, and a comprehensive quiz management system.</a:t>
            </a:r>
            <a:r>
              <a:rPr lang="en-GB" sz="1200" dirty="0">
                <a:latin typeface="Times New Roman" panose="02020603050405020304" pitchFamily="18" charset="0"/>
                <a:cs typeface="Times New Roman" pitchFamily="18" charset="0"/>
              </a:rPr>
              <a:t> </a:t>
            </a:r>
          </a:p>
          <a:p>
            <a:pPr algn="just">
              <a:lnSpc>
                <a:spcPct val="150000"/>
              </a:lnSpc>
            </a:pPr>
            <a:r>
              <a:rPr lang="en-GB" sz="1200" dirty="0">
                <a:latin typeface="Times New Roman" panose="02020603050405020304" pitchFamily="18" charset="0"/>
                <a:cs typeface="Times New Roman" pitchFamily="18" charset="0"/>
              </a:rPr>
              <a:t>Objective  - 2:</a:t>
            </a:r>
          </a:p>
          <a:p>
            <a:pPr algn="just">
              <a:lnSpc>
                <a:spcPct val="150000"/>
              </a:lnSpc>
            </a:pPr>
            <a:r>
              <a:rPr lang="en-IN" sz="1200" dirty="0">
                <a:latin typeface="Times New Roman" panose="02020603050405020304" pitchFamily="18" charset="0"/>
                <a:cs typeface="Times New Roman" panose="02020603050405020304" pitchFamily="18" charset="0"/>
              </a:rPr>
              <a:t>To implement multimedia-rich question types — MCQ, image-based, video-based, audio-based, jumbled-letter, and sequence ordering — enabling varied and engaging assessments beyond traditional text-only quizzes.</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- 3:</a:t>
            </a:r>
          </a:p>
          <a:p>
            <a:pPr algn="just">
              <a:lnSpc>
                <a:spcPct val="150000"/>
              </a:lnSpc>
            </a:pPr>
            <a:r>
              <a:rPr lang="en-IN" sz="1200" dirty="0">
                <a:latin typeface="Times New Roman" panose="02020603050405020304" pitchFamily="18" charset="0"/>
                <a:cs typeface="Times New Roman" panose="02020603050405020304" pitchFamily="18" charset="0"/>
              </a:rPr>
              <a:t>To integrate nursing-specific learning features including categorized clinical quizzes, module-based organization, scenario-based assessments, and domain-relevant gamification (XP, levels, streaks, badges).</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- 4:</a:t>
            </a:r>
          </a:p>
          <a:p>
            <a:pPr algn="just">
              <a:lnSpc>
                <a:spcPct val="150000"/>
              </a:lnSpc>
            </a:pPr>
            <a:r>
              <a:rPr lang="en-IN" sz="1200" dirty="0">
                <a:latin typeface="Times New Roman" panose="02020603050405020304" pitchFamily="18" charset="0"/>
                <a:cs typeface="Times New Roman" panose="02020603050405020304" pitchFamily="18" charset="0"/>
              </a:rPr>
              <a:t>To enable real-time multiplayer quiz sessions via Socket.IO with multi-device access, instant scoring, live leaderboards, and synchronized question delivery.</a:t>
            </a:r>
            <a:endParaRPr lang="en-GB" sz="1200" dirty="0">
              <a:latin typeface="Times New Roman" pitchFamily="18" charset="0"/>
              <a:cs typeface="Times New Roman" pitchFamily="18" charset="0"/>
            </a:endParaRPr>
          </a:p>
          <a:p>
            <a:pPr algn="just">
              <a:lnSpc>
                <a:spcPct val="150000"/>
              </a:lnSpc>
            </a:pPr>
            <a:r>
              <a:rPr lang="en-GB" sz="1200" dirty="0">
                <a:latin typeface="Times New Roman" pitchFamily="18" charset="0"/>
                <a:cs typeface="Times New Roman" pitchFamily="18" charset="0"/>
              </a:rPr>
              <a:t>Objective  - 5:</a:t>
            </a:r>
          </a:p>
          <a:p>
            <a:pPr algn="just">
              <a:lnSpc>
                <a:spcPct val="150000"/>
              </a:lnSpc>
            </a:pPr>
            <a:r>
              <a:rPr lang="en-IN" sz="1200" dirty="0">
                <a:latin typeface="Times New Roman" panose="02020603050405020304" pitchFamily="18" charset="0"/>
                <a:cs typeface="Times New Roman" panose="02020603050405020304" pitchFamily="18" charset="0"/>
              </a:rPr>
              <a:t>To ensure production-readiness through robust security (JWT, </a:t>
            </a:r>
            <a:r>
              <a:rPr lang="en-IN" sz="1200" dirty="0" err="1">
                <a:latin typeface="Times New Roman" panose="02020603050405020304" pitchFamily="18" charset="0"/>
                <a:cs typeface="Times New Roman" panose="02020603050405020304" pitchFamily="18" charset="0"/>
              </a:rPr>
              <a:t>bcrypt</a:t>
            </a:r>
            <a:r>
              <a:rPr lang="en-IN" sz="1200" dirty="0">
                <a:latin typeface="Times New Roman" panose="02020603050405020304" pitchFamily="18" charset="0"/>
                <a:cs typeface="Times New Roman" panose="02020603050405020304" pitchFamily="18" charset="0"/>
              </a:rPr>
              <a:t>, input validation), scalable single-server architecture, and real-world deployment</a:t>
            </a:r>
            <a:endParaRPr lang="en-GB" sz="1200" dirty="0">
              <a:latin typeface="Times New Roman" panose="02020603050405020304" pitchFamily="18" charset="0"/>
              <a:cs typeface="Times New Roman" pitchFamily="18" charset="0"/>
            </a:endParaRPr>
          </a:p>
        </p:txBody>
      </p:sp>
      <p:sp>
        <p:nvSpPr>
          <p:cNvPr id="5" name="Date Placeholder 4"/>
          <p:cNvSpPr>
            <a:spLocks noGrp="1"/>
          </p:cNvSpPr>
          <p:nvPr>
            <p:ph type="dt" sz="half" idx="10"/>
          </p:nvPr>
        </p:nvSpPr>
        <p:spPr/>
        <p:txBody>
          <a:bodyPr/>
          <a:lstStyle/>
          <a:p>
            <a:fld id="{305CE664-CC6B-43B1-BCF8-14EAD95F037A}" type="datetime3">
              <a:rPr lang="en-US" smtClean="0"/>
              <a:t>2 July 2026</a:t>
            </a:fld>
            <a:endParaRPr lang="en-US" dirty="0"/>
          </a:p>
        </p:txBody>
      </p:sp>
      <p:sp>
        <p:nvSpPr>
          <p:cNvPr id="7"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3184909047"/>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11</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a:solidFill>
                  <a:srgbClr val="A50021"/>
                </a:solidFill>
                <a:latin typeface="Times New Roman" panose="02020603050405020304" pitchFamily="18" charset="0"/>
                <a:cs typeface="Times New Roman" panose="02020603050405020304" pitchFamily="18" charset="0"/>
              </a:rPr>
              <a:t>WORKFLOW DIAGRAM</a:t>
            </a:r>
            <a:endParaRPr lang="en-US" sz="2800" b="1" dirty="0">
              <a:solidFill>
                <a:srgbClr val="A50021"/>
              </a:solidFill>
              <a:latin typeface="Times New Roman" panose="02020603050405020304" pitchFamily="18" charset="0"/>
              <a:cs typeface="Times New Roman" panose="02020603050405020304" pitchFamily="18" charset="0"/>
            </a:endParaRPr>
          </a:p>
        </p:txBody>
      </p:sp>
      <p:sp>
        <p:nvSpPr>
          <p:cNvPr id="2" name="Date Placeholder 1"/>
          <p:cNvSpPr>
            <a:spLocks noGrp="1"/>
          </p:cNvSpPr>
          <p:nvPr>
            <p:ph type="dt" sz="half" idx="10"/>
          </p:nvPr>
        </p:nvSpPr>
        <p:spPr/>
        <p:txBody>
          <a:bodyPr/>
          <a:lstStyle/>
          <a:p>
            <a:fld id="{DE11E864-39B2-4D9A-938E-DF8E5B1FD578}" type="datetime3">
              <a:rPr lang="en-US" smtClean="0"/>
              <a:t>2 July 2026</a:t>
            </a:fld>
            <a:endParaRPr lang="en-US" dirty="0"/>
          </a:p>
        </p:txBody>
      </p:sp>
      <p:sp>
        <p:nvSpPr>
          <p:cNvPr id="6" name="Footer Placeholder 4"/>
          <p:cNvSpPr>
            <a:spLocks noGrp="1"/>
          </p:cNvSpPr>
          <p:nvPr>
            <p:ph type="ftr" sz="quarter" idx="11"/>
          </p:nvPr>
        </p:nvSpPr>
        <p:spPr>
          <a:xfrm>
            <a:off x="3028950" y="4767264"/>
            <a:ext cx="3086100" cy="273844"/>
          </a:xfrm>
        </p:spPr>
        <p:txBody>
          <a:bodyPr/>
          <a:lstStyle/>
          <a:p>
            <a:r>
              <a:rPr lang="en-US"/>
              <a:t>CYB23IN101 REVIEW - I</a:t>
            </a:r>
            <a:endParaRPr lang="en-US" dirty="0"/>
          </a:p>
        </p:txBody>
      </p:sp>
      <p:pic>
        <p:nvPicPr>
          <p:cNvPr id="8" name="Picture 7">
            <a:extLst>
              <a:ext uri="{FF2B5EF4-FFF2-40B4-BE49-F238E27FC236}">
                <a16:creationId xmlns:a16="http://schemas.microsoft.com/office/drawing/2014/main" id="{EC32B658-B339-B3DE-7453-42D51E87A3C0}"/>
              </a:ext>
            </a:extLst>
          </p:cNvPr>
          <p:cNvPicPr>
            <a:picLocks noChangeAspect="1"/>
          </p:cNvPicPr>
          <p:nvPr/>
        </p:nvPicPr>
        <p:blipFill>
          <a:blip r:embed="rId2"/>
          <a:stretch>
            <a:fillRect/>
          </a:stretch>
        </p:blipFill>
        <p:spPr>
          <a:xfrm>
            <a:off x="2159425" y="629128"/>
            <a:ext cx="4825149" cy="4411980"/>
          </a:xfrm>
          <a:prstGeom prst="rect">
            <a:avLst/>
          </a:prstGeom>
        </p:spPr>
      </p:pic>
    </p:spTree>
    <p:extLst>
      <p:ext uri="{BB962C8B-B14F-4D97-AF65-F5344CB8AC3E}">
        <p14:creationId xmlns:p14="http://schemas.microsoft.com/office/powerpoint/2010/main" val="140179074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12</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MODULES</a:t>
            </a:r>
          </a:p>
        </p:txBody>
      </p:sp>
      <p:graphicFrame>
        <p:nvGraphicFramePr>
          <p:cNvPr id="3" name="Table 2"/>
          <p:cNvGraphicFramePr>
            <a:graphicFrameLocks noGrp="1"/>
          </p:cNvGraphicFramePr>
          <p:nvPr>
            <p:extLst>
              <p:ext uri="{D42A27DB-BD31-4B8C-83A1-F6EECF244321}">
                <p14:modId xmlns:p14="http://schemas.microsoft.com/office/powerpoint/2010/main" val="3402253326"/>
              </p:ext>
            </p:extLst>
          </p:nvPr>
        </p:nvGraphicFramePr>
        <p:xfrm>
          <a:off x="628650" y="643109"/>
          <a:ext cx="8313218" cy="3559607"/>
        </p:xfrm>
        <a:graphic>
          <a:graphicData uri="http://schemas.openxmlformats.org/drawingml/2006/table">
            <a:tbl>
              <a:tblPr firstRow="1" bandRow="1">
                <a:tableStyleId>{5940675A-B579-460E-94D1-54222C63F5DA}</a:tableStyleId>
              </a:tblPr>
              <a:tblGrid>
                <a:gridCol w="342512">
                  <a:extLst>
                    <a:ext uri="{9D8B030D-6E8A-4147-A177-3AD203B41FA5}">
                      <a16:colId xmlns:a16="http://schemas.microsoft.com/office/drawing/2014/main" val="20000"/>
                    </a:ext>
                  </a:extLst>
                </a:gridCol>
                <a:gridCol w="1416314">
                  <a:extLst>
                    <a:ext uri="{9D8B030D-6E8A-4147-A177-3AD203B41FA5}">
                      <a16:colId xmlns:a16="http://schemas.microsoft.com/office/drawing/2014/main" val="20001"/>
                    </a:ext>
                  </a:extLst>
                </a:gridCol>
                <a:gridCol w="2311230">
                  <a:extLst>
                    <a:ext uri="{9D8B030D-6E8A-4147-A177-3AD203B41FA5}">
                      <a16:colId xmlns:a16="http://schemas.microsoft.com/office/drawing/2014/main" val="20002"/>
                    </a:ext>
                  </a:extLst>
                </a:gridCol>
                <a:gridCol w="2352998">
                  <a:extLst>
                    <a:ext uri="{9D8B030D-6E8A-4147-A177-3AD203B41FA5}">
                      <a16:colId xmlns:a16="http://schemas.microsoft.com/office/drawing/2014/main" val="20003"/>
                    </a:ext>
                  </a:extLst>
                </a:gridCol>
                <a:gridCol w="1890164">
                  <a:extLst>
                    <a:ext uri="{9D8B030D-6E8A-4147-A177-3AD203B41FA5}">
                      <a16:colId xmlns:a16="http://schemas.microsoft.com/office/drawing/2014/main" val="20004"/>
                    </a:ext>
                  </a:extLst>
                </a:gridCol>
              </a:tblGrid>
              <a:tr h="359207">
                <a:tc>
                  <a:txBody>
                    <a:bodyPr/>
                    <a:lstStyle/>
                    <a:p>
                      <a:pPr algn="l">
                        <a:buNone/>
                      </a:pPr>
                      <a:r>
                        <a:rPr lang="en-IN" sz="1200" b="0">
                          <a:effectLst/>
                        </a:rPr>
                        <a:t>#</a:t>
                      </a:r>
                    </a:p>
                  </a:txBody>
                  <a:tcPr anchor="ctr">
                    <a:solidFill>
                      <a:schemeClr val="bg2"/>
                    </a:solidFill>
                  </a:tcPr>
                </a:tc>
                <a:tc>
                  <a:txBody>
                    <a:bodyPr/>
                    <a:lstStyle/>
                    <a:p>
                      <a:pPr algn="ctr">
                        <a:buNone/>
                      </a:pPr>
                      <a:r>
                        <a:rPr lang="en-IN" sz="1200" b="0" dirty="0">
                          <a:effectLst/>
                        </a:rPr>
                        <a:t>Modules</a:t>
                      </a:r>
                    </a:p>
                  </a:txBody>
                  <a:tcPr anchor="ctr">
                    <a:solidFill>
                      <a:schemeClr val="bg2"/>
                    </a:solidFill>
                  </a:tcPr>
                </a:tc>
                <a:tc>
                  <a:txBody>
                    <a:bodyPr/>
                    <a:lstStyle/>
                    <a:p>
                      <a:pPr algn="ctr">
                        <a:buNone/>
                      </a:pPr>
                      <a:r>
                        <a:rPr lang="en-IN" sz="1200" b="0" dirty="0">
                          <a:effectLst/>
                        </a:rPr>
                        <a:t>Methodology / Algorithm</a:t>
                      </a:r>
                    </a:p>
                  </a:txBody>
                  <a:tcPr anchor="ctr">
                    <a:solidFill>
                      <a:schemeClr val="bg2"/>
                    </a:solidFill>
                  </a:tcPr>
                </a:tc>
                <a:tc>
                  <a:txBody>
                    <a:bodyPr/>
                    <a:lstStyle/>
                    <a:p>
                      <a:pPr algn="ctr">
                        <a:buNone/>
                      </a:pPr>
                      <a:r>
                        <a:rPr lang="en-IN" sz="1200" b="0" dirty="0">
                          <a:effectLst/>
                        </a:rPr>
                        <a:t>Technologies (H/W and S/W)</a:t>
                      </a:r>
                    </a:p>
                  </a:txBody>
                  <a:tcPr anchor="ctr">
                    <a:solidFill>
                      <a:schemeClr val="bg2"/>
                    </a:solidFill>
                  </a:tcPr>
                </a:tc>
                <a:tc>
                  <a:txBody>
                    <a:bodyPr/>
                    <a:lstStyle/>
                    <a:p>
                      <a:pPr algn="ctr">
                        <a:buNone/>
                      </a:pPr>
                      <a:r>
                        <a:rPr lang="en-IN" sz="1200" b="0" dirty="0">
                          <a:effectLst/>
                        </a:rPr>
                        <a:t>Implementation</a:t>
                      </a:r>
                    </a:p>
                  </a:txBody>
                  <a:tcPr anchor="ctr">
                    <a:solidFill>
                      <a:schemeClr val="bg2"/>
                    </a:solidFill>
                  </a:tcPr>
                </a:tc>
                <a:extLst>
                  <a:ext uri="{0D108BD9-81ED-4DB2-BD59-A6C34878D82A}">
                    <a16:rowId xmlns:a16="http://schemas.microsoft.com/office/drawing/2014/main" val="10000"/>
                  </a:ext>
                </a:extLst>
              </a:tr>
              <a:tr h="388803">
                <a:tc>
                  <a:txBody>
                    <a:bodyPr/>
                    <a:lstStyle/>
                    <a:p>
                      <a:pPr>
                        <a:buNone/>
                      </a:pPr>
                      <a:r>
                        <a:rPr lang="en-IN" sz="1200">
                          <a:effectLst/>
                        </a:rPr>
                        <a:t>1</a:t>
                      </a:r>
                    </a:p>
                  </a:txBody>
                  <a:tcPr anchor="ctr"/>
                </a:tc>
                <a:tc>
                  <a:txBody>
                    <a:bodyPr/>
                    <a:lstStyle/>
                    <a:p>
                      <a:pPr>
                        <a:buNone/>
                      </a:pPr>
                      <a:r>
                        <a:rPr lang="en-IN" sz="1200" b="1">
                          <a:effectLst/>
                        </a:rPr>
                        <a:t>Frontend Module</a:t>
                      </a:r>
                      <a:r>
                        <a:rPr lang="en-IN" sz="1200">
                          <a:effectLst/>
                        </a:rPr>
                        <a:t> (UI Layer)</a:t>
                      </a:r>
                    </a:p>
                  </a:txBody>
                  <a:tcPr anchor="ctr"/>
                </a:tc>
                <a:tc>
                  <a:txBody>
                    <a:bodyPr/>
                    <a:lstStyle/>
                    <a:p>
                      <a:pPr>
                        <a:buNone/>
                      </a:pPr>
                      <a:r>
                        <a:rPr lang="en-IN" sz="1200">
                          <a:effectLst/>
                        </a:rPr>
                        <a:t>Component-based SPA; client-side routing; Context API state management</a:t>
                      </a:r>
                    </a:p>
                  </a:txBody>
                  <a:tcPr anchor="ctr"/>
                </a:tc>
                <a:tc>
                  <a:txBody>
                    <a:bodyPr/>
                    <a:lstStyle/>
                    <a:p>
                      <a:pPr>
                        <a:buNone/>
                      </a:pPr>
                      <a:r>
                        <a:rPr lang="en-IN" sz="1200" b="1" dirty="0">
                          <a:effectLst/>
                        </a:rPr>
                        <a:t>S/W:</a:t>
                      </a:r>
                      <a:r>
                        <a:rPr lang="en-IN" sz="1200" dirty="0">
                          <a:effectLst/>
                        </a:rPr>
                        <a:t> React 19, Vite, React Router, Three.js, Lottie </a:t>
                      </a:r>
                    </a:p>
                  </a:txBody>
                  <a:tcPr anchor="ctr"/>
                </a:tc>
                <a:tc>
                  <a:txBody>
                    <a:bodyPr/>
                    <a:lstStyle/>
                    <a:p>
                      <a:pPr>
                        <a:buNone/>
                      </a:pPr>
                      <a:r>
                        <a:rPr lang="en-IN" sz="1200">
                          <a:effectLst/>
                        </a:rPr>
                        <a:t>11 pages, reusable components, 2 context providers, API client</a:t>
                      </a:r>
                    </a:p>
                  </a:txBody>
                  <a:tcPr anchor="ctr"/>
                </a:tc>
                <a:extLst>
                  <a:ext uri="{0D108BD9-81ED-4DB2-BD59-A6C34878D82A}">
                    <a16:rowId xmlns:a16="http://schemas.microsoft.com/office/drawing/2014/main" val="10001"/>
                  </a:ext>
                </a:extLst>
              </a:tr>
              <a:tr h="440029">
                <a:tc>
                  <a:txBody>
                    <a:bodyPr/>
                    <a:lstStyle/>
                    <a:p>
                      <a:pPr>
                        <a:buNone/>
                      </a:pPr>
                      <a:r>
                        <a:rPr lang="en-IN" sz="1200">
                          <a:effectLst/>
                        </a:rPr>
                        <a:t>2</a:t>
                      </a:r>
                    </a:p>
                  </a:txBody>
                  <a:tcPr anchor="ctr"/>
                </a:tc>
                <a:tc>
                  <a:txBody>
                    <a:bodyPr/>
                    <a:lstStyle/>
                    <a:p>
                      <a:pPr>
                        <a:buNone/>
                      </a:pPr>
                      <a:r>
                        <a:rPr lang="en-IN" sz="1200" b="1">
                          <a:effectLst/>
                        </a:rPr>
                        <a:t>Backend API Module</a:t>
                      </a:r>
                      <a:r>
                        <a:rPr lang="en-IN" sz="1200">
                          <a:effectLst/>
                        </a:rPr>
                        <a:t> (Server Layer)</a:t>
                      </a:r>
                    </a:p>
                  </a:txBody>
                  <a:tcPr anchor="ctr"/>
                </a:tc>
                <a:tc>
                  <a:txBody>
                    <a:bodyPr/>
                    <a:lstStyle/>
                    <a:p>
                      <a:pPr>
                        <a:buNone/>
                      </a:pPr>
                      <a:r>
                        <a:rPr lang="en-IN" sz="1200">
                          <a:effectLst/>
                        </a:rPr>
                        <a:t>RESTful API; MVC pattern; middleware chaining; MIME-filtered uploads</a:t>
                      </a:r>
                    </a:p>
                  </a:txBody>
                  <a:tcPr anchor="ctr"/>
                </a:tc>
                <a:tc>
                  <a:txBody>
                    <a:bodyPr/>
                    <a:lstStyle/>
                    <a:p>
                      <a:pPr>
                        <a:buNone/>
                      </a:pPr>
                      <a:r>
                        <a:rPr lang="en-IN" sz="1200" b="1" dirty="0">
                          <a:effectLst/>
                        </a:rPr>
                        <a:t>S/W:</a:t>
                      </a:r>
                      <a:r>
                        <a:rPr lang="en-IN" sz="1200" dirty="0">
                          <a:effectLst/>
                        </a:rPr>
                        <a:t> Node.js, Express 5, Multer, CORS</a:t>
                      </a:r>
                      <a:r>
                        <a:rPr lang="en-IN" sz="1200" b="1" dirty="0">
                          <a:effectLst/>
                        </a:rPr>
                        <a:t> </a:t>
                      </a:r>
                      <a:r>
                        <a:rPr lang="en-IN" sz="1200" b="0" dirty="0">
                          <a:effectLst/>
                        </a:rPr>
                        <a:t>with</a:t>
                      </a:r>
                      <a:r>
                        <a:rPr lang="en-IN" sz="1200" b="1" dirty="0">
                          <a:effectLst/>
                        </a:rPr>
                        <a:t> </a:t>
                      </a:r>
                      <a:r>
                        <a:rPr lang="en-IN" sz="1200" dirty="0">
                          <a:effectLst/>
                        </a:rPr>
                        <a:t>Node.js 18+ server</a:t>
                      </a:r>
                    </a:p>
                  </a:txBody>
                  <a:tcPr anchor="ctr"/>
                </a:tc>
                <a:tc>
                  <a:txBody>
                    <a:bodyPr/>
                    <a:lstStyle/>
                    <a:p>
                      <a:pPr>
                        <a:buNone/>
                      </a:pPr>
                      <a:r>
                        <a:rPr lang="en-IN" sz="1200">
                          <a:effectLst/>
                        </a:rPr>
                        <a:t>5 route modules, file upload endpoint, media handler</a:t>
                      </a:r>
                    </a:p>
                  </a:txBody>
                  <a:tcPr anchor="ctr"/>
                </a:tc>
                <a:extLst>
                  <a:ext uri="{0D108BD9-81ED-4DB2-BD59-A6C34878D82A}">
                    <a16:rowId xmlns:a16="http://schemas.microsoft.com/office/drawing/2014/main" val="10002"/>
                  </a:ext>
                </a:extLst>
              </a:tr>
              <a:tr h="491779">
                <a:tc>
                  <a:txBody>
                    <a:bodyPr/>
                    <a:lstStyle/>
                    <a:p>
                      <a:pPr>
                        <a:buNone/>
                      </a:pPr>
                      <a:r>
                        <a:rPr lang="en-IN" sz="1200">
                          <a:effectLst/>
                        </a:rPr>
                        <a:t>3</a:t>
                      </a:r>
                    </a:p>
                  </a:txBody>
                  <a:tcPr anchor="ctr"/>
                </a:tc>
                <a:tc>
                  <a:txBody>
                    <a:bodyPr/>
                    <a:lstStyle/>
                    <a:p>
                      <a:pPr>
                        <a:buNone/>
                      </a:pPr>
                      <a:r>
                        <a:rPr lang="en-IN" sz="1200" b="1">
                          <a:effectLst/>
                        </a:rPr>
                        <a:t>Auth Module</a:t>
                      </a:r>
                      <a:r>
                        <a:rPr lang="en-IN" sz="1200">
                          <a:effectLst/>
                        </a:rPr>
                        <a:t> (Security Layer)</a:t>
                      </a:r>
                    </a:p>
                  </a:txBody>
                  <a:tcPr anchor="ctr"/>
                </a:tc>
                <a:tc>
                  <a:txBody>
                    <a:bodyPr/>
                    <a:lstStyle/>
                    <a:p>
                      <a:pPr>
                        <a:buNone/>
                      </a:pPr>
                      <a:r>
                        <a:rPr lang="en-IN" sz="1200">
                          <a:effectLst/>
                        </a:rPr>
                        <a:t>JWT token auth; bcrypt hashing (salt=10); role-based access control</a:t>
                      </a:r>
                    </a:p>
                  </a:txBody>
                  <a:tcPr anchor="ctr"/>
                </a:tc>
                <a:tc>
                  <a:txBody>
                    <a:bodyPr/>
                    <a:lstStyle/>
                    <a:p>
                      <a:pPr>
                        <a:buNone/>
                      </a:pPr>
                      <a:r>
                        <a:rPr lang="en-IN" sz="1200" b="1" dirty="0">
                          <a:effectLst/>
                        </a:rPr>
                        <a:t>S/W:</a:t>
                      </a:r>
                      <a:r>
                        <a:rPr lang="en-IN" sz="1200" dirty="0">
                          <a:effectLst/>
                        </a:rPr>
                        <a:t> </a:t>
                      </a:r>
                      <a:r>
                        <a:rPr lang="en-IN" sz="1200" dirty="0" err="1">
                          <a:effectLst/>
                        </a:rPr>
                        <a:t>jsonwebtoken</a:t>
                      </a:r>
                      <a:r>
                        <a:rPr lang="en-IN" sz="1200" dirty="0">
                          <a:effectLst/>
                        </a:rPr>
                        <a:t>, </a:t>
                      </a:r>
                      <a:r>
                        <a:rPr lang="en-IN" sz="1200" dirty="0" err="1">
                          <a:effectLst/>
                        </a:rPr>
                        <a:t>bcryptjs</a:t>
                      </a:r>
                      <a:r>
                        <a:rPr lang="en-IN" sz="1200" dirty="0">
                          <a:effectLst/>
                        </a:rPr>
                        <a:t>, Express middleware</a:t>
                      </a:r>
                    </a:p>
                  </a:txBody>
                  <a:tcPr anchor="ctr"/>
                </a:tc>
                <a:tc>
                  <a:txBody>
                    <a:bodyPr/>
                    <a:lstStyle/>
                    <a:p>
                      <a:pPr>
                        <a:buNone/>
                      </a:pPr>
                      <a:r>
                        <a:rPr lang="en-IN" sz="1200" dirty="0">
                          <a:effectLst/>
                        </a:rPr>
                        <a:t>Token sign/verify, password hashing, role-gating middleware</a:t>
                      </a:r>
                    </a:p>
                  </a:txBody>
                  <a:tcPr anchor="ctr"/>
                </a:tc>
                <a:extLst>
                  <a:ext uri="{0D108BD9-81ED-4DB2-BD59-A6C34878D82A}">
                    <a16:rowId xmlns:a16="http://schemas.microsoft.com/office/drawing/2014/main" val="10003"/>
                  </a:ext>
                </a:extLst>
              </a:tr>
              <a:tr h="440029">
                <a:tc>
                  <a:txBody>
                    <a:bodyPr/>
                    <a:lstStyle/>
                    <a:p>
                      <a:pPr>
                        <a:buNone/>
                      </a:pPr>
                      <a:r>
                        <a:rPr lang="en-IN" sz="1200" dirty="0">
                          <a:effectLst/>
                        </a:rPr>
                        <a:t>4</a:t>
                      </a:r>
                    </a:p>
                  </a:txBody>
                  <a:tcPr anchor="ctr"/>
                </a:tc>
                <a:tc>
                  <a:txBody>
                    <a:bodyPr/>
                    <a:lstStyle/>
                    <a:p>
                      <a:pPr>
                        <a:buNone/>
                      </a:pPr>
                      <a:r>
                        <a:rPr lang="en-IN" sz="1200" b="1">
                          <a:effectLst/>
                        </a:rPr>
                        <a:t>Database Module</a:t>
                      </a:r>
                      <a:r>
                        <a:rPr lang="en-IN" sz="1200">
                          <a:effectLst/>
                        </a:rPr>
                        <a:t> (Data Layer)</a:t>
                      </a:r>
                    </a:p>
                  </a:txBody>
                  <a:tcPr anchor="ctr"/>
                </a:tc>
                <a:tc>
                  <a:txBody>
                    <a:bodyPr/>
                    <a:lstStyle/>
                    <a:p>
                      <a:pPr>
                        <a:buNone/>
                      </a:pPr>
                      <a:r>
                        <a:rPr lang="en-IN" sz="1200">
                          <a:effectLst/>
                        </a:rPr>
                        <a:t>Relational schema; prepared statements; WAL journaling; auto-migration</a:t>
                      </a:r>
                    </a:p>
                  </a:txBody>
                  <a:tcPr anchor="ctr"/>
                </a:tc>
                <a:tc>
                  <a:txBody>
                    <a:bodyPr/>
                    <a:lstStyle/>
                    <a:p>
                      <a:pPr>
                        <a:buNone/>
                      </a:pPr>
                      <a:r>
                        <a:rPr lang="en-IN" sz="1200" b="1">
                          <a:effectLst/>
                        </a:rPr>
                        <a:t>S/W:</a:t>
                      </a:r>
                      <a:r>
                        <a:rPr lang="en-IN" sz="1200">
                          <a:effectLst/>
                        </a:rPr>
                        <a:t> SQLite, better-sqlite3, UUID </a:t>
                      </a:r>
                      <a:r>
                        <a:rPr lang="en-IN" sz="1200" b="1">
                          <a:effectLst/>
                        </a:rPr>
                        <a:t>H/W:</a:t>
                      </a:r>
                      <a:r>
                        <a:rPr lang="en-IN" sz="1200">
                          <a:effectLst/>
                        </a:rPr>
                        <a:t> Local file storage</a:t>
                      </a:r>
                    </a:p>
                  </a:txBody>
                  <a:tcPr anchor="ctr"/>
                </a:tc>
                <a:tc>
                  <a:txBody>
                    <a:bodyPr/>
                    <a:lstStyle/>
                    <a:p>
                      <a:pPr>
                        <a:buNone/>
                      </a:pPr>
                      <a:r>
                        <a:rPr lang="en-IN" sz="1200">
                          <a:effectLst/>
                        </a:rPr>
                        <a:t>6 tables, schema.sql, init.js with migrations, seed.js</a:t>
                      </a:r>
                    </a:p>
                  </a:txBody>
                  <a:tcPr anchor="ctr"/>
                </a:tc>
                <a:extLst>
                  <a:ext uri="{0D108BD9-81ED-4DB2-BD59-A6C34878D82A}">
                    <a16:rowId xmlns:a16="http://schemas.microsoft.com/office/drawing/2014/main" val="10004"/>
                  </a:ext>
                </a:extLst>
              </a:tr>
              <a:tr h="440029">
                <a:tc>
                  <a:txBody>
                    <a:bodyPr/>
                    <a:lstStyle/>
                    <a:p>
                      <a:pPr>
                        <a:buNone/>
                      </a:pPr>
                      <a:r>
                        <a:rPr lang="en-IN" sz="1200">
                          <a:effectLst/>
                        </a:rPr>
                        <a:t>5</a:t>
                      </a:r>
                    </a:p>
                  </a:txBody>
                  <a:tcPr anchor="ctr"/>
                </a:tc>
                <a:tc>
                  <a:txBody>
                    <a:bodyPr/>
                    <a:lstStyle/>
                    <a:p>
                      <a:pPr>
                        <a:buNone/>
                      </a:pPr>
                      <a:r>
                        <a:rPr lang="en-IN" sz="1200" b="1">
                          <a:effectLst/>
                        </a:rPr>
                        <a:t>Real-Time Module</a:t>
                      </a:r>
                      <a:r>
                        <a:rPr lang="en-IN" sz="1200">
                          <a:effectLst/>
                        </a:rPr>
                        <a:t> (WebSocket Layer)</a:t>
                      </a:r>
                    </a:p>
                  </a:txBody>
                  <a:tcPr anchor="ctr"/>
                </a:tc>
                <a:tc>
                  <a:txBody>
                    <a:bodyPr/>
                    <a:lstStyle/>
                    <a:p>
                      <a:pPr>
                        <a:buNone/>
                      </a:pPr>
                      <a:r>
                        <a:rPr lang="en-IN" sz="1200">
                          <a:effectLst/>
                        </a:rPr>
                        <a:t>Event-driven pub/sub; room-based sessions; Kahoot-style scoring</a:t>
                      </a:r>
                    </a:p>
                  </a:txBody>
                  <a:tcPr anchor="ctr"/>
                </a:tc>
                <a:tc>
                  <a:txBody>
                    <a:bodyPr/>
                    <a:lstStyle/>
                    <a:p>
                      <a:pPr>
                        <a:buNone/>
                      </a:pPr>
                      <a:r>
                        <a:rPr lang="en-IN" sz="1200" b="1" dirty="0">
                          <a:effectLst/>
                        </a:rPr>
                        <a:t>S/W:</a:t>
                      </a:r>
                      <a:r>
                        <a:rPr lang="en-IN" sz="1200" dirty="0">
                          <a:effectLst/>
                        </a:rPr>
                        <a:t> Socket.IO, Node.js event loop </a:t>
                      </a:r>
                    </a:p>
                  </a:txBody>
                  <a:tcPr anchor="ctr"/>
                </a:tc>
                <a:tc>
                  <a:txBody>
                    <a:bodyPr/>
                    <a:lstStyle/>
                    <a:p>
                      <a:pPr>
                        <a:buNone/>
                      </a:pPr>
                      <a:r>
                        <a:rPr lang="en-IN" sz="1200" dirty="0">
                          <a:effectLst/>
                        </a:rPr>
                        <a:t>Session lifecycle, in-memory store, live scoring &amp; ranking</a:t>
                      </a:r>
                    </a:p>
                  </a:txBody>
                  <a:tcPr anchor="ct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fld id="{2B573973-4A1E-4C7C-AAB7-BDE9EAC7FD5C}" type="datetime3">
              <a:rPr lang="en-US" smtClean="0"/>
              <a:t>2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2871368585"/>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7F1AF47-AE98-4034-BD91-1976FA4D9C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063154" y="1063154"/>
            <a:ext cx="5156864" cy="3030558"/>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8EC0EE2B-2029-48DD-893D-F528E651B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2900" y="6361"/>
            <a:ext cx="2676207" cy="5143500"/>
          </a:xfrm>
          <a:prstGeom prst="rect">
            <a:avLst/>
          </a:prstGeom>
          <a:gradFill>
            <a:gsLst>
              <a:gs pos="0">
                <a:schemeClr val="accent1">
                  <a:alpha val="32000"/>
                </a:schemeClr>
              </a:gs>
              <a:gs pos="70000">
                <a:srgbClr val="000000">
                  <a:alpha val="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45AE1D08-1ED1-4F59-B42F-4D8EA33DC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560516" y="900984"/>
            <a:ext cx="3606227" cy="3066500"/>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Rectangle 23">
            <a:extLst>
              <a:ext uri="{FF2B5EF4-FFF2-40B4-BE49-F238E27FC236}">
                <a16:creationId xmlns:a16="http://schemas.microsoft.com/office/drawing/2014/main" id="{9A79B912-88EA-4640-BDEB-51B3B11A02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9674" y="1994553"/>
            <a:ext cx="3266696" cy="3030557"/>
          </a:xfrm>
          <a:prstGeom prst="rect">
            <a:avLst/>
          </a:prstGeom>
          <a:gradFill>
            <a:gsLst>
              <a:gs pos="0">
                <a:schemeClr val="accent1">
                  <a:alpha val="24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p:cNvSpPr>
            <a:spLocks noGrp="1"/>
          </p:cNvSpPr>
          <p:nvPr>
            <p:ph type="title"/>
          </p:nvPr>
        </p:nvSpPr>
        <p:spPr>
          <a:xfrm>
            <a:off x="496635" y="2146853"/>
            <a:ext cx="2281352" cy="2180851"/>
          </a:xfrm>
        </p:spPr>
        <p:txBody>
          <a:bodyPr vert="horz" lIns="91440" tIns="45720" rIns="91440" bIns="45720" rtlCol="0" anchor="t">
            <a:normAutofit/>
          </a:bodyPr>
          <a:lstStyle/>
          <a:p>
            <a:pPr defTabSz="914400">
              <a:spcAft>
                <a:spcPts val="450"/>
              </a:spcAft>
            </a:pPr>
            <a:r>
              <a:rPr lang="en-US" sz="3000" b="1" dirty="0">
                <a:solidFill>
                  <a:srgbClr val="FFFFFF"/>
                </a:solidFill>
              </a:rPr>
              <a:t>RESULTS /</a:t>
            </a:r>
            <a:br>
              <a:rPr lang="en-US" sz="3000" b="1" dirty="0">
                <a:solidFill>
                  <a:srgbClr val="FFFFFF"/>
                </a:solidFill>
              </a:rPr>
            </a:br>
            <a:r>
              <a:rPr lang="en-US" sz="3000" b="1" dirty="0">
                <a:solidFill>
                  <a:srgbClr val="FFFFFF"/>
                </a:solidFill>
              </a:rPr>
              <a:t>OUTCOMES </a:t>
            </a:r>
          </a:p>
        </p:txBody>
      </p:sp>
      <p:sp>
        <p:nvSpPr>
          <p:cNvPr id="6" name="Footer Placeholder 4"/>
          <p:cNvSpPr>
            <a:spLocks noGrp="1"/>
          </p:cNvSpPr>
          <p:nvPr>
            <p:ph type="ftr" sz="quarter" idx="11"/>
          </p:nvPr>
        </p:nvSpPr>
        <p:spPr>
          <a:xfrm rot="5400000">
            <a:off x="-1371600" y="1501902"/>
            <a:ext cx="3086100" cy="273843"/>
          </a:xfrm>
        </p:spPr>
        <p:txBody>
          <a:bodyPr vert="horz" lIns="91440" tIns="45720" rIns="91440" bIns="45720" rtlCol="0" anchor="ctr">
            <a:normAutofit/>
          </a:bodyPr>
          <a:lstStyle/>
          <a:p>
            <a:pPr algn="l" defTabSz="914400">
              <a:spcAft>
                <a:spcPts val="600"/>
              </a:spcAft>
            </a:pPr>
            <a:r>
              <a:rPr lang="en-US" sz="800" kern="1200" dirty="0">
                <a:solidFill>
                  <a:srgbClr val="FFFFFF"/>
                </a:solidFill>
                <a:latin typeface="+mn-lt"/>
                <a:ea typeface="+mn-ea"/>
                <a:cs typeface="+mn-cs"/>
              </a:rPr>
              <a:t>CYB23IN101 REVIEW - II</a:t>
            </a:r>
          </a:p>
        </p:txBody>
      </p:sp>
      <p:pic>
        <p:nvPicPr>
          <p:cNvPr id="4" name="Picture 3">
            <a:extLst>
              <a:ext uri="{FF2B5EF4-FFF2-40B4-BE49-F238E27FC236}">
                <a16:creationId xmlns:a16="http://schemas.microsoft.com/office/drawing/2014/main" id="{81971DDF-6E13-1AB8-53CE-32FC4F9E3A40}"/>
              </a:ext>
            </a:extLst>
          </p:cNvPr>
          <p:cNvPicPr>
            <a:picLocks noChangeAspect="1"/>
          </p:cNvPicPr>
          <p:nvPr/>
        </p:nvPicPr>
        <p:blipFill>
          <a:blip r:embed="rId2"/>
          <a:stretch>
            <a:fillRect/>
          </a:stretch>
        </p:blipFill>
        <p:spPr>
          <a:xfrm>
            <a:off x="4152042" y="359034"/>
            <a:ext cx="1839421" cy="2021343"/>
          </a:xfrm>
          <a:prstGeom prst="rect">
            <a:avLst/>
          </a:prstGeom>
        </p:spPr>
      </p:pic>
      <p:pic>
        <p:nvPicPr>
          <p:cNvPr id="11" name="Picture 10">
            <a:extLst>
              <a:ext uri="{FF2B5EF4-FFF2-40B4-BE49-F238E27FC236}">
                <a16:creationId xmlns:a16="http://schemas.microsoft.com/office/drawing/2014/main" id="{FFBBBBA2-8392-2003-C1F3-51BB1BAC8447}"/>
              </a:ext>
            </a:extLst>
          </p:cNvPr>
          <p:cNvPicPr>
            <a:picLocks noChangeAspect="1"/>
          </p:cNvPicPr>
          <p:nvPr/>
        </p:nvPicPr>
        <p:blipFill>
          <a:blip r:embed="rId3"/>
          <a:stretch>
            <a:fillRect/>
          </a:stretch>
        </p:blipFill>
        <p:spPr>
          <a:xfrm>
            <a:off x="6220447" y="787400"/>
            <a:ext cx="2564650" cy="1592975"/>
          </a:xfrm>
          <a:prstGeom prst="rect">
            <a:avLst/>
          </a:prstGeom>
        </p:spPr>
      </p:pic>
      <p:pic>
        <p:nvPicPr>
          <p:cNvPr id="8" name="Picture 7">
            <a:extLst>
              <a:ext uri="{FF2B5EF4-FFF2-40B4-BE49-F238E27FC236}">
                <a16:creationId xmlns:a16="http://schemas.microsoft.com/office/drawing/2014/main" id="{645AFACE-FE3C-FC3B-C14E-EFC4411CC1A4}"/>
              </a:ext>
            </a:extLst>
          </p:cNvPr>
          <p:cNvPicPr>
            <a:picLocks noChangeAspect="1"/>
          </p:cNvPicPr>
          <p:nvPr/>
        </p:nvPicPr>
        <p:blipFill>
          <a:blip r:embed="rId4"/>
          <a:stretch>
            <a:fillRect/>
          </a:stretch>
        </p:blipFill>
        <p:spPr>
          <a:xfrm>
            <a:off x="3896813" y="2571750"/>
            <a:ext cx="4442251" cy="2165598"/>
          </a:xfrm>
          <a:prstGeom prst="rect">
            <a:avLst/>
          </a:prstGeom>
        </p:spPr>
      </p:pic>
      <p:sp>
        <p:nvSpPr>
          <p:cNvPr id="2" name="Date Placeholder 1"/>
          <p:cNvSpPr>
            <a:spLocks noGrp="1"/>
          </p:cNvSpPr>
          <p:nvPr>
            <p:ph type="dt" sz="half" idx="10"/>
          </p:nvPr>
        </p:nvSpPr>
        <p:spPr>
          <a:xfrm>
            <a:off x="6727698" y="4839705"/>
            <a:ext cx="2057400" cy="273843"/>
          </a:xfrm>
        </p:spPr>
        <p:txBody>
          <a:bodyPr vert="horz" lIns="91440" tIns="45720" rIns="91440" bIns="45720" rtlCol="0" anchor="ctr">
            <a:normAutofit/>
          </a:bodyPr>
          <a:lstStyle/>
          <a:p>
            <a:pPr algn="r" defTabSz="914400">
              <a:spcAft>
                <a:spcPts val="600"/>
              </a:spcAft>
            </a:pPr>
            <a:fld id="{A308CB6B-BD60-4065-AB97-7D0371657514}" type="datetime3">
              <a:rPr lang="en-US" sz="800">
                <a:solidFill>
                  <a:schemeClr val="tx1">
                    <a:lumMod val="50000"/>
                    <a:lumOff val="50000"/>
                  </a:schemeClr>
                </a:solidFill>
              </a:rPr>
              <a:pPr algn="r" defTabSz="914400">
                <a:spcAft>
                  <a:spcPts val="600"/>
                </a:spcAft>
              </a:pPr>
              <a:t>2 July 2026</a:t>
            </a:fld>
            <a:endParaRPr lang="en-US" sz="800">
              <a:solidFill>
                <a:schemeClr val="tx1">
                  <a:lumMod val="50000"/>
                  <a:lumOff val="50000"/>
                </a:schemeClr>
              </a:solidFill>
            </a:endParaRPr>
          </a:p>
        </p:txBody>
      </p:sp>
      <p:sp>
        <p:nvSpPr>
          <p:cNvPr id="7" name="Slide Number Placeholder 6"/>
          <p:cNvSpPr>
            <a:spLocks noGrp="1"/>
          </p:cNvSpPr>
          <p:nvPr>
            <p:ph type="sldNum" sz="quarter" idx="12"/>
          </p:nvPr>
        </p:nvSpPr>
        <p:spPr>
          <a:xfrm>
            <a:off x="8778240" y="4839705"/>
            <a:ext cx="336042" cy="274320"/>
          </a:xfrm>
        </p:spPr>
        <p:txBody>
          <a:bodyPr vert="horz" lIns="91440" tIns="45720" rIns="91440" bIns="45720" rtlCol="0" anchor="ctr">
            <a:normAutofit/>
          </a:bodyPr>
          <a:lstStyle/>
          <a:p>
            <a:pPr defTabSz="914400">
              <a:spcAft>
                <a:spcPts val="600"/>
              </a:spcAft>
            </a:pPr>
            <a:fld id="{D57F1E4F-1CFF-5643-939E-217C01CDF565}" type="slidenum">
              <a:rPr lang="en-US" sz="800">
                <a:solidFill>
                  <a:schemeClr val="tx1">
                    <a:lumMod val="50000"/>
                    <a:lumOff val="50000"/>
                  </a:schemeClr>
                </a:solidFill>
              </a:rPr>
              <a:pPr defTabSz="914400">
                <a:spcAft>
                  <a:spcPts val="600"/>
                </a:spcAft>
              </a:pPr>
              <a:t>13</a:t>
            </a:fld>
            <a:endParaRPr lang="en-US" sz="800">
              <a:solidFill>
                <a:schemeClr val="tx1">
                  <a:lumMod val="50000"/>
                  <a:lumOff val="50000"/>
                </a:schemeClr>
              </a:solidFill>
            </a:endParaRP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14</a:t>
            </a:fld>
            <a:endParaRPr lang="en-US" dirty="0"/>
          </a:p>
        </p:txBody>
      </p:sp>
      <p:sp>
        <p:nvSpPr>
          <p:cNvPr id="10" name="Title 1"/>
          <p:cNvSpPr>
            <a:spLocks noGrp="1"/>
          </p:cNvSpPr>
          <p:nvPr>
            <p:ph type="title"/>
          </p:nvPr>
        </p:nvSpPr>
        <p:spPr>
          <a:xfrm>
            <a:off x="1" y="132093"/>
            <a:ext cx="8515350" cy="433523"/>
          </a:xfrm>
        </p:spPr>
        <p:txBody>
          <a:bodyPr>
            <a:noAutofit/>
          </a:bodyPr>
          <a:lstStyle/>
          <a:p>
            <a:pPr algn="ctr">
              <a:lnSpc>
                <a:spcPct val="107000"/>
              </a:lnSpc>
              <a:spcBef>
                <a:spcPts val="0"/>
              </a:spcBef>
              <a:spcAft>
                <a:spcPts val="450"/>
              </a:spcAft>
            </a:pPr>
            <a:r>
              <a:rPr lang="en-US" sz="2800" b="1">
                <a:solidFill>
                  <a:srgbClr val="A50021"/>
                </a:solidFill>
                <a:latin typeface="Times New Roman" panose="02020603050405020304" pitchFamily="18" charset="0"/>
                <a:cs typeface="Times New Roman" panose="02020603050405020304" pitchFamily="18" charset="0"/>
              </a:rPr>
              <a:t>CONCLUSION</a:t>
            </a:r>
            <a:endParaRPr lang="en-US" sz="2800" b="1" dirty="0">
              <a:solidFill>
                <a:srgbClr val="A50021"/>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91068" y="893929"/>
            <a:ext cx="8746177" cy="1815882"/>
          </a:xfrm>
          <a:prstGeom prst="rect">
            <a:avLst/>
          </a:prstGeom>
          <a:noFill/>
        </p:spPr>
        <p:txBody>
          <a:bodyPr wrap="none" rtlCol="0">
            <a:spAutoFit/>
          </a:bodyPr>
          <a:lstStyle/>
          <a:p>
            <a:pPr marL="285750" indent="-285750">
              <a:buFont typeface="Arial" panose="020B0604020202020204" pitchFamily="34" charset="0"/>
              <a:buChar char="•"/>
            </a:pPr>
            <a:r>
              <a:rPr lang="en-GB" sz="1600" dirty="0">
                <a:latin typeface="Times New Roman" pitchFamily="18" charset="0"/>
                <a:cs typeface="Times New Roman" pitchFamily="18" charset="0"/>
              </a:rPr>
              <a:t>16 MAR – 21 MAR : Started collecting Literatures</a:t>
            </a:r>
          </a:p>
          <a:p>
            <a:pPr marL="285750" indent="-285750">
              <a:buFont typeface="Arial" panose="020B0604020202020204" pitchFamily="34" charset="0"/>
              <a:buChar char="•"/>
            </a:pPr>
            <a:r>
              <a:rPr lang="en-GB" sz="1600" dirty="0">
                <a:latin typeface="Times New Roman" pitchFamily="18" charset="0"/>
                <a:cs typeface="Times New Roman" pitchFamily="18" charset="0"/>
              </a:rPr>
              <a:t>23 MAR – 4 JUNE : Started and Finished Website’s Prototype</a:t>
            </a:r>
          </a:p>
          <a:p>
            <a:pPr marL="285750" indent="-285750">
              <a:buFont typeface="Arial" panose="020B0604020202020204" pitchFamily="34" charset="0"/>
              <a:buChar char="•"/>
            </a:pPr>
            <a:r>
              <a:rPr lang="en-GB" sz="1600" dirty="0">
                <a:latin typeface="Times New Roman" pitchFamily="18" charset="0"/>
                <a:cs typeface="Times New Roman" pitchFamily="18" charset="0"/>
              </a:rPr>
              <a:t>6 JUNE – 21 JUNE: Building a Production  Ready </a:t>
            </a:r>
            <a:r>
              <a:rPr lang="en-GB" sz="1600" dirty="0" err="1">
                <a:latin typeface="Times New Roman" pitchFamily="18" charset="0"/>
                <a:cs typeface="Times New Roman" pitchFamily="18" charset="0"/>
              </a:rPr>
              <a:t>Weebsite</a:t>
            </a:r>
            <a:r>
              <a:rPr lang="en-GB" sz="1600" dirty="0">
                <a:latin typeface="Times New Roman" pitchFamily="18" charset="0"/>
                <a:cs typeface="Times New Roman" pitchFamily="18" charset="0"/>
              </a:rPr>
              <a:t> for Data Collection</a:t>
            </a:r>
          </a:p>
          <a:p>
            <a:pPr marL="285750" indent="-285750">
              <a:buFont typeface="Arial" panose="020B0604020202020204" pitchFamily="34" charset="0"/>
              <a:buChar char="•"/>
            </a:pPr>
            <a:r>
              <a:rPr lang="en-GB" sz="1600" dirty="0">
                <a:latin typeface="Times New Roman" pitchFamily="18" charset="0"/>
                <a:cs typeface="Times New Roman" pitchFamily="18" charset="0"/>
              </a:rPr>
              <a:t>23 JUNE – 1 JULY : Building a handheld App for Multi Disciplines</a:t>
            </a:r>
          </a:p>
          <a:p>
            <a:pPr marL="285750" indent="-285750">
              <a:buFont typeface="Arial" panose="020B0604020202020204" pitchFamily="34" charset="0"/>
              <a:buChar char="•"/>
            </a:pPr>
            <a:endParaRPr lang="en-GB" sz="1600" dirty="0">
              <a:latin typeface="Times New Roman" pitchFamily="18" charset="0"/>
              <a:cs typeface="Times New Roman" pitchFamily="18" charset="0"/>
            </a:endParaRPr>
          </a:p>
          <a:p>
            <a:pPr marL="285750" indent="-285750">
              <a:buFont typeface="Arial" panose="020B0604020202020204" pitchFamily="34" charset="0"/>
              <a:buChar char="•"/>
            </a:pPr>
            <a:r>
              <a:rPr lang="en-GB" sz="1600" dirty="0">
                <a:latin typeface="Times New Roman" pitchFamily="18" charset="0"/>
                <a:cs typeface="Times New Roman" pitchFamily="18" charset="0"/>
              </a:rPr>
              <a:t>Most Literature Review are summarized and identified the gaps and key findings with the help of AI</a:t>
            </a:r>
          </a:p>
          <a:p>
            <a:pPr marL="285750" indent="-285750">
              <a:buFont typeface="Arial" panose="020B0604020202020204" pitchFamily="34" charset="0"/>
              <a:buChar char="•"/>
            </a:pPr>
            <a:endParaRPr lang="en-GB" sz="1600" dirty="0">
              <a:latin typeface="Times New Roman" pitchFamily="18" charset="0"/>
              <a:cs typeface="Times New Roman" pitchFamily="18" charset="0"/>
            </a:endParaRPr>
          </a:p>
        </p:txBody>
      </p:sp>
      <p:sp>
        <p:nvSpPr>
          <p:cNvPr id="2" name="Date Placeholder 1"/>
          <p:cNvSpPr>
            <a:spLocks noGrp="1"/>
          </p:cNvSpPr>
          <p:nvPr>
            <p:ph type="dt" sz="half" idx="10"/>
          </p:nvPr>
        </p:nvSpPr>
        <p:spPr/>
        <p:txBody>
          <a:bodyPr/>
          <a:lstStyle/>
          <a:p>
            <a:fld id="{2FFD4BED-E319-4DA0-96BF-17657C6E3A60}" type="datetime3">
              <a:rPr lang="en-US" smtClean="0"/>
              <a:t>2 July 2026</a:t>
            </a:fld>
            <a:endParaRPr lang="en-US" dirty="0"/>
          </a:p>
        </p:txBody>
      </p:sp>
      <p:sp>
        <p:nvSpPr>
          <p:cNvPr id="8" name="Footer Placeholder 4"/>
          <p:cNvSpPr>
            <a:spLocks noGrp="1"/>
          </p:cNvSpPr>
          <p:nvPr>
            <p:ph type="ftr" sz="quarter" idx="11"/>
          </p:nvPr>
        </p:nvSpPr>
        <p:spPr>
          <a:xfrm>
            <a:off x="3028950" y="4767264"/>
            <a:ext cx="3086100" cy="273844"/>
          </a:xfrm>
        </p:spPr>
        <p:txBody>
          <a:bodyPr/>
          <a:lstStyle/>
          <a:p>
            <a:r>
              <a:rPr lang="en-US" dirty="0"/>
              <a:t>CYB23IN101 REVIEW - II</a:t>
            </a:r>
          </a:p>
        </p:txBody>
      </p:sp>
    </p:spTree>
    <p:extLst>
      <p:ext uri="{BB962C8B-B14F-4D97-AF65-F5344CB8AC3E}">
        <p14:creationId xmlns:p14="http://schemas.microsoft.com/office/powerpoint/2010/main" val="1524044671"/>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15</a:t>
            </a:fld>
            <a:endParaRPr lang="en-US" dirty="0"/>
          </a:p>
        </p:txBody>
      </p:sp>
      <p:sp>
        <p:nvSpPr>
          <p:cNvPr id="10" name="Title 1"/>
          <p:cNvSpPr>
            <a:spLocks noGrp="1"/>
          </p:cNvSpPr>
          <p:nvPr>
            <p:ph type="title"/>
          </p:nvPr>
        </p:nvSpPr>
        <p:spPr>
          <a:xfrm>
            <a:off x="628650" y="0"/>
            <a:ext cx="8236391" cy="719531"/>
          </a:xfrm>
        </p:spPr>
        <p:txBody>
          <a:bodyPr>
            <a:noAutofit/>
          </a:bodyPr>
          <a:lstStyle/>
          <a:p>
            <a:pPr algn="ctr">
              <a:lnSpc>
                <a:spcPct val="107000"/>
              </a:lnSpc>
              <a:spcBef>
                <a:spcPts val="0"/>
              </a:spcBef>
              <a:spcAft>
                <a:spcPts val="450"/>
              </a:spcAft>
            </a:pPr>
            <a:r>
              <a:rPr lang="en-US" sz="2000" b="1" dirty="0">
                <a:solidFill>
                  <a:srgbClr val="A50021"/>
                </a:solidFill>
                <a:latin typeface="Times New Roman" panose="02020603050405020304" pitchFamily="18" charset="0"/>
                <a:cs typeface="Times New Roman" panose="02020603050405020304" pitchFamily="18" charset="0"/>
              </a:rPr>
              <a:t>REFERENCES </a:t>
            </a:r>
            <a:br>
              <a:rPr lang="en-US" sz="2000" b="1" dirty="0">
                <a:solidFill>
                  <a:srgbClr val="A50021"/>
                </a:solidFill>
                <a:latin typeface="Times New Roman" panose="02020603050405020304" pitchFamily="18" charset="0"/>
                <a:cs typeface="Times New Roman" panose="02020603050405020304" pitchFamily="18" charset="0"/>
              </a:rPr>
            </a:br>
            <a:endParaRPr lang="en-US" sz="2000" b="1" dirty="0">
              <a:solidFill>
                <a:srgbClr val="A5002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25DF74A-E01D-21FB-F9CB-9A61BD4D7EFE}"/>
              </a:ext>
            </a:extLst>
          </p:cNvPr>
          <p:cNvSpPr txBox="1"/>
          <p:nvPr/>
        </p:nvSpPr>
        <p:spPr>
          <a:xfrm>
            <a:off x="78853" y="452831"/>
            <a:ext cx="8986294" cy="4493538"/>
          </a:xfrm>
          <a:prstGeom prst="rect">
            <a:avLst/>
          </a:prstGeom>
          <a:noFill/>
        </p:spPr>
        <p:txBody>
          <a:bodyPr wrap="square" rtlCol="0">
            <a:spAutoFit/>
          </a:bodyPr>
          <a:lstStyle/>
          <a:p>
            <a:pPr algn="just"/>
            <a:r>
              <a:rPr lang="en-IN" sz="1100" dirty="0"/>
              <a:t>[1] R. Nguyen, "Advancing Nursing Education Through Gamification," </a:t>
            </a:r>
            <a:r>
              <a:rPr lang="en-IN" sz="1100" i="1" dirty="0"/>
              <a:t>Am. J. Nurs.</a:t>
            </a:r>
            <a:r>
              <a:rPr lang="en-IN" sz="1100" dirty="0"/>
              <a:t>, vol. 126, no. 6, pp. 8-9, Jun 2026.</a:t>
            </a:r>
          </a:p>
          <a:p>
            <a:pPr algn="just"/>
            <a:r>
              <a:rPr lang="en-IN" sz="1100" dirty="0"/>
              <a:t>[2] A. Azoulay and F. Lim, "The Impact of Gamification on Academic Performance: An Integrative Review," </a:t>
            </a:r>
            <a:r>
              <a:rPr lang="en-IN" sz="1100" i="1" dirty="0"/>
              <a:t>Nurs. Educ. </a:t>
            </a:r>
            <a:r>
              <a:rPr lang="en-IN" sz="1100" i="1" dirty="0" err="1"/>
              <a:t>Perspect</a:t>
            </a:r>
            <a:r>
              <a:rPr lang="en-IN" sz="1100" i="1" dirty="0"/>
              <a:t>.</a:t>
            </a:r>
            <a:r>
              <a:rPr lang="en-IN" sz="1100" dirty="0"/>
              <a:t>, vol. 47, no. 3, pp. 160-167, May 2026.</a:t>
            </a:r>
          </a:p>
          <a:p>
            <a:pPr algn="just"/>
            <a:r>
              <a:rPr lang="en-IN" sz="1100" dirty="0"/>
              <a:t>[3] S. </a:t>
            </a:r>
            <a:r>
              <a:rPr lang="en-IN" sz="1100" dirty="0" err="1"/>
              <a:t>Aalaei</a:t>
            </a:r>
            <a:r>
              <a:rPr lang="en-IN" sz="1100" dirty="0"/>
              <a:t>, et al., "Design and evaluation of a gamified mobile application for teaching cardiac rhythm interpretation," </a:t>
            </a:r>
            <a:r>
              <a:rPr lang="en-IN" sz="1100" i="1" dirty="0"/>
              <a:t>BMC Med. Educ.</a:t>
            </a:r>
            <a:r>
              <a:rPr lang="en-IN" sz="1100" dirty="0"/>
              <a:t>, vol. 26, no. 1, p. 882, Apr 2026.</a:t>
            </a:r>
          </a:p>
          <a:p>
            <a:pPr algn="just"/>
            <a:r>
              <a:rPr lang="en-IN" sz="1100" dirty="0"/>
              <a:t>[4] M. </a:t>
            </a:r>
            <a:r>
              <a:rPr lang="en-IN" sz="1100" dirty="0" err="1"/>
              <a:t>AlMekkawi</a:t>
            </a:r>
            <a:r>
              <a:rPr lang="en-IN" sz="1100" dirty="0"/>
              <a:t>, et al., "Game-based learning in undergraduate nursing education: A systematic review," </a:t>
            </a:r>
            <a:r>
              <a:rPr lang="en-IN" sz="1100" i="1" dirty="0"/>
              <a:t>Nurse Educ. Today</a:t>
            </a:r>
            <a:r>
              <a:rPr lang="en-IN" sz="1100" dirty="0"/>
              <a:t>, vol. 164, p. 107124, Sep 2026.</a:t>
            </a:r>
          </a:p>
          <a:p>
            <a:pPr algn="just"/>
            <a:r>
              <a:rPr lang="en-IN" sz="1100" dirty="0"/>
              <a:t>[5] V. I. Bahar, et al., "Effectiveness of Serious Game Activities in Raising Palliative Care Awareness," </a:t>
            </a:r>
            <a:r>
              <a:rPr lang="en-IN" sz="1100" i="1" dirty="0" err="1"/>
              <a:t>Comput</a:t>
            </a:r>
            <a:r>
              <a:rPr lang="en-IN" sz="1100" i="1" dirty="0"/>
              <a:t>. Inform. Nurs.</a:t>
            </a:r>
            <a:r>
              <a:rPr lang="en-IN" sz="1100" dirty="0"/>
              <a:t>, vol. 44, no. 6, pp. 14-22, Jun 2026.</a:t>
            </a:r>
          </a:p>
          <a:p>
            <a:pPr algn="just"/>
            <a:r>
              <a:rPr lang="en-IN" sz="1100" dirty="0"/>
              <a:t>[6] K. McMillan, et al., "Gamification design and engagement in preregistration nurse education," </a:t>
            </a:r>
            <a:r>
              <a:rPr lang="en-IN" sz="1100" i="1" dirty="0"/>
              <a:t>BMJ Open</a:t>
            </a:r>
            <a:r>
              <a:rPr lang="en-IN" sz="1100" dirty="0"/>
              <a:t>, vol. 16, no. 1, p. e107037, Jan 2026.</a:t>
            </a:r>
          </a:p>
          <a:p>
            <a:pPr algn="just"/>
            <a:r>
              <a:rPr lang="en-IN" sz="1100" dirty="0"/>
              <a:t>[7] M. Yang, et al., "Effectiveness of escape room in Chinese nursing education: A systematic review," </a:t>
            </a:r>
            <a:r>
              <a:rPr lang="en-IN" sz="1100" i="1" dirty="0"/>
              <a:t>BMC Nurs.</a:t>
            </a:r>
            <a:r>
              <a:rPr lang="en-IN" sz="1100" dirty="0"/>
              <a:t>, vol. 25, no. 1, p. 201, Feb 2026.</a:t>
            </a:r>
          </a:p>
          <a:p>
            <a:pPr algn="just"/>
            <a:r>
              <a:rPr lang="en-IN" sz="1100" dirty="0"/>
              <a:t>[8] Y. G. S. Barbalho, et al., "A Serious Game (Health Unit in Focus) for Older Adults' Health," </a:t>
            </a:r>
            <a:r>
              <a:rPr lang="en-IN" sz="1100" i="1" dirty="0"/>
              <a:t>JMIR Serious Games</a:t>
            </a:r>
            <a:r>
              <a:rPr lang="en-IN" sz="1100" dirty="0"/>
              <a:t>, vol. 13, no. 1, p. e66289, Nov 2025.</a:t>
            </a:r>
          </a:p>
          <a:p>
            <a:pPr algn="just"/>
            <a:r>
              <a:rPr lang="en-IN" sz="1100" dirty="0"/>
              <a:t>[9] N. Aktaş and Y. </a:t>
            </a:r>
            <a:r>
              <a:rPr lang="en-IN" sz="1100" dirty="0" err="1"/>
              <a:t>Sazak</a:t>
            </a:r>
            <a:r>
              <a:rPr lang="en-IN" sz="1100" dirty="0"/>
              <a:t>, "Use of an escape room-based learning strategy to enhance pharmacology knowledge," </a:t>
            </a:r>
            <a:r>
              <a:rPr lang="en-IN" sz="1100" i="1" dirty="0"/>
              <a:t>BMC Nurs.</a:t>
            </a:r>
            <a:r>
              <a:rPr lang="en-IN" sz="1100" dirty="0"/>
              <a:t>, vol. 25, no. 1, p. 106, Dec 2025.</a:t>
            </a:r>
          </a:p>
          <a:p>
            <a:pPr algn="just"/>
            <a:r>
              <a:rPr lang="en-IN" sz="1100" dirty="0"/>
              <a:t>[10] M. White and T. Shellenbarger, "Gamification of nursing education with digital badges," </a:t>
            </a:r>
            <a:r>
              <a:rPr lang="en-IN" sz="1100" i="1" dirty="0"/>
              <a:t>Nurse Educator</a:t>
            </a:r>
            <a:r>
              <a:rPr lang="en-IN" sz="1100" dirty="0"/>
              <a:t>, vol. 43, no. 2, pp. 78-82, Mar 2018.</a:t>
            </a:r>
          </a:p>
          <a:p>
            <a:pPr algn="just"/>
            <a:r>
              <a:rPr lang="en-IN" sz="1100" dirty="0"/>
              <a:t>[11] S. Mishra, et al., "</a:t>
            </a:r>
            <a:r>
              <a:rPr lang="en-IN" sz="1100" dirty="0" err="1"/>
              <a:t>QuestMitra</a:t>
            </a:r>
            <a:r>
              <a:rPr lang="en-IN" sz="1100" dirty="0"/>
              <a:t>: A Scalable Multiplayer Gamified Quiz Platform using Node.js and Socket.IO," </a:t>
            </a:r>
            <a:r>
              <a:rPr lang="en-IN" sz="1100" i="1" dirty="0"/>
              <a:t>Int. J. </a:t>
            </a:r>
            <a:r>
              <a:rPr lang="en-IN" sz="1100" i="1" dirty="0" err="1"/>
              <a:t>Comput</a:t>
            </a:r>
            <a:r>
              <a:rPr lang="en-IN" sz="1100" i="1" dirty="0"/>
              <a:t>. Sci. Eng.</a:t>
            </a:r>
            <a:r>
              <a:rPr lang="en-IN" sz="1100" dirty="0"/>
              <a:t>, vol. 18, no. 2, pp. 245-251, Feb 2026.</a:t>
            </a:r>
          </a:p>
          <a:p>
            <a:pPr algn="just"/>
            <a:r>
              <a:rPr lang="en-IN" sz="1100" dirty="0"/>
              <a:t>[12] A. Kumar, et al., "Design and Development of a Real-Time Gamified Quiz Application using React and Socket.IO," </a:t>
            </a:r>
            <a:r>
              <a:rPr lang="en-IN" sz="1100" i="1" dirty="0"/>
              <a:t>Int. J. </a:t>
            </a:r>
            <a:r>
              <a:rPr lang="en-IN" sz="1100" i="1" dirty="0" err="1"/>
              <a:t>Innov</a:t>
            </a:r>
            <a:r>
              <a:rPr lang="en-IN" sz="1100" i="1" dirty="0"/>
              <a:t>. Res. </a:t>
            </a:r>
            <a:r>
              <a:rPr lang="en-IN" sz="1100" i="1" dirty="0" err="1"/>
              <a:t>Comput</a:t>
            </a:r>
            <a:r>
              <a:rPr lang="en-IN" sz="1100" i="1" dirty="0"/>
              <a:t>. Commun. Eng.</a:t>
            </a:r>
            <a:r>
              <a:rPr lang="en-IN" sz="1100" dirty="0"/>
              <a:t>, vol. 13, no. 8, pp. 14671-14678, Aug 2025.</a:t>
            </a:r>
          </a:p>
          <a:p>
            <a:pPr algn="just"/>
            <a:r>
              <a:rPr lang="en-IN" sz="1100" dirty="0"/>
              <a:t>[13] J. Silva and M. Santos, "Comparing SQLite and Embedded Databases for Storage in Web-Based LMS," </a:t>
            </a:r>
            <a:r>
              <a:rPr lang="en-IN" sz="1100" i="1" dirty="0"/>
              <a:t>J. </a:t>
            </a:r>
            <a:r>
              <a:rPr lang="en-IN" sz="1100" i="1" dirty="0" err="1"/>
              <a:t>Softw</a:t>
            </a:r>
            <a:r>
              <a:rPr lang="en-IN" sz="1100" i="1" dirty="0"/>
              <a:t>. Eng. Appl.</a:t>
            </a:r>
            <a:r>
              <a:rPr lang="en-IN" sz="1100" dirty="0"/>
              <a:t>, vol. 16, no. 4, pp. 112-120, Apr 2023.</a:t>
            </a:r>
          </a:p>
          <a:p>
            <a:pPr algn="just"/>
            <a:r>
              <a:rPr lang="en-IN" sz="1100" dirty="0"/>
              <a:t>[14] L. Chen and X. Wang, "Full-Duplex Communication in Browser-Based Multiplayer Games: </a:t>
            </a:r>
            <a:r>
              <a:rPr lang="en-IN" sz="1100" dirty="0" err="1"/>
              <a:t>WebSockets</a:t>
            </a:r>
            <a:r>
              <a:rPr lang="en-IN" sz="1100" dirty="0"/>
              <a:t> vs. WebRTC," </a:t>
            </a:r>
            <a:r>
              <a:rPr lang="en-IN" sz="1100" i="1" dirty="0"/>
              <a:t>IEEE Trans. Games</a:t>
            </a:r>
            <a:r>
              <a:rPr lang="en-IN" sz="1100" dirty="0"/>
              <a:t>, vol. 17, no. 3, pp. 312-320, Sep 2024.</a:t>
            </a:r>
          </a:p>
          <a:p>
            <a:pPr algn="just"/>
            <a:r>
              <a:rPr lang="en-IN" sz="1100" dirty="0"/>
              <a:t>[15] D. Jones and R. Smith, "Developing Interactive Single Page Applications for Medical Training: A React-Based Approach," </a:t>
            </a:r>
            <a:r>
              <a:rPr lang="en-IN" sz="1100" i="1" dirty="0" err="1"/>
              <a:t>Comput</a:t>
            </a:r>
            <a:r>
              <a:rPr lang="en-IN" sz="1100" i="1" dirty="0"/>
              <a:t>. Educ.</a:t>
            </a:r>
            <a:r>
              <a:rPr lang="en-IN" sz="1100" dirty="0"/>
              <a:t>, vol. 188, p. 104581, Oct 2022.</a:t>
            </a:r>
          </a:p>
          <a:p>
            <a:pPr algn="just"/>
            <a:endParaRPr lang="en-IN" sz="1100" dirty="0"/>
          </a:p>
        </p:txBody>
      </p:sp>
      <p:sp>
        <p:nvSpPr>
          <p:cNvPr id="3" name="Date Placeholder 2"/>
          <p:cNvSpPr>
            <a:spLocks noGrp="1"/>
          </p:cNvSpPr>
          <p:nvPr>
            <p:ph type="dt" sz="half" idx="10"/>
          </p:nvPr>
        </p:nvSpPr>
        <p:spPr/>
        <p:txBody>
          <a:bodyPr/>
          <a:lstStyle/>
          <a:p>
            <a:fld id="{756D0CD2-9846-482E-BF67-7C2753030DC2}" type="datetime3">
              <a:rPr lang="en-US" smtClean="0"/>
              <a:t>2 July 2026</a:t>
            </a:fld>
            <a:endParaRPr lang="en-US" dirty="0"/>
          </a:p>
        </p:txBody>
      </p:sp>
      <p:sp>
        <p:nvSpPr>
          <p:cNvPr id="9" name="Footer Placeholder 4"/>
          <p:cNvSpPr>
            <a:spLocks noGrp="1"/>
          </p:cNvSpPr>
          <p:nvPr>
            <p:ph type="ftr" sz="quarter" idx="11"/>
          </p:nvPr>
        </p:nvSpPr>
        <p:spPr>
          <a:xfrm>
            <a:off x="3028950" y="4767264"/>
            <a:ext cx="3086100" cy="273844"/>
          </a:xfrm>
        </p:spPr>
        <p:txBody>
          <a:bodyPr/>
          <a:lstStyle/>
          <a:p>
            <a:r>
              <a:rPr lang="en-US" dirty="0"/>
              <a:t>CYB23IN301 REVIEW - II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D57F1E4F-1CFF-5643-939E-217C01CDF565}" type="slidenum">
              <a:rPr lang="en-US" smtClean="0"/>
              <a:t>16</a:t>
            </a:fld>
            <a:endParaRPr lang="en-US" dirty="0"/>
          </a:p>
        </p:txBody>
      </p:sp>
      <p:sp>
        <p:nvSpPr>
          <p:cNvPr id="10" name="Title 1"/>
          <p:cNvSpPr>
            <a:spLocks noGrp="1"/>
          </p:cNvSpPr>
          <p:nvPr>
            <p:ph type="title"/>
          </p:nvPr>
        </p:nvSpPr>
        <p:spPr>
          <a:xfrm>
            <a:off x="661948" y="132093"/>
            <a:ext cx="6083163" cy="433523"/>
          </a:xfrm>
        </p:spPr>
        <p:txBody>
          <a:bodyPr>
            <a:noAutofit/>
          </a:bodyPr>
          <a:lstStyle/>
          <a:p>
            <a:pPr>
              <a:lnSpc>
                <a:spcPct val="107000"/>
              </a:lnSpc>
              <a:spcBef>
                <a:spcPts val="0"/>
              </a:spcBef>
              <a:spcAft>
                <a:spcPts val="450"/>
              </a:spcAft>
            </a:pPr>
            <a:r>
              <a:rPr lang="en-US" sz="2800" b="1" dirty="0">
                <a:solidFill>
                  <a:srgbClr val="A50021"/>
                </a:solidFill>
                <a:latin typeface="Times New Roman" panose="02020603050405020304" pitchFamily="18" charset="0"/>
                <a:cs typeface="Times New Roman" panose="02020603050405020304" pitchFamily="18" charset="0"/>
              </a:rPr>
              <a:t>REFERENCES </a:t>
            </a:r>
          </a:p>
        </p:txBody>
      </p:sp>
      <p:sp>
        <p:nvSpPr>
          <p:cNvPr id="8" name="TextBox 7">
            <a:extLst>
              <a:ext uri="{FF2B5EF4-FFF2-40B4-BE49-F238E27FC236}">
                <a16:creationId xmlns:a16="http://schemas.microsoft.com/office/drawing/2014/main" id="{D25DF74A-E01D-21FB-F9CB-9A61BD4D7EFE}"/>
              </a:ext>
            </a:extLst>
          </p:cNvPr>
          <p:cNvSpPr txBox="1"/>
          <p:nvPr/>
        </p:nvSpPr>
        <p:spPr>
          <a:xfrm>
            <a:off x="812800" y="879231"/>
            <a:ext cx="7440246" cy="313932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rgbClr val="A50021"/>
                </a:solidFill>
                <a:latin typeface="Cambria" panose="02040503050406030204" pitchFamily="18" charset="0"/>
                <a:ea typeface="Cambria" panose="02040503050406030204" pitchFamily="18" charset="0"/>
              </a:rPr>
              <a:t>WEB REFERENCES:</a:t>
            </a:r>
          </a:p>
          <a:p>
            <a:r>
              <a:rPr lang="en-IN" dirty="0">
                <a:solidFill>
                  <a:srgbClr val="A50021"/>
                </a:solidFill>
                <a:latin typeface="Cambria" panose="02040503050406030204" pitchFamily="18" charset="0"/>
                <a:ea typeface="Cambria" panose="02040503050406030204" pitchFamily="18" charset="0"/>
              </a:rPr>
              <a:t>	</a:t>
            </a:r>
            <a:r>
              <a:rPr lang="en-IN" dirty="0" err="1">
                <a:solidFill>
                  <a:srgbClr val="A50021"/>
                </a:solidFill>
                <a:latin typeface="Cambria" panose="02040503050406030204" pitchFamily="18" charset="0"/>
                <a:ea typeface="Cambria" panose="02040503050406030204" pitchFamily="18" charset="0"/>
              </a:rPr>
              <a:t>Youtube</a:t>
            </a:r>
            <a:endParaRPr lang="en-IN" dirty="0">
              <a:solidFill>
                <a:srgbClr val="A50021"/>
              </a:solidFill>
              <a:latin typeface="Cambria" panose="02040503050406030204" pitchFamily="18" charset="0"/>
              <a:ea typeface="Cambria" panose="02040503050406030204" pitchFamily="18" charset="0"/>
            </a:endParaRPr>
          </a:p>
          <a:p>
            <a:r>
              <a:rPr lang="en-IN" dirty="0">
                <a:solidFill>
                  <a:srgbClr val="A50021"/>
                </a:solidFill>
                <a:latin typeface="Cambria" panose="02040503050406030204" pitchFamily="18" charset="0"/>
                <a:ea typeface="Cambria" panose="02040503050406030204" pitchFamily="18" charset="0"/>
              </a:rPr>
              <a:t>	AI Platforms(</a:t>
            </a:r>
            <a:r>
              <a:rPr lang="en-IN" dirty="0" err="1">
                <a:solidFill>
                  <a:srgbClr val="A50021"/>
                </a:solidFill>
                <a:latin typeface="Cambria" panose="02040503050406030204" pitchFamily="18" charset="0"/>
                <a:ea typeface="Cambria" panose="02040503050406030204" pitchFamily="18" charset="0"/>
              </a:rPr>
              <a:t>Gemini,ChatGPT,Claude,etc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AI Builders (Google AI Studio, </a:t>
            </a:r>
            <a:r>
              <a:rPr lang="en-IN" dirty="0" err="1">
                <a:solidFill>
                  <a:srgbClr val="A50021"/>
                </a:solidFill>
                <a:latin typeface="Cambria" panose="02040503050406030204" pitchFamily="18" charset="0"/>
                <a:ea typeface="Cambria" panose="02040503050406030204" pitchFamily="18" charset="0"/>
              </a:rPr>
              <a:t>Stitch.io,etc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Online Forums (</a:t>
            </a:r>
            <a:r>
              <a:rPr lang="en-IN" dirty="0" err="1">
                <a:solidFill>
                  <a:srgbClr val="A50021"/>
                </a:solidFill>
                <a:latin typeface="Cambria" panose="02040503050406030204" pitchFamily="18" charset="0"/>
                <a:ea typeface="Cambria" panose="02040503050406030204" pitchFamily="18" charset="0"/>
              </a:rPr>
              <a:t>Pinterest,Reddit</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Online Quiz Platforms (Kahoot, </a:t>
            </a:r>
            <a:r>
              <a:rPr lang="en-IN" dirty="0" err="1">
                <a:solidFill>
                  <a:srgbClr val="A50021"/>
                </a:solidFill>
                <a:latin typeface="Cambria" panose="02040503050406030204" pitchFamily="18" charset="0"/>
                <a:ea typeface="Cambria" panose="02040503050406030204" pitchFamily="18" charset="0"/>
              </a:rPr>
              <a:t>Wayground</a:t>
            </a:r>
            <a:r>
              <a:rPr lang="en-IN" dirty="0">
                <a:solidFill>
                  <a:srgbClr val="A50021"/>
                </a:solidFill>
                <a:latin typeface="Cambria" panose="02040503050406030204" pitchFamily="18" charset="0"/>
                <a:ea typeface="Cambria" panose="02040503050406030204" pitchFamily="18" charset="0"/>
              </a:rPr>
              <a:t>, </a:t>
            </a:r>
            <a:r>
              <a:rPr lang="en-IN" dirty="0" err="1">
                <a:solidFill>
                  <a:srgbClr val="A50021"/>
                </a:solidFill>
                <a:latin typeface="Cambria" panose="02040503050406030204" pitchFamily="18" charset="0"/>
                <a:ea typeface="Cambria" panose="02040503050406030204" pitchFamily="18" charset="0"/>
              </a:rPr>
              <a:t>Mentimeter,etc</a:t>
            </a:r>
            <a:r>
              <a:rPr lang="en-IN" dirty="0">
                <a:solidFill>
                  <a:srgbClr val="A50021"/>
                </a:solidFill>
                <a:latin typeface="Cambria" panose="02040503050406030204" pitchFamily="18" charset="0"/>
                <a:ea typeface="Cambria" panose="02040503050406030204" pitchFamily="18" charset="0"/>
              </a:rPr>
              <a:t>,.,)</a:t>
            </a:r>
          </a:p>
          <a:p>
            <a:r>
              <a:rPr lang="en-IN" dirty="0">
                <a:solidFill>
                  <a:srgbClr val="A50021"/>
                </a:solidFill>
                <a:latin typeface="Cambria" panose="02040503050406030204" pitchFamily="18" charset="0"/>
                <a:ea typeface="Cambria" panose="02040503050406030204" pitchFamily="18" charset="0"/>
              </a:rPr>
              <a:t>	Publishers (ResearchGate, ebc.uk.com, etc,.,)</a:t>
            </a:r>
          </a:p>
          <a:p>
            <a:r>
              <a:rPr lang="en-IN" dirty="0">
                <a:solidFill>
                  <a:srgbClr val="A50021"/>
                </a:solidFill>
                <a:latin typeface="Cambria" panose="02040503050406030204" pitchFamily="18" charset="0"/>
                <a:ea typeface="Cambria" panose="02040503050406030204" pitchFamily="18" charset="0"/>
              </a:rPr>
              <a:t>	</a:t>
            </a:r>
          </a:p>
          <a:p>
            <a:endParaRPr lang="en-IN" dirty="0">
              <a:solidFill>
                <a:srgbClr val="A50021"/>
              </a:solidFill>
              <a:latin typeface="Cambria" panose="02040503050406030204" pitchFamily="18" charset="0"/>
              <a:ea typeface="Cambria" panose="02040503050406030204" pitchFamily="18" charset="0"/>
            </a:endParaRPr>
          </a:p>
          <a:p>
            <a:endParaRPr lang="en-IN" dirty="0">
              <a:solidFill>
                <a:srgbClr val="A50021"/>
              </a:solidFill>
              <a:latin typeface="Cambria" panose="02040503050406030204" pitchFamily="18" charset="0"/>
              <a:ea typeface="Cambria" panose="02040503050406030204" pitchFamily="18" charset="0"/>
            </a:endParaRPr>
          </a:p>
          <a:p>
            <a:endParaRPr lang="en-IN" dirty="0"/>
          </a:p>
        </p:txBody>
      </p:sp>
      <p:sp>
        <p:nvSpPr>
          <p:cNvPr id="2" name="Date Placeholder 1"/>
          <p:cNvSpPr>
            <a:spLocks noGrp="1"/>
          </p:cNvSpPr>
          <p:nvPr>
            <p:ph type="dt" sz="half" idx="10"/>
          </p:nvPr>
        </p:nvSpPr>
        <p:spPr/>
        <p:txBody>
          <a:bodyPr/>
          <a:lstStyle/>
          <a:p>
            <a:fld id="{24A434A4-5EBF-4C57-A471-F9649EE16CF8}" type="datetime3">
              <a:rPr lang="en-US" smtClean="0"/>
              <a:t>2 July 2026</a:t>
            </a:fld>
            <a:endParaRPr lang="en-US" dirty="0"/>
          </a:p>
        </p:txBody>
      </p:sp>
      <p:sp>
        <p:nvSpPr>
          <p:cNvPr id="3" name="Footer Placeholder 2"/>
          <p:cNvSpPr>
            <a:spLocks noGrp="1"/>
          </p:cNvSpPr>
          <p:nvPr>
            <p:ph type="ftr" sz="quarter" idx="11"/>
          </p:nvPr>
        </p:nvSpPr>
        <p:spPr/>
        <p:txBody>
          <a:bodyPr/>
          <a:lstStyle/>
          <a:p>
            <a:r>
              <a:rPr lang="en-US" dirty="0"/>
              <a:t>CYB23IN101 REVIEW - II</a:t>
            </a:r>
          </a:p>
        </p:txBody>
      </p:sp>
    </p:spTree>
    <p:extLst>
      <p:ext uri="{BB962C8B-B14F-4D97-AF65-F5344CB8AC3E}">
        <p14:creationId xmlns:p14="http://schemas.microsoft.com/office/powerpoint/2010/main" val="3251182318"/>
      </p:ext>
    </p:extLst>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5893" y="1647109"/>
            <a:ext cx="3069771" cy="1092200"/>
          </a:xfrm>
        </p:spPr>
        <p:txBody>
          <a:bodyPr>
            <a:normAutofit/>
          </a:bodyPr>
          <a:lstStyle/>
          <a:p>
            <a:pPr algn="ctr"/>
            <a:r>
              <a:rPr lang="en-US" sz="3600" b="1" dirty="0">
                <a:solidFill>
                  <a:schemeClr val="accent5">
                    <a:lumMod val="50000"/>
                  </a:schemeClr>
                </a:solidFill>
                <a:latin typeface="Times New Roman" panose="02020603050405020304" pitchFamily="18" charset="0"/>
                <a:cs typeface="Times New Roman" panose="02020603050405020304" pitchFamily="18" charset="0"/>
              </a:rPr>
              <a:t>Thank you </a:t>
            </a:r>
          </a:p>
        </p:txBody>
      </p:sp>
      <p:sp>
        <p:nvSpPr>
          <p:cNvPr id="3" name="Slide Number Placeholder 2"/>
          <p:cNvSpPr>
            <a:spLocks noGrp="1"/>
          </p:cNvSpPr>
          <p:nvPr>
            <p:ph type="sldNum" sz="quarter" idx="12"/>
          </p:nvPr>
        </p:nvSpPr>
        <p:spPr/>
        <p:txBody>
          <a:bodyPr/>
          <a:lstStyle/>
          <a:p>
            <a:fld id="{D57F1E4F-1CFF-5643-939E-217C01CDF565}" type="slidenum">
              <a:rPr lang="en-US" smtClean="0"/>
              <a:t>17</a:t>
            </a:fld>
            <a:endParaRPr lang="en-US" dirty="0"/>
          </a:p>
        </p:txBody>
      </p:sp>
      <p:sp>
        <p:nvSpPr>
          <p:cNvPr id="4" name="Date Placeholder 3"/>
          <p:cNvSpPr>
            <a:spLocks noGrp="1"/>
          </p:cNvSpPr>
          <p:nvPr>
            <p:ph type="dt" sz="half" idx="10"/>
          </p:nvPr>
        </p:nvSpPr>
        <p:spPr/>
        <p:txBody>
          <a:bodyPr/>
          <a:lstStyle/>
          <a:p>
            <a:fld id="{F6B04E1E-CF05-4B41-8802-CD685CA27131}" type="datetime3">
              <a:rPr lang="en-US" smtClean="0"/>
              <a:t>2 July 2026</a:t>
            </a:fld>
            <a:endParaRPr lang="en-US" dirty="0"/>
          </a:p>
        </p:txBody>
      </p:sp>
      <p:sp>
        <p:nvSpPr>
          <p:cNvPr id="5" name="Footer Placeholder 4"/>
          <p:cNvSpPr>
            <a:spLocks noGrp="1"/>
          </p:cNvSpPr>
          <p:nvPr>
            <p:ph type="ftr" sz="quarter" idx="11"/>
          </p:nvPr>
        </p:nvSpPr>
        <p:spPr/>
        <p:txBody>
          <a:bodyPr/>
          <a:lstStyle/>
          <a:p>
            <a:r>
              <a:rPr lang="en-US" dirty="0"/>
              <a:t>CYB23IN101 REVIEW - II</a:t>
            </a:r>
          </a:p>
        </p:txBody>
      </p:sp>
    </p:spTree>
  </p:cSld>
  <p:clrMapOvr>
    <a:masterClrMapping/>
  </p:clrMapOvr>
  <mc:AlternateContent xmlns:mc="http://schemas.openxmlformats.org/markup-compatibility/2006" xmlns:p14="http://schemas.microsoft.com/office/powerpoint/2010/main">
    <mc:Choice Requires="p14">
      <p:transition spd="slow" p14:dur="59000"/>
    </mc:Choice>
    <mc:Fallback xmlns="">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657</TotalTime>
  <Words>4216</Words>
  <Application>Microsoft Office PowerPoint</Application>
  <PresentationFormat>On-screen Show (16:9)</PresentationFormat>
  <Paragraphs>345</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Cambria</vt:lpstr>
      <vt:lpstr>Times New Roman</vt:lpstr>
      <vt:lpstr>Office Theme</vt:lpstr>
      <vt:lpstr>PowerPoint Presentation</vt:lpstr>
      <vt:lpstr>INTRODUCTION  </vt:lpstr>
      <vt:lpstr>PowerPoint Presentation</vt:lpstr>
      <vt:lpstr>REVIEW OF LITERATURE</vt:lpstr>
      <vt:lpstr>REVIEW OF LITERATURE</vt:lpstr>
      <vt:lpstr>REVIEW OF LITERATURE</vt:lpstr>
      <vt:lpstr>REVIEW OF EXISTING SYSTEM (S/W/H/W PRODUCTS, TOOLS) </vt:lpstr>
      <vt:lpstr>PowerPoint Presentation</vt:lpstr>
      <vt:lpstr>PROBLEM STATEMENT</vt:lpstr>
      <vt:lpstr>OBJECTIVES </vt:lpstr>
      <vt:lpstr>WORKFLOW DIAGRAM</vt:lpstr>
      <vt:lpstr>MODULES</vt:lpstr>
      <vt:lpstr>RESULTS / OUTCOMES </vt:lpstr>
      <vt:lpstr>CONCLUSION</vt:lpstr>
      <vt:lpstr>REFERENCES  </vt:lpstr>
      <vt:lpstr>REFERENCES </vt:lpstr>
      <vt:lpstr>Thank you </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Microwave induced Biomimetic coating of porous carbon fiber reinforced polyether-ethersulfone</dc:title>
  <dc:creator>Microsoft</dc:creator>
  <cp:lastModifiedBy>Swaminathan G L</cp:lastModifiedBy>
  <cp:revision>829</cp:revision>
  <dcterms:created xsi:type="dcterms:W3CDTF">2017-09-15T13:20:00Z</dcterms:created>
  <dcterms:modified xsi:type="dcterms:W3CDTF">2026-07-02T02:30:50Z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244016532F3749E082D20DC8793A736B</vt:lpwstr>
  </property>
  <property fmtid="{D5CDD505-2E9C-101B-9397-08002B2CF9AE}" pid="3" name="KSOProductBuildVer">
    <vt:lpwstr>1033-11.2.0.11486</vt:lpwstr>
  </property>
</Properties>
</file>